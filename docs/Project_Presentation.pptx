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0060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built an AI system that processes customer complaint documents end to end. I will show you the business problem, the architecture, the code that matters, and then run it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is repetitive, slow and inconsistent between agents. And because the input is free text in three different file formats, you cannot solve it with a rule-based parser — which is exactly why an LLM is the right tool.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produced by one command. Three artefacts per document, plus a consolidated CSV that an operations team would actually use.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small modules, each with one job. app.py runs the batch. document_reader turns files into text. workflow orchestrates. ai_tasks holds the prompts and the LLM calls. models defines what the model must return. config holds every setting. Nothing depends on app.py, which is why the whole thing is testable.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orchestration requirement. Extraction is a genuine sequential dependency. The email and the summary are not dependent on each other, so I draw two edges out of extract and LangGraph runs them together. Each document finishes noticeably faster.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idea in the project. I do not ask for text and then parse it. with_structured_output binds the Pydantic class to the model, so it has to return exactly those fields, and LangChain validates the reply before my code sees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Fabricated detail is the central risk here. Four measures work together: the shared rule, structured output, optional fields that default to None, and the fact that the two generation tasks receive the validated extraction rather than the raw document.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throughout is that a failure must end up visible in the output rather than quietly reducing the number of rows in the report. I also check for the API key before processing anything, so a missing key costs nothing.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choice is deliberate. gpt-4o-mini because it supports structured output well and is cheap. LangGraph because the parallelism is real, not decorative. Pydantic because it is both the schema and the validation.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escalate column — the system worked that out from the meaning of the text. And the last row is the interesting one: it is an enquiry, not a complaint, which a keyword rule would get wrong.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need no API key, which is the detail that makes continuous integration possible — GitHub can run the full suite on every push without a secret and without cost.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twelve assessed skills, and where to find each one. The project report has this same table with more detail.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state the limits than have the panel find them. The most valuable next step is OCR, because scanned documents are common in the real world; after that, concurrency across documents, since the program is almost entirely waiting on the network.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design decisions carry most of the value — structured output, explicit orchestration, and error handling that keeps failures visible. Happy to take questions, and I can run it live on any document you would like to give 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B4D"/>
        </a:solidFill>
        <a:effectLst/>
      </p:bgPr>
    </p:bg>
    <p:spTree>
      <p:nvGrpSpPr>
        <p:cNvPr id="1" name=""/>
        <p:cNvGrpSpPr/>
        <p:nvPr/>
      </p:nvGrpSpPr>
      <p:grpSpPr>
        <a:xfrm>
          <a:off x="0" y="0"/>
          <a:ext cx="0" cy="0"/>
          <a:chOff x="0" y="0"/>
          <a:chExt cx="0" cy="0"/>
        </a:xfrm>
      </p:grpSpPr>
      <p:sp>
        <p:nvSpPr>
          <p:cNvPr id="2" name="Shape 0"/>
          <p:cNvSpPr/>
          <p:nvPr/>
        </p:nvSpPr>
        <p:spPr>
          <a:xfrm>
            <a:off x="10241280" y="-1371600"/>
            <a:ext cx="3840480" cy="3840480"/>
          </a:xfrm>
          <a:prstGeom prst="ellipse">
            <a:avLst/>
          </a:prstGeom>
          <a:solidFill>
            <a:srgbClr val="6B46C1"/>
          </a:solidFill>
          <a:ln/>
        </p:spPr>
        <p:txBody>
          <a:bodyPr/>
          <a:lstStyle/>
          <a:p>
            <a:endParaRPr lang="en-IN"/>
          </a:p>
        </p:txBody>
      </p:sp>
      <p:sp>
        <p:nvSpPr>
          <p:cNvPr id="3" name="Shape 1"/>
          <p:cNvSpPr/>
          <p:nvPr/>
        </p:nvSpPr>
        <p:spPr>
          <a:xfrm>
            <a:off x="10881360" y="5120640"/>
            <a:ext cx="2743200" cy="2743200"/>
          </a:xfrm>
          <a:prstGeom prst="ellipse">
            <a:avLst/>
          </a:prstGeom>
          <a:solidFill>
            <a:srgbClr val="6B46C1"/>
          </a:solidFill>
          <a:ln/>
        </p:spPr>
        <p:txBody>
          <a:bodyPr/>
          <a:lstStyle/>
          <a:p>
            <a:endParaRPr lang="en-IN"/>
          </a:p>
        </p:txBody>
      </p:sp>
      <p:sp>
        <p:nvSpPr>
          <p:cNvPr id="4" name="Text 2"/>
          <p:cNvSpPr txBox="1"/>
          <p:nvPr/>
        </p:nvSpPr>
        <p:spPr>
          <a:xfrm>
            <a:off x="822960" y="1417320"/>
            <a:ext cx="7315200" cy="274320"/>
          </a:xfrm>
          <a:prstGeom prst="rect">
            <a:avLst/>
          </a:prstGeom>
          <a:noFill/>
          <a:ln/>
        </p:spPr>
        <p:txBody>
          <a:bodyPr wrap="square" lIns="0" tIns="0" rIns="0" bIns="0" rtlCol="0" anchor="ctr"/>
          <a:lstStyle/>
          <a:p>
            <a:pPr marL="0" indent="0">
              <a:buNone/>
            </a:pPr>
            <a:r>
              <a:rPr lang="en-US" sz="1300" b="1" kern="0" spc="300" dirty="0">
                <a:solidFill>
                  <a:srgbClr val="CFC4EE"/>
                </a:solidFill>
                <a:latin typeface="Calibri" pitchFamily="34" charset="0"/>
                <a:ea typeface="Calibri" pitchFamily="34" charset="-122"/>
                <a:cs typeface="Calibri" pitchFamily="34" charset="-120"/>
              </a:rPr>
              <a:t>FINAL PROJECT 1</a:t>
            </a:r>
            <a:endParaRPr lang="en-US" sz="1300" dirty="0"/>
          </a:p>
        </p:txBody>
      </p:sp>
      <p:sp>
        <p:nvSpPr>
          <p:cNvPr id="5" name="Text 3"/>
          <p:cNvSpPr txBox="1"/>
          <p:nvPr/>
        </p:nvSpPr>
        <p:spPr>
          <a:xfrm>
            <a:off x="822960" y="1874520"/>
            <a:ext cx="1051560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AI Customer Complaint</a:t>
            </a:r>
            <a:endParaRPr lang="en-US" sz="4400" dirty="0"/>
          </a:p>
        </p:txBody>
      </p:sp>
      <p:sp>
        <p:nvSpPr>
          <p:cNvPr id="6" name="Text 4"/>
          <p:cNvSpPr txBox="1"/>
          <p:nvPr/>
        </p:nvSpPr>
        <p:spPr>
          <a:xfrm>
            <a:off x="822960" y="2606040"/>
            <a:ext cx="1051560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&amp; Case Processing System</a:t>
            </a:r>
            <a:endParaRPr lang="en-US" sz="4400" dirty="0"/>
          </a:p>
        </p:txBody>
      </p:sp>
      <p:sp>
        <p:nvSpPr>
          <p:cNvPr id="7" name="Text 5"/>
          <p:cNvSpPr txBox="1"/>
          <p:nvPr/>
        </p:nvSpPr>
        <p:spPr>
          <a:xfrm>
            <a:off x="822960" y="3520440"/>
            <a:ext cx="8778240" cy="640080"/>
          </a:xfrm>
          <a:prstGeom prst="rect">
            <a:avLst/>
          </a:prstGeom>
          <a:noFill/>
          <a:ln/>
        </p:spPr>
        <p:txBody>
          <a:bodyPr wrap="square" lIns="0" tIns="0" rIns="0" bIns="0" rtlCol="0" anchor="ctr"/>
          <a:lstStyle/>
          <a:p>
            <a:pPr marL="0" indent="0">
              <a:lnSpc>
                <a:spcPts val="2200"/>
              </a:lnSpc>
              <a:buNone/>
            </a:pPr>
            <a:r>
              <a:rPr lang="en-US" sz="1500" dirty="0">
                <a:solidFill>
                  <a:srgbClr val="CFC4EE"/>
                </a:solidFill>
                <a:latin typeface="Calibri" pitchFamily="34" charset="0"/>
                <a:ea typeface="Calibri" pitchFamily="34" charset="-122"/>
                <a:cs typeface="Calibri" pitchFamily="34" charset="-120"/>
              </a:rPr>
              <a:t>A GenAI batch workflow that reads complaint documents and produces structured data, customer emails and management summaries</a:t>
            </a:r>
            <a:endParaRPr lang="en-US" sz="1500" dirty="0"/>
          </a:p>
        </p:txBody>
      </p:sp>
      <p:sp>
        <p:nvSpPr>
          <p:cNvPr id="8" name="Text 6"/>
          <p:cNvSpPr txBox="1"/>
          <p:nvPr/>
        </p:nvSpPr>
        <p:spPr>
          <a:xfrm>
            <a:off x="822960" y="4343400"/>
            <a:ext cx="8778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Python  ·  OpenAI  ·  LangChain  ·  LangGraph  ·  Pydantic</a:t>
            </a:r>
            <a:endParaRPr lang="en-US" sz="1300" dirty="0"/>
          </a:p>
        </p:txBody>
      </p:sp>
      <p:sp>
        <p:nvSpPr>
          <p:cNvPr id="9" name="Text 7"/>
          <p:cNvSpPr txBox="1"/>
          <p:nvPr/>
        </p:nvSpPr>
        <p:spPr>
          <a:xfrm>
            <a:off x="822960" y="5349240"/>
            <a:ext cx="8778240" cy="8229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Ashish Jain</a:t>
            </a:r>
            <a:endParaRPr lang="en-US" sz="1500" dirty="0"/>
          </a:p>
          <a:p>
            <a:pPr marL="0" indent="0">
              <a:buNone/>
            </a:pPr>
            <a:r>
              <a:rPr lang="en-US" sz="1200" dirty="0">
                <a:solidFill>
                  <a:srgbClr val="CFC4EE"/>
                </a:solidFill>
                <a:latin typeface="Calibri" pitchFamily="34" charset="0"/>
                <a:ea typeface="Calibri" pitchFamily="34" charset="-122"/>
                <a:cs typeface="Calibri" pitchFamily="34" charset="-120"/>
              </a:rPr>
              <a:t>Certification Programme in Generative and Agentic AI Development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Reading complaints by hand does not scale</a:t>
            </a:r>
            <a:endParaRPr lang="en-US" sz="3200" dirty="0"/>
          </a:p>
        </p:txBody>
      </p:sp>
      <p:sp>
        <p:nvSpPr>
          <p:cNvPr id="4" name="Shape 2"/>
          <p:cNvSpPr/>
          <p:nvPr/>
        </p:nvSpPr>
        <p:spPr>
          <a:xfrm>
            <a:off x="640080" y="1600200"/>
            <a:ext cx="5120640" cy="2880360"/>
          </a:xfrm>
          <a:prstGeom prst="roundRect">
            <a:avLst>
              <a:gd name="adj" fmla="val 285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5" name="Text 3"/>
          <p:cNvSpPr txBox="1"/>
          <p:nvPr/>
        </p:nvSpPr>
        <p:spPr>
          <a:xfrm>
            <a:off x="960120" y="1783080"/>
            <a:ext cx="4480560" cy="320040"/>
          </a:xfrm>
          <a:prstGeom prst="rect">
            <a:avLst/>
          </a:prstGeom>
          <a:noFill/>
          <a:ln/>
        </p:spPr>
        <p:txBody>
          <a:bodyPr wrap="square" lIns="0" tIns="0" rIns="0" bIns="0" rtlCol="0" anchor="ctr"/>
          <a:lstStyle/>
          <a:p>
            <a:pPr marL="0" indent="0">
              <a:buNone/>
            </a:pPr>
            <a:r>
              <a:rPr lang="en-US" sz="1600" b="1" dirty="0">
                <a:solidFill>
                  <a:srgbClr val="2A1B4D"/>
                </a:solidFill>
                <a:latin typeface="Calibri" pitchFamily="34" charset="0"/>
                <a:ea typeface="Calibri" pitchFamily="34" charset="-122"/>
                <a:cs typeface="Calibri" pitchFamily="34" charset="-120"/>
              </a:rPr>
              <a:t>What a human does today</a:t>
            </a:r>
            <a:endParaRPr lang="en-US" sz="1600" dirty="0"/>
          </a:p>
        </p:txBody>
      </p:sp>
      <p:sp>
        <p:nvSpPr>
          <p:cNvPr id="6" name="Text 4"/>
          <p:cNvSpPr txBox="1"/>
          <p:nvPr/>
        </p:nvSpPr>
        <p:spPr>
          <a:xfrm>
            <a:off x="960120" y="2240280"/>
            <a:ext cx="4480560" cy="306324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400" dirty="0">
                <a:solidFill>
                  <a:srgbClr val="241F31"/>
                </a:solidFill>
                <a:latin typeface="Calibri" pitchFamily="34" charset="0"/>
                <a:ea typeface="Calibri" pitchFamily="34" charset="-122"/>
                <a:cs typeface="Calibri" pitchFamily="34" charset="-120"/>
              </a:rPr>
              <a:t>Read the document — a PDF, a Word form or a transcript</a:t>
            </a:r>
            <a:endParaRPr lang="en-US" sz="1400" dirty="0"/>
          </a:p>
          <a:p>
            <a:pPr marL="342900" indent="-342900">
              <a:lnSpc>
                <a:spcPts val="1900"/>
              </a:lnSpc>
              <a:spcAft>
                <a:spcPts val="1000"/>
              </a:spcAft>
              <a:buSzPct val="100000"/>
              <a:buChar char="•"/>
            </a:pPr>
            <a:r>
              <a:rPr lang="en-US" sz="1400" dirty="0">
                <a:solidFill>
                  <a:srgbClr val="241F31"/>
                </a:solidFill>
                <a:latin typeface="Calibri" pitchFamily="34" charset="0"/>
                <a:ea typeface="Calibri" pitchFamily="34" charset="-122"/>
                <a:cs typeface="Calibri" pitchFamily="34" charset="-120"/>
              </a:rPr>
              <a:t>Type the customer and case details into a system</a:t>
            </a:r>
            <a:endParaRPr lang="en-US" sz="1400" dirty="0"/>
          </a:p>
          <a:p>
            <a:pPr marL="342900" indent="-342900">
              <a:lnSpc>
                <a:spcPts val="1900"/>
              </a:lnSpc>
              <a:spcAft>
                <a:spcPts val="1000"/>
              </a:spcAft>
              <a:buSzPct val="100000"/>
              <a:buChar char="•"/>
            </a:pPr>
            <a:r>
              <a:rPr lang="en-US" sz="1400" dirty="0">
                <a:solidFill>
                  <a:srgbClr val="241F31"/>
                </a:solidFill>
                <a:latin typeface="Calibri" pitchFamily="34" charset="0"/>
                <a:ea typeface="Calibri" pitchFamily="34" charset="-122"/>
                <a:cs typeface="Calibri" pitchFamily="34" charset="-120"/>
              </a:rPr>
              <a:t>Decide whether the case needs escalation</a:t>
            </a:r>
            <a:endParaRPr lang="en-US" sz="1400" dirty="0"/>
          </a:p>
          <a:p>
            <a:pPr marL="342900" indent="-342900">
              <a:lnSpc>
                <a:spcPts val="1900"/>
              </a:lnSpc>
              <a:spcAft>
                <a:spcPts val="1000"/>
              </a:spcAft>
              <a:buSzPct val="100000"/>
              <a:buChar char="•"/>
            </a:pPr>
            <a:r>
              <a:rPr lang="en-US" sz="1400" dirty="0">
                <a:solidFill>
                  <a:srgbClr val="241F31"/>
                </a:solidFill>
                <a:latin typeface="Calibri" pitchFamily="34" charset="0"/>
                <a:ea typeface="Calibri" pitchFamily="34" charset="-122"/>
                <a:cs typeface="Calibri" pitchFamily="34" charset="-120"/>
              </a:rPr>
              <a:t>Write a reply to the customer</a:t>
            </a:r>
            <a:endParaRPr lang="en-US" sz="1400" dirty="0"/>
          </a:p>
          <a:p>
            <a:pPr marL="342900" indent="-342900">
              <a:lnSpc>
                <a:spcPts val="1900"/>
              </a:lnSpc>
              <a:spcAft>
                <a:spcPts val="1000"/>
              </a:spcAft>
              <a:buSzPct val="100000"/>
              <a:buChar char="•"/>
            </a:pPr>
            <a:r>
              <a:rPr lang="en-US" sz="1400" dirty="0">
                <a:solidFill>
                  <a:srgbClr val="241F31"/>
                </a:solidFill>
                <a:latin typeface="Calibri" pitchFamily="34" charset="0"/>
                <a:ea typeface="Calibri" pitchFamily="34" charset="-122"/>
                <a:cs typeface="Calibri" pitchFamily="34" charset="-120"/>
              </a:rPr>
              <a:t>Write a summary note for the manager</a:t>
            </a:r>
            <a:endParaRPr lang="en-US" sz="1400" dirty="0"/>
          </a:p>
        </p:txBody>
      </p:sp>
      <p:sp>
        <p:nvSpPr>
          <p:cNvPr id="7" name="Text 5"/>
          <p:cNvSpPr txBox="1"/>
          <p:nvPr/>
        </p:nvSpPr>
        <p:spPr>
          <a:xfrm>
            <a:off x="6263640" y="1783080"/>
            <a:ext cx="5303520" cy="320040"/>
          </a:xfrm>
          <a:prstGeom prst="rect">
            <a:avLst/>
          </a:prstGeom>
          <a:noFill/>
          <a:ln/>
        </p:spPr>
        <p:txBody>
          <a:bodyPr wrap="square" lIns="0" tIns="0" rIns="0" bIns="0" rtlCol="0" anchor="ctr"/>
          <a:lstStyle/>
          <a:p>
            <a:pPr marL="0" indent="0">
              <a:buNone/>
            </a:pPr>
            <a:r>
              <a:rPr lang="en-US" sz="1600" b="1" dirty="0">
                <a:solidFill>
                  <a:srgbClr val="2A1B4D"/>
                </a:solidFill>
                <a:latin typeface="Calibri" pitchFamily="34" charset="0"/>
                <a:ea typeface="Calibri" pitchFamily="34" charset="-122"/>
                <a:cs typeface="Calibri" pitchFamily="34" charset="-120"/>
              </a:rPr>
              <a:t>Why it is a poor fit for a human, and a good fit for an LLM</a:t>
            </a:r>
            <a:endParaRPr lang="en-US" sz="1600" dirty="0"/>
          </a:p>
        </p:txBody>
      </p:sp>
      <p:sp>
        <p:nvSpPr>
          <p:cNvPr id="8" name="Shape 6"/>
          <p:cNvSpPr/>
          <p:nvPr/>
        </p:nvSpPr>
        <p:spPr>
          <a:xfrm>
            <a:off x="6263640" y="2286000"/>
            <a:ext cx="420624" cy="420624"/>
          </a:xfrm>
          <a:prstGeom prst="ellipse">
            <a:avLst/>
          </a:prstGeom>
          <a:solidFill>
            <a:srgbClr val="6B46C1"/>
          </a:solidFill>
          <a:ln/>
        </p:spPr>
        <p:txBody>
          <a:bodyPr/>
          <a:lstStyle/>
          <a:p>
            <a:endParaRPr lang="en-IN"/>
          </a:p>
        </p:txBody>
      </p:sp>
      <p:sp>
        <p:nvSpPr>
          <p:cNvPr id="9" name="Text 7"/>
          <p:cNvSpPr txBox="1"/>
          <p:nvPr/>
        </p:nvSpPr>
        <p:spPr>
          <a:xfrm>
            <a:off x="6263640" y="22860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6858000" y="2258568"/>
            <a:ext cx="470916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Repetitive</a:t>
            </a:r>
            <a:endParaRPr lang="en-US" sz="1600" dirty="0"/>
          </a:p>
        </p:txBody>
      </p:sp>
      <p:sp>
        <p:nvSpPr>
          <p:cNvPr id="11" name="Text 9"/>
          <p:cNvSpPr txBox="1"/>
          <p:nvPr/>
        </p:nvSpPr>
        <p:spPr>
          <a:xfrm>
            <a:off x="6858000" y="2560320"/>
            <a:ext cx="470916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The same five steps for every single complaint that arrives.</a:t>
            </a:r>
            <a:endParaRPr lang="en-US" sz="1300" dirty="0"/>
          </a:p>
        </p:txBody>
      </p:sp>
      <p:sp>
        <p:nvSpPr>
          <p:cNvPr id="12" name="Shape 10"/>
          <p:cNvSpPr/>
          <p:nvPr/>
        </p:nvSpPr>
        <p:spPr>
          <a:xfrm>
            <a:off x="6263640" y="3383280"/>
            <a:ext cx="420624" cy="420624"/>
          </a:xfrm>
          <a:prstGeom prst="ellipse">
            <a:avLst/>
          </a:prstGeom>
          <a:solidFill>
            <a:srgbClr val="6B46C1"/>
          </a:solidFill>
          <a:ln/>
        </p:spPr>
        <p:txBody>
          <a:bodyPr/>
          <a:lstStyle/>
          <a:p>
            <a:endParaRPr lang="en-IN"/>
          </a:p>
        </p:txBody>
      </p:sp>
      <p:sp>
        <p:nvSpPr>
          <p:cNvPr id="13" name="Text 11"/>
          <p:cNvSpPr txBox="1"/>
          <p:nvPr/>
        </p:nvSpPr>
        <p:spPr>
          <a:xfrm>
            <a:off x="6263640" y="33832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6858000" y="3355848"/>
            <a:ext cx="470916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Inconsistent</a:t>
            </a:r>
            <a:endParaRPr lang="en-US" sz="1600" dirty="0"/>
          </a:p>
        </p:txBody>
      </p:sp>
      <p:sp>
        <p:nvSpPr>
          <p:cNvPr id="15" name="Text 13"/>
          <p:cNvSpPr txBox="1"/>
          <p:nvPr/>
        </p:nvSpPr>
        <p:spPr>
          <a:xfrm>
            <a:off x="6858000" y="3657600"/>
            <a:ext cx="470916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Two humans categorise and escalate the same case differently.</a:t>
            </a:r>
            <a:endParaRPr lang="en-US" sz="1300" dirty="0"/>
          </a:p>
        </p:txBody>
      </p:sp>
      <p:sp>
        <p:nvSpPr>
          <p:cNvPr id="16" name="Shape 14"/>
          <p:cNvSpPr/>
          <p:nvPr/>
        </p:nvSpPr>
        <p:spPr>
          <a:xfrm>
            <a:off x="6263640" y="4480560"/>
            <a:ext cx="420624" cy="420624"/>
          </a:xfrm>
          <a:prstGeom prst="ellipse">
            <a:avLst/>
          </a:prstGeom>
          <a:solidFill>
            <a:srgbClr val="6B46C1"/>
          </a:solidFill>
          <a:ln/>
        </p:spPr>
        <p:txBody>
          <a:bodyPr/>
          <a:lstStyle/>
          <a:p>
            <a:endParaRPr lang="en-IN"/>
          </a:p>
        </p:txBody>
      </p:sp>
      <p:sp>
        <p:nvSpPr>
          <p:cNvPr id="17" name="Text 15"/>
          <p:cNvSpPr txBox="1"/>
          <p:nvPr/>
        </p:nvSpPr>
        <p:spPr>
          <a:xfrm>
            <a:off x="6263640" y="44805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6858000" y="4453128"/>
            <a:ext cx="470916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Unstructured input</a:t>
            </a:r>
            <a:endParaRPr lang="en-US" sz="1600" dirty="0"/>
          </a:p>
        </p:txBody>
      </p:sp>
      <p:sp>
        <p:nvSpPr>
          <p:cNvPr id="19" name="Text 17"/>
          <p:cNvSpPr txBox="1"/>
          <p:nvPr/>
        </p:nvSpPr>
        <p:spPr>
          <a:xfrm>
            <a:off x="6858000" y="4754880"/>
            <a:ext cx="470916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Nothing is in a fixed position, so a rule-based parser cannot work.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THE SOLUTION</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One command, three artefacts per document</a:t>
            </a:r>
            <a:endParaRPr lang="en-US" sz="3200" dirty="0"/>
          </a:p>
        </p:txBody>
      </p:sp>
      <p:sp>
        <p:nvSpPr>
          <p:cNvPr id="4" name="Text 2"/>
          <p:cNvSpPr txBox="1"/>
          <p:nvPr/>
        </p:nvSpPr>
        <p:spPr>
          <a:xfrm>
            <a:off x="640080" y="1463040"/>
            <a:ext cx="4565904" cy="384048"/>
          </a:xfrm>
          <a:prstGeom prst="rect">
            <a:avLst/>
          </a:prstGeom>
          <a:solidFill>
            <a:srgbClr val="2A1B4D"/>
          </a:solidFill>
          <a:ln/>
        </p:spPr>
        <p:txBody>
          <a:bodyPr wrap="square" lIns="76200" tIns="76200" rIns="76200" bIns="76200" rtlCol="0" anchor="ctr"/>
          <a:lstStyle/>
          <a:p>
            <a:pPr algn="ctr"/>
            <a:r>
              <a:rPr lang="en-IN" sz="1600" b="1" dirty="0">
                <a:solidFill>
                  <a:srgbClr val="FFFFFF"/>
                </a:solidFill>
                <a:latin typeface="Courier New" pitchFamily="34" charset="0"/>
                <a:ea typeface="Courier New" pitchFamily="34" charset="-122"/>
                <a:cs typeface="Courier New" pitchFamily="34" charset="-120"/>
              </a:rPr>
              <a:t>Batch : </a:t>
            </a:r>
            <a:r>
              <a:rPr lang="en-US" sz="1600" b="1" dirty="0">
                <a:solidFill>
                  <a:srgbClr val="FFFFFF"/>
                </a:solidFill>
                <a:latin typeface="Courier New" pitchFamily="34" charset="0"/>
                <a:ea typeface="Courier New" pitchFamily="34" charset="-122"/>
                <a:cs typeface="Courier New" pitchFamily="34" charset="-120"/>
              </a:rPr>
              <a:t>python app.py</a:t>
            </a:r>
            <a:endParaRPr lang="en-US" sz="1600" dirty="0"/>
          </a:p>
        </p:txBody>
      </p:sp>
      <p:sp>
        <p:nvSpPr>
          <p:cNvPr id="5" name="Text 3"/>
          <p:cNvSpPr txBox="1"/>
          <p:nvPr/>
        </p:nvSpPr>
        <p:spPr>
          <a:xfrm>
            <a:off x="5358384" y="1481328"/>
            <a:ext cx="6163056" cy="365760"/>
          </a:xfrm>
          <a:prstGeom prst="rect">
            <a:avLst/>
          </a:prstGeom>
          <a:noFill/>
          <a:ln/>
        </p:spPr>
        <p:txBody>
          <a:bodyPr wrap="square" lIns="0" tIns="0" rIns="0" bIns="0" rtlCol="0" anchor="ctr"/>
          <a:lstStyle/>
          <a:p>
            <a:pPr marL="0" indent="0">
              <a:buNone/>
            </a:pPr>
            <a:r>
              <a:rPr lang="en-US" sz="1400" i="1" dirty="0">
                <a:solidFill>
                  <a:srgbClr val="5B5670"/>
                </a:solidFill>
                <a:latin typeface="Calibri" pitchFamily="34" charset="0"/>
                <a:ea typeface="Calibri" pitchFamily="34" charset="-122"/>
                <a:cs typeface="Calibri" pitchFamily="34" charset="-120"/>
              </a:rPr>
              <a:t>reads every .pdf, .docx and .txt file in the data/ folder</a:t>
            </a:r>
            <a:endParaRPr lang="en-US" sz="1400" dirty="0"/>
          </a:p>
        </p:txBody>
      </p:sp>
      <p:sp>
        <p:nvSpPr>
          <p:cNvPr id="6" name="Shape 4"/>
          <p:cNvSpPr/>
          <p:nvPr/>
        </p:nvSpPr>
        <p:spPr>
          <a:xfrm>
            <a:off x="640080" y="2359152"/>
            <a:ext cx="3502152" cy="3017520"/>
          </a:xfrm>
          <a:prstGeom prst="roundRect">
            <a:avLst>
              <a:gd name="adj" fmla="val 272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7" name="Shape 5"/>
          <p:cNvSpPr/>
          <p:nvPr/>
        </p:nvSpPr>
        <p:spPr>
          <a:xfrm>
            <a:off x="932688" y="2590801"/>
            <a:ext cx="420624" cy="420624"/>
          </a:xfrm>
          <a:prstGeom prst="ellipse">
            <a:avLst/>
          </a:prstGeom>
          <a:solidFill>
            <a:srgbClr val="6B46C1"/>
          </a:solidFill>
          <a:ln/>
        </p:spPr>
        <p:txBody>
          <a:bodyPr/>
          <a:lstStyle/>
          <a:p>
            <a:endParaRPr lang="en-IN"/>
          </a:p>
        </p:txBody>
      </p:sp>
      <p:sp>
        <p:nvSpPr>
          <p:cNvPr id="8" name="Text 6"/>
          <p:cNvSpPr txBox="1"/>
          <p:nvPr/>
        </p:nvSpPr>
        <p:spPr>
          <a:xfrm>
            <a:off x="932688" y="257860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932688" y="3154680"/>
            <a:ext cx="2926080" cy="566928"/>
          </a:xfrm>
          <a:prstGeom prst="rect">
            <a:avLst/>
          </a:prstGeom>
          <a:noFill/>
          <a:ln/>
        </p:spPr>
        <p:txBody>
          <a:bodyPr wrap="square" lIns="0" tIns="0" rIns="0" bIns="0" rtlCol="0" anchor="ctr"/>
          <a:lstStyle/>
          <a:p>
            <a:pPr marL="0" indent="0">
              <a:buNone/>
            </a:pPr>
            <a:r>
              <a:rPr lang="en-US" sz="1600" b="1" dirty="0">
                <a:solidFill>
                  <a:srgbClr val="2A1B4D"/>
                </a:solidFill>
                <a:latin typeface="Calibri" pitchFamily="34" charset="0"/>
                <a:ea typeface="Calibri" pitchFamily="34" charset="-122"/>
                <a:cs typeface="Calibri" pitchFamily="34" charset="-120"/>
              </a:rPr>
              <a:t>Structured case data</a:t>
            </a:r>
            <a:endParaRPr lang="en-US" sz="1600" dirty="0"/>
          </a:p>
        </p:txBody>
      </p:sp>
      <p:sp>
        <p:nvSpPr>
          <p:cNvPr id="10" name="Text 8"/>
          <p:cNvSpPr txBox="1"/>
          <p:nvPr/>
        </p:nvSpPr>
        <p:spPr>
          <a:xfrm>
            <a:off x="932688" y="3730752"/>
            <a:ext cx="2926080" cy="1371600"/>
          </a:xfrm>
          <a:prstGeom prst="rect">
            <a:avLst/>
          </a:prstGeom>
          <a:noFill/>
          <a:ln/>
        </p:spPr>
        <p:txBody>
          <a:bodyPr wrap="square" lIns="0" tIns="0" rIns="0" bIns="0" rtlCol="0" anchor="t"/>
          <a:lstStyle/>
          <a:p>
            <a:pPr marL="0" indent="0">
              <a:lnSpc>
                <a:spcPts val="1700"/>
              </a:lnSpc>
              <a:buNone/>
            </a:pPr>
            <a:r>
              <a:rPr lang="en-US" sz="1250" dirty="0">
                <a:solidFill>
                  <a:srgbClr val="5B5670"/>
                </a:solidFill>
                <a:latin typeface="Calibri" pitchFamily="34" charset="0"/>
                <a:ea typeface="Calibri" pitchFamily="34" charset="-122"/>
                <a:cs typeface="Calibri" pitchFamily="34" charset="-120"/>
              </a:rPr>
              <a:t>Customer name, email, phone, category, issue, resolution, three Yes/No business flags, case status and priority — validated against a schema.</a:t>
            </a:r>
            <a:endParaRPr lang="en-US" sz="1250" dirty="0"/>
          </a:p>
        </p:txBody>
      </p:sp>
      <p:sp>
        <p:nvSpPr>
          <p:cNvPr id="11" name="Text 9"/>
          <p:cNvSpPr txBox="1"/>
          <p:nvPr/>
        </p:nvSpPr>
        <p:spPr>
          <a:xfrm>
            <a:off x="932688" y="4965192"/>
            <a:ext cx="2926080" cy="274320"/>
          </a:xfrm>
          <a:prstGeom prst="rect">
            <a:avLst/>
          </a:prstGeom>
          <a:noFill/>
          <a:ln/>
        </p:spPr>
        <p:txBody>
          <a:bodyPr wrap="square" lIns="0" tIns="0" rIns="0" bIns="0" rtlCol="0" anchor="ctr"/>
          <a:lstStyle/>
          <a:p>
            <a:pPr marL="0" indent="0">
              <a:buNone/>
            </a:pPr>
            <a:r>
              <a:rPr lang="en-US" sz="1100" b="1" dirty="0">
                <a:solidFill>
                  <a:srgbClr val="2F855A"/>
                </a:solidFill>
                <a:latin typeface="Courier New" pitchFamily="34" charset="0"/>
                <a:ea typeface="Courier New" pitchFamily="34" charset="-122"/>
                <a:cs typeface="Courier New" pitchFamily="34" charset="-120"/>
              </a:rPr>
              <a:t>structured_data/*.json</a:t>
            </a:r>
            <a:endParaRPr lang="en-US" sz="1100" dirty="0"/>
          </a:p>
        </p:txBody>
      </p:sp>
      <p:sp>
        <p:nvSpPr>
          <p:cNvPr id="12" name="Shape 10"/>
          <p:cNvSpPr/>
          <p:nvPr/>
        </p:nvSpPr>
        <p:spPr>
          <a:xfrm>
            <a:off x="4416552" y="2359152"/>
            <a:ext cx="3502152" cy="3017520"/>
          </a:xfrm>
          <a:prstGeom prst="roundRect">
            <a:avLst>
              <a:gd name="adj" fmla="val 272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3" name="Shape 11"/>
          <p:cNvSpPr/>
          <p:nvPr/>
        </p:nvSpPr>
        <p:spPr>
          <a:xfrm>
            <a:off x="4709160" y="2569464"/>
            <a:ext cx="420624" cy="420624"/>
          </a:xfrm>
          <a:prstGeom prst="ellipse">
            <a:avLst/>
          </a:prstGeom>
          <a:solidFill>
            <a:srgbClr val="6B46C1"/>
          </a:solidFill>
          <a:ln/>
        </p:spPr>
        <p:txBody>
          <a:bodyPr/>
          <a:lstStyle/>
          <a:p>
            <a:endParaRPr lang="en-IN"/>
          </a:p>
        </p:txBody>
      </p:sp>
      <p:sp>
        <p:nvSpPr>
          <p:cNvPr id="14" name="Text 12"/>
          <p:cNvSpPr txBox="1"/>
          <p:nvPr/>
        </p:nvSpPr>
        <p:spPr>
          <a:xfrm>
            <a:off x="4709160" y="256032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4709160" y="3154680"/>
            <a:ext cx="2926080" cy="566928"/>
          </a:xfrm>
          <a:prstGeom prst="rect">
            <a:avLst/>
          </a:prstGeom>
          <a:noFill/>
          <a:ln/>
        </p:spPr>
        <p:txBody>
          <a:bodyPr wrap="square" lIns="0" tIns="0" rIns="0" bIns="0" rtlCol="0" anchor="ctr"/>
          <a:lstStyle/>
          <a:p>
            <a:pPr marL="0" indent="0">
              <a:buNone/>
            </a:pPr>
            <a:r>
              <a:rPr lang="en-US" sz="1600" b="1" dirty="0">
                <a:solidFill>
                  <a:srgbClr val="2A1B4D"/>
                </a:solidFill>
                <a:latin typeface="Calibri" pitchFamily="34" charset="0"/>
                <a:ea typeface="Calibri" pitchFamily="34" charset="-122"/>
                <a:cs typeface="Calibri" pitchFamily="34" charset="-120"/>
              </a:rPr>
              <a:t>Customer reply email</a:t>
            </a:r>
            <a:endParaRPr lang="en-US" sz="1600" dirty="0"/>
          </a:p>
        </p:txBody>
      </p:sp>
      <p:sp>
        <p:nvSpPr>
          <p:cNvPr id="16" name="Text 14"/>
          <p:cNvSpPr txBox="1"/>
          <p:nvPr/>
        </p:nvSpPr>
        <p:spPr>
          <a:xfrm>
            <a:off x="4709160" y="3730752"/>
            <a:ext cx="2926080" cy="1371600"/>
          </a:xfrm>
          <a:prstGeom prst="rect">
            <a:avLst/>
          </a:prstGeom>
          <a:noFill/>
          <a:ln/>
        </p:spPr>
        <p:txBody>
          <a:bodyPr wrap="square" lIns="0" tIns="0" rIns="0" bIns="0" rtlCol="0" anchor="t"/>
          <a:lstStyle/>
          <a:p>
            <a:pPr marL="0" indent="0">
              <a:lnSpc>
                <a:spcPts val="1700"/>
              </a:lnSpc>
              <a:buNone/>
            </a:pPr>
            <a:r>
              <a:rPr lang="en-US" sz="1250" dirty="0">
                <a:solidFill>
                  <a:srgbClr val="5B5670"/>
                </a:solidFill>
                <a:latin typeface="Calibri" pitchFamily="34" charset="0"/>
                <a:ea typeface="Calibri" pitchFamily="34" charset="-122"/>
                <a:cs typeface="Calibri" pitchFamily="34" charset="-120"/>
              </a:rPr>
              <a:t>A professional response addressed to the customer, restating the issue and giving the resolution or the next step — inventing nothing.</a:t>
            </a:r>
            <a:endParaRPr lang="en-US" sz="1250" dirty="0"/>
          </a:p>
        </p:txBody>
      </p:sp>
      <p:sp>
        <p:nvSpPr>
          <p:cNvPr id="17" name="Text 15"/>
          <p:cNvSpPr txBox="1"/>
          <p:nvPr/>
        </p:nvSpPr>
        <p:spPr>
          <a:xfrm>
            <a:off x="4709160" y="4965192"/>
            <a:ext cx="2926080" cy="274320"/>
          </a:xfrm>
          <a:prstGeom prst="rect">
            <a:avLst/>
          </a:prstGeom>
          <a:noFill/>
          <a:ln/>
        </p:spPr>
        <p:txBody>
          <a:bodyPr wrap="square" lIns="0" tIns="0" rIns="0" bIns="0" rtlCol="0" anchor="ctr"/>
          <a:lstStyle/>
          <a:p>
            <a:pPr marL="0" indent="0">
              <a:buNone/>
            </a:pPr>
            <a:r>
              <a:rPr lang="en-US" sz="1100" b="1" dirty="0">
                <a:solidFill>
                  <a:srgbClr val="2F855A"/>
                </a:solidFill>
                <a:latin typeface="Courier New" pitchFamily="34" charset="0"/>
                <a:ea typeface="Courier New" pitchFamily="34" charset="-122"/>
                <a:cs typeface="Courier New" pitchFamily="34" charset="-120"/>
              </a:rPr>
              <a:t>customer_emails/*.txt</a:t>
            </a:r>
            <a:endParaRPr lang="en-US" sz="1100" dirty="0"/>
          </a:p>
        </p:txBody>
      </p:sp>
      <p:sp>
        <p:nvSpPr>
          <p:cNvPr id="18" name="Shape 16"/>
          <p:cNvSpPr/>
          <p:nvPr/>
        </p:nvSpPr>
        <p:spPr>
          <a:xfrm>
            <a:off x="8193024" y="2359152"/>
            <a:ext cx="3502152" cy="3017520"/>
          </a:xfrm>
          <a:prstGeom prst="roundRect">
            <a:avLst>
              <a:gd name="adj" fmla="val 272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9" name="Shape 17"/>
          <p:cNvSpPr/>
          <p:nvPr/>
        </p:nvSpPr>
        <p:spPr>
          <a:xfrm>
            <a:off x="8485632" y="2578608"/>
            <a:ext cx="420624" cy="420624"/>
          </a:xfrm>
          <a:prstGeom prst="ellipse">
            <a:avLst/>
          </a:prstGeom>
          <a:solidFill>
            <a:srgbClr val="6B46C1"/>
          </a:solidFill>
          <a:ln/>
        </p:spPr>
        <p:txBody>
          <a:bodyPr/>
          <a:lstStyle/>
          <a:p>
            <a:endParaRPr lang="en-IN"/>
          </a:p>
        </p:txBody>
      </p:sp>
      <p:sp>
        <p:nvSpPr>
          <p:cNvPr id="20" name="Text 18"/>
          <p:cNvSpPr txBox="1"/>
          <p:nvPr/>
        </p:nvSpPr>
        <p:spPr>
          <a:xfrm>
            <a:off x="8485632" y="260604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8485632" y="3154680"/>
            <a:ext cx="2926080" cy="566928"/>
          </a:xfrm>
          <a:prstGeom prst="rect">
            <a:avLst/>
          </a:prstGeom>
          <a:noFill/>
          <a:ln/>
        </p:spPr>
        <p:txBody>
          <a:bodyPr wrap="square" lIns="0" tIns="0" rIns="0" bIns="0" rtlCol="0" anchor="ctr"/>
          <a:lstStyle/>
          <a:p>
            <a:pPr marL="0" indent="0">
              <a:buNone/>
            </a:pPr>
            <a:r>
              <a:rPr lang="en-US" sz="1600" b="1" dirty="0">
                <a:solidFill>
                  <a:srgbClr val="2A1B4D"/>
                </a:solidFill>
                <a:latin typeface="Calibri" pitchFamily="34" charset="0"/>
                <a:ea typeface="Calibri" pitchFamily="34" charset="-122"/>
                <a:cs typeface="Calibri" pitchFamily="34" charset="-120"/>
              </a:rPr>
              <a:t>Internal case summary</a:t>
            </a:r>
            <a:endParaRPr lang="en-US" sz="1600" dirty="0"/>
          </a:p>
        </p:txBody>
      </p:sp>
      <p:sp>
        <p:nvSpPr>
          <p:cNvPr id="22" name="Text 20"/>
          <p:cNvSpPr txBox="1"/>
          <p:nvPr/>
        </p:nvSpPr>
        <p:spPr>
          <a:xfrm>
            <a:off x="8485632" y="3730752"/>
            <a:ext cx="2926080" cy="1371600"/>
          </a:xfrm>
          <a:prstGeom prst="rect">
            <a:avLst/>
          </a:prstGeom>
          <a:noFill/>
          <a:ln/>
        </p:spPr>
        <p:txBody>
          <a:bodyPr wrap="square" lIns="0" tIns="0" rIns="0" bIns="0" rtlCol="0" anchor="t"/>
          <a:lstStyle/>
          <a:p>
            <a:pPr marL="0" indent="0">
              <a:lnSpc>
                <a:spcPts val="1700"/>
              </a:lnSpc>
              <a:buNone/>
            </a:pPr>
            <a:r>
              <a:rPr lang="en-US" sz="1250" dirty="0">
                <a:solidFill>
                  <a:srgbClr val="5B5670"/>
                </a:solidFill>
                <a:latin typeface="Calibri" pitchFamily="34" charset="0"/>
                <a:ea typeface="Calibri" pitchFamily="34" charset="-122"/>
                <a:cs typeface="Calibri" pitchFamily="34" charset="-120"/>
              </a:rPr>
              <a:t>Overview, key issue, action taken, current status and one concrete recommended next action for the service manager.</a:t>
            </a:r>
            <a:endParaRPr lang="en-US" sz="1250" dirty="0"/>
          </a:p>
        </p:txBody>
      </p:sp>
      <p:sp>
        <p:nvSpPr>
          <p:cNvPr id="23" name="Text 21"/>
          <p:cNvSpPr txBox="1"/>
          <p:nvPr/>
        </p:nvSpPr>
        <p:spPr>
          <a:xfrm>
            <a:off x="8485632" y="4965192"/>
            <a:ext cx="2926080" cy="274320"/>
          </a:xfrm>
          <a:prstGeom prst="rect">
            <a:avLst/>
          </a:prstGeom>
          <a:noFill/>
          <a:ln/>
        </p:spPr>
        <p:txBody>
          <a:bodyPr wrap="square" lIns="0" tIns="0" rIns="0" bIns="0" rtlCol="0" anchor="ctr"/>
          <a:lstStyle/>
          <a:p>
            <a:pPr marL="0" indent="0">
              <a:buNone/>
            </a:pPr>
            <a:r>
              <a:rPr lang="en-US" sz="1100" b="1" dirty="0">
                <a:solidFill>
                  <a:srgbClr val="2F855A"/>
                </a:solidFill>
                <a:latin typeface="Courier New" pitchFamily="34" charset="0"/>
                <a:ea typeface="Courier New" pitchFamily="34" charset="-122"/>
                <a:cs typeface="Courier New" pitchFamily="34" charset="-120"/>
              </a:rPr>
              <a:t>case_summaries/*.txt</a:t>
            </a:r>
            <a:endParaRPr lang="en-US" sz="1100" dirty="0"/>
          </a:p>
        </p:txBody>
      </p:sp>
      <p:sp>
        <p:nvSpPr>
          <p:cNvPr id="24" name="Text 22"/>
          <p:cNvSpPr txBox="1"/>
          <p:nvPr/>
        </p:nvSpPr>
        <p:spPr>
          <a:xfrm>
            <a:off x="640080" y="5650992"/>
            <a:ext cx="10881360" cy="365760"/>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Plus one consolidated final_report.csv across the whole batch, and a timestamped run.log</a:t>
            </a:r>
            <a:endParaRPr lang="en-US" sz="1400" dirty="0"/>
          </a:p>
        </p:txBody>
      </p:sp>
      <p:sp>
        <p:nvSpPr>
          <p:cNvPr id="26" name="Text 2">
            <a:extLst>
              <a:ext uri="{FF2B5EF4-FFF2-40B4-BE49-F238E27FC236}">
                <a16:creationId xmlns:a16="http://schemas.microsoft.com/office/drawing/2014/main" id="{12621F88-2502-5AD6-362E-2737E5892E48}"/>
              </a:ext>
            </a:extLst>
          </p:cNvPr>
          <p:cNvSpPr txBox="1"/>
          <p:nvPr/>
        </p:nvSpPr>
        <p:spPr>
          <a:xfrm>
            <a:off x="646176" y="1880616"/>
            <a:ext cx="4565904" cy="384049"/>
          </a:xfrm>
          <a:prstGeom prst="rect">
            <a:avLst/>
          </a:prstGeom>
          <a:solidFill>
            <a:srgbClr val="2A1B4D"/>
          </a:solidFill>
          <a:ln/>
        </p:spPr>
        <p:txBody>
          <a:bodyPr wrap="square" lIns="76200" tIns="76200" rIns="76200" bIns="76200" rtlCol="0" anchor="ctr"/>
          <a:lstStyle/>
          <a:p>
            <a:r>
              <a:rPr lang="en-US" sz="1600" b="1" dirty="0">
                <a:solidFill>
                  <a:srgbClr val="FFFFFF"/>
                </a:solidFill>
                <a:latin typeface="Courier New" pitchFamily="34" charset="0"/>
                <a:ea typeface="Courier New" pitchFamily="34" charset="-122"/>
                <a:cs typeface="Courier New" pitchFamily="34" charset="-120"/>
              </a:rPr>
              <a:t>Web : </a:t>
            </a:r>
            <a:r>
              <a:rPr lang="en-US" sz="1600" b="1" dirty="0" err="1">
                <a:solidFill>
                  <a:srgbClr val="FFFFFF"/>
                </a:solidFill>
                <a:latin typeface="Courier New" pitchFamily="34" charset="0"/>
                <a:ea typeface="Courier New" pitchFamily="34" charset="-122"/>
                <a:cs typeface="Courier New" pitchFamily="34" charset="-120"/>
              </a:rPr>
              <a:t>streamlit</a:t>
            </a:r>
            <a:r>
              <a:rPr lang="en-US" sz="1600" b="1" dirty="0">
                <a:solidFill>
                  <a:srgbClr val="FFFFFF"/>
                </a:solidFill>
                <a:latin typeface="Courier New" pitchFamily="34" charset="0"/>
                <a:ea typeface="Courier New" pitchFamily="34" charset="-122"/>
                <a:cs typeface="Courier New" pitchFamily="34" charset="-120"/>
              </a:rPr>
              <a:t> run streamlit_app.py</a:t>
            </a:r>
            <a:endParaRPr lang="en-US" sz="1600" dirty="0"/>
          </a:p>
        </p:txBody>
      </p:sp>
      <p:sp>
        <p:nvSpPr>
          <p:cNvPr id="28" name="Text 3">
            <a:extLst>
              <a:ext uri="{FF2B5EF4-FFF2-40B4-BE49-F238E27FC236}">
                <a16:creationId xmlns:a16="http://schemas.microsoft.com/office/drawing/2014/main" id="{9F305596-D8B6-BDC5-089F-F68A7B18BE8E}"/>
              </a:ext>
            </a:extLst>
          </p:cNvPr>
          <p:cNvSpPr txBox="1"/>
          <p:nvPr/>
        </p:nvSpPr>
        <p:spPr>
          <a:xfrm>
            <a:off x="5358384" y="1842516"/>
            <a:ext cx="6163056" cy="365760"/>
          </a:xfrm>
          <a:prstGeom prst="rect">
            <a:avLst/>
          </a:prstGeom>
          <a:noFill/>
          <a:ln/>
        </p:spPr>
        <p:txBody>
          <a:bodyPr wrap="square" lIns="0" tIns="0" rIns="0" bIns="0" rtlCol="0" anchor="ctr"/>
          <a:lstStyle/>
          <a:p>
            <a:r>
              <a:rPr lang="en-IN" sz="1400" i="1" dirty="0">
                <a:solidFill>
                  <a:srgbClr val="5B5670"/>
                </a:solidFill>
                <a:latin typeface="Calibri" pitchFamily="34" charset="0"/>
                <a:ea typeface="Calibri" pitchFamily="34" charset="-122"/>
                <a:cs typeface="Calibri" pitchFamily="34" charset="-120"/>
              </a:rPr>
              <a:t>The same pipeline in a browser — this is what gets deployed</a:t>
            </a:r>
            <a:endParaRPr lang="en-US" sz="1400" i="1" dirty="0">
              <a:solidFill>
                <a:srgbClr val="5B5670"/>
              </a:solidFill>
              <a:latin typeface="Calibri" pitchFamily="34" charset="0"/>
              <a:ea typeface="Calibri" pitchFamily="34" charset="-122"/>
              <a:cs typeface="Calibri"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ARCHITECTURE</a:t>
            </a:r>
            <a:endParaRPr lang="en-US" sz="1100" dirty="0"/>
          </a:p>
        </p:txBody>
      </p:sp>
      <p:pic>
        <p:nvPicPr>
          <p:cNvPr id="8" name="Picture 7">
            <a:extLst>
              <a:ext uri="{FF2B5EF4-FFF2-40B4-BE49-F238E27FC236}">
                <a16:creationId xmlns:a16="http://schemas.microsoft.com/office/drawing/2014/main" id="{CDDA1A6E-6733-3DE1-A3EA-F900CE72144C}"/>
              </a:ext>
            </a:extLst>
          </p:cNvPr>
          <p:cNvPicPr>
            <a:picLocks noChangeAspect="1"/>
          </p:cNvPicPr>
          <p:nvPr/>
        </p:nvPicPr>
        <p:blipFill>
          <a:blip r:embed="rId3"/>
          <a:stretch>
            <a:fillRect/>
          </a:stretch>
        </p:blipFill>
        <p:spPr>
          <a:xfrm>
            <a:off x="0" y="640080"/>
            <a:ext cx="12192000" cy="6217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WORKFLOW — LANGGRAPH</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Sequential where it must be, parallel where it can be</a:t>
            </a:r>
            <a:endParaRPr lang="en-US" sz="3200" dirty="0"/>
          </a:p>
        </p:txBody>
      </p:sp>
      <p:sp>
        <p:nvSpPr>
          <p:cNvPr id="5" name="Shape 2"/>
          <p:cNvSpPr/>
          <p:nvPr/>
        </p:nvSpPr>
        <p:spPr>
          <a:xfrm>
            <a:off x="8275320" y="1481328"/>
            <a:ext cx="3291840" cy="3703320"/>
          </a:xfrm>
          <a:prstGeom prst="roundRect">
            <a:avLst>
              <a:gd name="adj" fmla="val 2500"/>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6" name="Text 3"/>
          <p:cNvSpPr txBox="1"/>
          <p:nvPr/>
        </p:nvSpPr>
        <p:spPr>
          <a:xfrm>
            <a:off x="8549640" y="1600200"/>
            <a:ext cx="2743200" cy="320040"/>
          </a:xfrm>
          <a:prstGeom prst="rect">
            <a:avLst/>
          </a:prstGeom>
          <a:noFill/>
          <a:ln/>
        </p:spPr>
        <p:txBody>
          <a:bodyPr wrap="square" lIns="0" tIns="0" rIns="0" bIns="0" rtlCol="0" anchor="ctr"/>
          <a:lstStyle/>
          <a:p>
            <a:pPr marL="0" indent="0">
              <a:buNone/>
            </a:pPr>
            <a:r>
              <a:rPr lang="en-US" sz="1600" b="1" dirty="0">
                <a:solidFill>
                  <a:srgbClr val="2A1B4D"/>
                </a:solidFill>
                <a:latin typeface="Calibri" pitchFamily="34" charset="0"/>
                <a:ea typeface="Calibri" pitchFamily="34" charset="-122"/>
                <a:cs typeface="Calibri" pitchFamily="34" charset="-120"/>
              </a:rPr>
              <a:t>Why a graph?</a:t>
            </a:r>
            <a:endParaRPr lang="en-US" sz="1600" dirty="0"/>
          </a:p>
        </p:txBody>
      </p:sp>
      <p:sp>
        <p:nvSpPr>
          <p:cNvPr id="7" name="Text 4"/>
          <p:cNvSpPr txBox="1"/>
          <p:nvPr/>
        </p:nvSpPr>
        <p:spPr>
          <a:xfrm>
            <a:off x="8549640" y="2011680"/>
            <a:ext cx="2743200" cy="3840480"/>
          </a:xfrm>
          <a:prstGeom prst="rect">
            <a:avLst/>
          </a:prstGeom>
          <a:noFill/>
          <a:ln/>
        </p:spPr>
        <p:txBody>
          <a:bodyPr wrap="square" lIns="0" tIns="0" rIns="0" bIns="0" rtlCol="0" anchor="t"/>
          <a:lstStyle/>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Extraction must run first — both other tasks consume its output.</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The email and the summary depend only on that output, not on each other.</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Two edges out of one node, so LangGraph runs them in the same superstep.</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A fourth task is one node and one edge — the other three do not change.</a:t>
            </a:r>
            <a:endParaRPr lang="en-US" sz="1250" dirty="0"/>
          </a:p>
        </p:txBody>
      </p:sp>
      <p:pic>
        <p:nvPicPr>
          <p:cNvPr id="9" name="Picture 8">
            <a:extLst>
              <a:ext uri="{FF2B5EF4-FFF2-40B4-BE49-F238E27FC236}">
                <a16:creationId xmlns:a16="http://schemas.microsoft.com/office/drawing/2014/main" id="{BE8251D7-86FD-DBDC-DD26-50DCF13F632A}"/>
              </a:ext>
            </a:extLst>
          </p:cNvPr>
          <p:cNvPicPr>
            <a:picLocks noChangeAspect="1"/>
          </p:cNvPicPr>
          <p:nvPr/>
        </p:nvPicPr>
        <p:blipFill>
          <a:blip r:embed="rId3"/>
          <a:stretch>
            <a:fillRect/>
          </a:stretch>
        </p:blipFill>
        <p:spPr>
          <a:xfrm>
            <a:off x="575679" y="1419613"/>
            <a:ext cx="7699641" cy="45190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THE CORE IDEA</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The model fills in a schema — we never parse text</a:t>
            </a:r>
            <a:endParaRPr lang="en-US" sz="3200" dirty="0"/>
          </a:p>
        </p:txBody>
      </p:sp>
      <p:sp>
        <p:nvSpPr>
          <p:cNvPr id="4" name="Text 2"/>
          <p:cNvSpPr txBox="1"/>
          <p:nvPr/>
        </p:nvSpPr>
        <p:spPr>
          <a:xfrm>
            <a:off x="640080" y="1463040"/>
            <a:ext cx="10881360" cy="1371600"/>
          </a:xfrm>
          <a:prstGeom prst="rect">
            <a:avLst/>
          </a:prstGeom>
          <a:solidFill>
            <a:srgbClr val="2A1B4D"/>
          </a:solidFill>
          <a:ln/>
        </p:spPr>
        <p:txBody>
          <a:bodyPr wrap="square" lIns="152400" tIns="152400" rIns="152400" bIns="152400" rtlCol="0" anchor="t"/>
          <a:lstStyle/>
          <a:p>
            <a:pPr marL="0" indent="0">
              <a:lnSpc>
                <a:spcPts val="2000"/>
              </a:lnSpc>
              <a:buNone/>
            </a:pPr>
            <a:r>
              <a:rPr lang="en-US" sz="1350" dirty="0">
                <a:solidFill>
                  <a:srgbClr val="FFFFFF"/>
                </a:solidFill>
                <a:latin typeface="Courier New" pitchFamily="34" charset="0"/>
                <a:ea typeface="Courier New" pitchFamily="34" charset="-122"/>
                <a:cs typeface="Courier New" pitchFamily="34" charset="-120"/>
              </a:rPr>
              <a:t>chain  = EXTRACTION_PROMPT | llm.with_structured_output(ComplaintData)</a:t>
            </a:r>
            <a:endParaRPr lang="en-US" sz="1350" dirty="0"/>
          </a:p>
          <a:p>
            <a:pPr marL="0" indent="0">
              <a:lnSpc>
                <a:spcPts val="2000"/>
              </a:lnSpc>
              <a:buNone/>
            </a:pPr>
            <a:r>
              <a:rPr lang="en-US" sz="1350" dirty="0">
                <a:solidFill>
                  <a:srgbClr val="FFFFFF"/>
                </a:solidFill>
                <a:latin typeface="Courier New" pitchFamily="34" charset="0"/>
                <a:ea typeface="Courier New" pitchFamily="34" charset="-122"/>
                <a:cs typeface="Courier New" pitchFamily="34" charset="-120"/>
              </a:rPr>
              <a:t>result = chain.invoke({"document_text": text})</a:t>
            </a:r>
            <a:endParaRPr lang="en-US" sz="1350" dirty="0"/>
          </a:p>
          <a:p>
            <a:pPr marL="0" indent="0">
              <a:lnSpc>
                <a:spcPts val="2000"/>
              </a:lnSpc>
              <a:buNone/>
            </a:pPr>
            <a:endParaRPr lang="en-US" sz="1350" dirty="0"/>
          </a:p>
          <a:p>
            <a:pPr marL="0" indent="0">
              <a:lnSpc>
                <a:spcPts val="2000"/>
              </a:lnSpc>
              <a:buNone/>
            </a:pPr>
            <a:r>
              <a:rPr lang="en-US" sz="1350" dirty="0">
                <a:solidFill>
                  <a:srgbClr val="8B85A3"/>
                </a:solidFill>
                <a:latin typeface="Courier New" pitchFamily="34" charset="0"/>
                <a:ea typeface="Courier New" pitchFamily="34" charset="-122"/>
                <a:cs typeface="Courier New" pitchFamily="34" charset="-120"/>
              </a:rPr>
              <a:t># result is a validated ComplaintData object, not a string</a:t>
            </a:r>
            <a:endParaRPr lang="en-US" sz="1350" dirty="0"/>
          </a:p>
        </p:txBody>
      </p:sp>
      <p:sp>
        <p:nvSpPr>
          <p:cNvPr id="5" name="Shape 3"/>
          <p:cNvSpPr/>
          <p:nvPr/>
        </p:nvSpPr>
        <p:spPr>
          <a:xfrm>
            <a:off x="640080" y="3154680"/>
            <a:ext cx="420624" cy="420624"/>
          </a:xfrm>
          <a:prstGeom prst="ellipse">
            <a:avLst/>
          </a:prstGeom>
          <a:solidFill>
            <a:srgbClr val="6B46C1"/>
          </a:solidFill>
          <a:ln/>
        </p:spPr>
        <p:txBody>
          <a:bodyPr/>
          <a:lstStyle/>
          <a:p>
            <a:endParaRPr lang="en-IN"/>
          </a:p>
        </p:txBody>
      </p:sp>
      <p:sp>
        <p:nvSpPr>
          <p:cNvPr id="6" name="Text 4"/>
          <p:cNvSpPr txBox="1"/>
          <p:nvPr/>
        </p:nvSpPr>
        <p:spPr>
          <a:xfrm>
            <a:off x="640080" y="31546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234440" y="3127248"/>
            <a:ext cx="475488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The schema is the prompt</a:t>
            </a:r>
            <a:endParaRPr lang="en-US" sz="1600" dirty="0"/>
          </a:p>
        </p:txBody>
      </p:sp>
      <p:sp>
        <p:nvSpPr>
          <p:cNvPr id="8" name="Text 6"/>
          <p:cNvSpPr txBox="1"/>
          <p:nvPr/>
        </p:nvSpPr>
        <p:spPr>
          <a:xfrm>
            <a:off x="1234440" y="3429000"/>
            <a:ext cx="475488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Each Field(description=...) in models.py is sent to the model as part of the instruction.</a:t>
            </a:r>
            <a:endParaRPr lang="en-US" sz="1300" dirty="0"/>
          </a:p>
        </p:txBody>
      </p:sp>
      <p:sp>
        <p:nvSpPr>
          <p:cNvPr id="9" name="Shape 7"/>
          <p:cNvSpPr/>
          <p:nvPr/>
        </p:nvSpPr>
        <p:spPr>
          <a:xfrm>
            <a:off x="6355080" y="3154680"/>
            <a:ext cx="420624" cy="420624"/>
          </a:xfrm>
          <a:prstGeom prst="ellipse">
            <a:avLst/>
          </a:prstGeom>
          <a:solidFill>
            <a:srgbClr val="6B46C1"/>
          </a:solidFill>
          <a:ln/>
        </p:spPr>
        <p:txBody>
          <a:bodyPr/>
          <a:lstStyle/>
          <a:p>
            <a:endParaRPr lang="en-IN"/>
          </a:p>
        </p:txBody>
      </p:sp>
      <p:sp>
        <p:nvSpPr>
          <p:cNvPr id="10" name="Text 8"/>
          <p:cNvSpPr txBox="1"/>
          <p:nvPr/>
        </p:nvSpPr>
        <p:spPr>
          <a:xfrm>
            <a:off x="6355080" y="31546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6949440" y="3127248"/>
            <a:ext cx="475488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Invalid answers cannot pass</a:t>
            </a:r>
            <a:endParaRPr lang="en-US" sz="1600" dirty="0"/>
          </a:p>
        </p:txBody>
      </p:sp>
      <p:sp>
        <p:nvSpPr>
          <p:cNvPr id="12" name="Text 10"/>
          <p:cNvSpPr txBox="1"/>
          <p:nvPr/>
        </p:nvSpPr>
        <p:spPr>
          <a:xfrm>
            <a:off x="6949440" y="3429000"/>
            <a:ext cx="475488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complaint_category is a Literal of nine values. An invented category fails validation.</a:t>
            </a:r>
            <a:endParaRPr lang="en-US" sz="1300" dirty="0"/>
          </a:p>
        </p:txBody>
      </p:sp>
      <p:sp>
        <p:nvSpPr>
          <p:cNvPr id="13" name="Shape 11"/>
          <p:cNvSpPr/>
          <p:nvPr/>
        </p:nvSpPr>
        <p:spPr>
          <a:xfrm>
            <a:off x="640080" y="4754880"/>
            <a:ext cx="420624" cy="420624"/>
          </a:xfrm>
          <a:prstGeom prst="ellipse">
            <a:avLst/>
          </a:prstGeom>
          <a:solidFill>
            <a:srgbClr val="6B46C1"/>
          </a:solidFill>
          <a:ln/>
        </p:spPr>
        <p:txBody>
          <a:bodyPr/>
          <a:lstStyle/>
          <a:p>
            <a:endParaRPr lang="en-IN"/>
          </a:p>
        </p:txBody>
      </p:sp>
      <p:sp>
        <p:nvSpPr>
          <p:cNvPr id="14" name="Text 12"/>
          <p:cNvSpPr txBox="1"/>
          <p:nvPr/>
        </p:nvSpPr>
        <p:spPr>
          <a:xfrm>
            <a:off x="640080" y="47548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234440" y="4727448"/>
            <a:ext cx="475488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Absence is recordable</a:t>
            </a:r>
            <a:endParaRPr lang="en-US" sz="1600" dirty="0"/>
          </a:p>
        </p:txBody>
      </p:sp>
      <p:sp>
        <p:nvSpPr>
          <p:cNvPr id="16" name="Text 14"/>
          <p:cNvSpPr txBox="1"/>
          <p:nvPr/>
        </p:nvSpPr>
        <p:spPr>
          <a:xfrm>
            <a:off x="1234440" y="5029200"/>
            <a:ext cx="475488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Optional fields default to None, so the model can say a detail is missing instead of inventing one.</a:t>
            </a:r>
            <a:endParaRPr lang="en-US" sz="1300" dirty="0"/>
          </a:p>
        </p:txBody>
      </p:sp>
      <p:sp>
        <p:nvSpPr>
          <p:cNvPr id="17" name="Shape 15"/>
          <p:cNvSpPr/>
          <p:nvPr/>
        </p:nvSpPr>
        <p:spPr>
          <a:xfrm>
            <a:off x="6355080" y="4754880"/>
            <a:ext cx="420624" cy="420624"/>
          </a:xfrm>
          <a:prstGeom prst="ellipse">
            <a:avLst/>
          </a:prstGeom>
          <a:solidFill>
            <a:srgbClr val="6B46C1"/>
          </a:solidFill>
          <a:ln/>
        </p:spPr>
        <p:txBody>
          <a:bodyPr/>
          <a:lstStyle/>
          <a:p>
            <a:endParaRPr lang="en-IN"/>
          </a:p>
        </p:txBody>
      </p:sp>
      <p:sp>
        <p:nvSpPr>
          <p:cNvPr id="18" name="Text 16"/>
          <p:cNvSpPr txBox="1"/>
          <p:nvPr/>
        </p:nvSpPr>
        <p:spPr>
          <a:xfrm>
            <a:off x="6355080" y="47548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6949440" y="4727448"/>
            <a:ext cx="475488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The report is always clean</a:t>
            </a:r>
            <a:endParaRPr lang="en-US" sz="1600" dirty="0"/>
          </a:p>
        </p:txBody>
      </p:sp>
      <p:sp>
        <p:nvSpPr>
          <p:cNvPr id="20" name="Text 18"/>
          <p:cNvSpPr txBox="1"/>
          <p:nvPr/>
        </p:nvSpPr>
        <p:spPr>
          <a:xfrm>
            <a:off x="6949440" y="5029200"/>
            <a:ext cx="475488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No text parsing anywhere in the project, so the CSV cannot be corrupted by odd wording.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PROMPT ENGINEERING</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Four measures that stop the model inventing facts</a:t>
            </a:r>
            <a:endParaRPr lang="en-US" sz="3200" dirty="0"/>
          </a:p>
        </p:txBody>
      </p:sp>
      <p:sp>
        <p:nvSpPr>
          <p:cNvPr id="4" name="Shape 2"/>
          <p:cNvSpPr/>
          <p:nvPr/>
        </p:nvSpPr>
        <p:spPr>
          <a:xfrm>
            <a:off x="640080" y="1554480"/>
            <a:ext cx="5257800" cy="1828800"/>
          </a:xfrm>
          <a:prstGeom prst="roundRect">
            <a:avLst>
              <a:gd name="adj" fmla="val 4500"/>
            </a:avLst>
          </a:prstGeom>
          <a:solidFill>
            <a:srgbClr val="2A1B4D"/>
          </a:solidFill>
          <a:ln w="12700">
            <a:solidFill>
              <a:srgbClr val="2A1B4D"/>
            </a:solidFill>
            <a:prstDash val="solid"/>
          </a:ln>
          <a:effectLst>
            <a:outerShdw blurRad="101600" dist="25400" dir="5400000" algn="bl" rotWithShape="0">
              <a:srgbClr val="B9B2CE">
                <a:alpha val="35000"/>
              </a:srgbClr>
            </a:outerShdw>
          </a:effectLst>
        </p:spPr>
        <p:txBody>
          <a:bodyPr/>
          <a:lstStyle/>
          <a:p>
            <a:endParaRPr lang="en-IN"/>
          </a:p>
        </p:txBody>
      </p:sp>
      <p:sp>
        <p:nvSpPr>
          <p:cNvPr id="5" name="Text 3"/>
          <p:cNvSpPr txBox="1"/>
          <p:nvPr/>
        </p:nvSpPr>
        <p:spPr>
          <a:xfrm>
            <a:off x="914400" y="1755648"/>
            <a:ext cx="4709160" cy="274320"/>
          </a:xfrm>
          <a:prstGeom prst="rect">
            <a:avLst/>
          </a:prstGeom>
          <a:noFill/>
          <a:ln/>
        </p:spPr>
        <p:txBody>
          <a:bodyPr wrap="square" lIns="0" tIns="0" rIns="0" bIns="0" rtlCol="0" anchor="ctr"/>
          <a:lstStyle/>
          <a:p>
            <a:pPr marL="0" indent="0">
              <a:buNone/>
            </a:pPr>
            <a:r>
              <a:rPr lang="en-US" sz="1200" b="1" dirty="0">
                <a:solidFill>
                  <a:srgbClr val="CFC4EE"/>
                </a:solidFill>
                <a:latin typeface="Calibri" pitchFamily="34" charset="0"/>
                <a:ea typeface="Calibri" pitchFamily="34" charset="-122"/>
                <a:cs typeface="Calibri" pitchFamily="34" charset="-120"/>
              </a:rPr>
              <a:t>The shared rule, included in all three prompts</a:t>
            </a:r>
            <a:endParaRPr lang="en-US" sz="1200" dirty="0"/>
          </a:p>
        </p:txBody>
      </p:sp>
      <p:sp>
        <p:nvSpPr>
          <p:cNvPr id="6" name="Text 4"/>
          <p:cNvSpPr txBox="1"/>
          <p:nvPr/>
        </p:nvSpPr>
        <p:spPr>
          <a:xfrm>
            <a:off x="914400" y="2084832"/>
            <a:ext cx="4709160" cy="1143000"/>
          </a:xfrm>
          <a:prstGeom prst="rect">
            <a:avLst/>
          </a:prstGeom>
          <a:noFill/>
          <a:ln/>
        </p:spPr>
        <p:txBody>
          <a:bodyPr wrap="square" lIns="0" tIns="0" rIns="0" bIns="0" rtlCol="0" anchor="t"/>
          <a:lstStyle/>
          <a:p>
            <a:pPr marL="0" indent="0">
              <a:lnSpc>
                <a:spcPts val="1900"/>
              </a:lnSpc>
              <a:buNone/>
            </a:pPr>
            <a:r>
              <a:rPr lang="en-US" sz="1300" i="1" dirty="0">
                <a:solidFill>
                  <a:srgbClr val="FFFFFF"/>
                </a:solidFill>
                <a:latin typeface="Calibri" pitchFamily="34" charset="0"/>
                <a:ea typeface="Calibri" pitchFamily="34" charset="-122"/>
                <a:cs typeface="Calibri" pitchFamily="34" charset="-120"/>
              </a:rPr>
              <a:t>“Use ONLY information that is present in the text you are given. If something is not mentioned, leave it empty or false. Never invent names, phone numbers, dates, amounts or promises.”</a:t>
            </a:r>
            <a:endParaRPr lang="en-US" sz="1300" dirty="0"/>
          </a:p>
        </p:txBody>
      </p:sp>
      <p:sp>
        <p:nvSpPr>
          <p:cNvPr id="7" name="Text 5"/>
          <p:cNvSpPr txBox="1"/>
          <p:nvPr/>
        </p:nvSpPr>
        <p:spPr>
          <a:xfrm>
            <a:off x="640080" y="3611880"/>
            <a:ext cx="5257800" cy="292608"/>
          </a:xfrm>
          <a:prstGeom prst="rect">
            <a:avLst/>
          </a:prstGeom>
          <a:noFill/>
          <a:ln/>
        </p:spPr>
        <p:txBody>
          <a:bodyPr wrap="square" lIns="0" tIns="0" rIns="0" bIns="0" rtlCol="0" anchor="ctr"/>
          <a:lstStyle/>
          <a:p>
            <a:pPr marL="0" indent="0">
              <a:buNone/>
            </a:pPr>
            <a:r>
              <a:rPr lang="en-US" sz="1600" b="1" dirty="0">
                <a:solidFill>
                  <a:srgbClr val="2A1B4D"/>
                </a:solidFill>
                <a:latin typeface="Calibri" pitchFamily="34" charset="0"/>
                <a:ea typeface="Calibri" pitchFamily="34" charset="-122"/>
                <a:cs typeface="Calibri" pitchFamily="34" charset="-120"/>
              </a:rPr>
              <a:t>Why it matters</a:t>
            </a:r>
            <a:endParaRPr lang="en-US" sz="1600" dirty="0"/>
          </a:p>
        </p:txBody>
      </p:sp>
      <p:sp>
        <p:nvSpPr>
          <p:cNvPr id="8" name="Text 6"/>
          <p:cNvSpPr txBox="1"/>
          <p:nvPr/>
        </p:nvSpPr>
        <p:spPr>
          <a:xfrm>
            <a:off x="640080" y="3977640"/>
            <a:ext cx="5257800" cy="1554480"/>
          </a:xfrm>
          <a:prstGeom prst="rect">
            <a:avLst/>
          </a:prstGeom>
          <a:noFill/>
          <a:ln/>
        </p:spPr>
        <p:txBody>
          <a:bodyPr wrap="square" lIns="0" tIns="0" rIns="0" bIns="0" rtlCol="0" anchor="t"/>
          <a:lstStyle/>
          <a:p>
            <a:pPr marL="0" indent="0">
              <a:lnSpc>
                <a:spcPts val="1900"/>
              </a:lnSpc>
              <a:buNone/>
            </a:pPr>
            <a:r>
              <a:rPr lang="en-US" sz="1350" dirty="0">
                <a:solidFill>
                  <a:srgbClr val="241F31"/>
                </a:solidFill>
                <a:latin typeface="Calibri" pitchFamily="34" charset="0"/>
                <a:ea typeface="Calibri" pitchFamily="34" charset="-122"/>
                <a:cs typeface="Calibri" pitchFamily="34" charset="-120"/>
              </a:rPr>
              <a:t>An email that promises a refund the company never agreed to is worse than no email at all. So the email prompt adds: if no resolution is recorded, say the case is under review and give the next step — do not promise a refund or a date.</a:t>
            </a:r>
            <a:endParaRPr lang="en-US" sz="1350" dirty="0"/>
          </a:p>
        </p:txBody>
      </p:sp>
      <p:sp>
        <p:nvSpPr>
          <p:cNvPr id="9" name="Shape 7"/>
          <p:cNvSpPr/>
          <p:nvPr/>
        </p:nvSpPr>
        <p:spPr>
          <a:xfrm>
            <a:off x="6263640" y="1600200"/>
            <a:ext cx="420624" cy="420624"/>
          </a:xfrm>
          <a:prstGeom prst="ellipse">
            <a:avLst/>
          </a:prstGeom>
          <a:solidFill>
            <a:srgbClr val="6B46C1"/>
          </a:solidFill>
          <a:ln/>
        </p:spPr>
        <p:txBody>
          <a:bodyPr/>
          <a:lstStyle/>
          <a:p>
            <a:endParaRPr lang="en-IN"/>
          </a:p>
        </p:txBody>
      </p:sp>
      <p:sp>
        <p:nvSpPr>
          <p:cNvPr id="10" name="Text 8"/>
          <p:cNvSpPr txBox="1"/>
          <p:nvPr/>
        </p:nvSpPr>
        <p:spPr>
          <a:xfrm>
            <a:off x="6263640" y="16002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txBox="1"/>
          <p:nvPr/>
        </p:nvSpPr>
        <p:spPr>
          <a:xfrm>
            <a:off x="6858000" y="1572768"/>
            <a:ext cx="470916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A rule in every prompt</a:t>
            </a:r>
            <a:endParaRPr lang="en-US" sz="1600" dirty="0"/>
          </a:p>
        </p:txBody>
      </p:sp>
      <p:sp>
        <p:nvSpPr>
          <p:cNvPr id="12" name="Text 10"/>
          <p:cNvSpPr txBox="1"/>
          <p:nvPr/>
        </p:nvSpPr>
        <p:spPr>
          <a:xfrm>
            <a:off x="6858000" y="1874520"/>
            <a:ext cx="470916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Defined once as a constant and included in all three system messages.</a:t>
            </a:r>
            <a:endParaRPr lang="en-US" sz="1300" dirty="0"/>
          </a:p>
        </p:txBody>
      </p:sp>
      <p:sp>
        <p:nvSpPr>
          <p:cNvPr id="13" name="Shape 11"/>
          <p:cNvSpPr/>
          <p:nvPr/>
        </p:nvSpPr>
        <p:spPr>
          <a:xfrm>
            <a:off x="6263640" y="2770632"/>
            <a:ext cx="420624" cy="420624"/>
          </a:xfrm>
          <a:prstGeom prst="ellipse">
            <a:avLst/>
          </a:prstGeom>
          <a:solidFill>
            <a:srgbClr val="6B46C1"/>
          </a:solidFill>
          <a:ln/>
        </p:spPr>
        <p:txBody>
          <a:bodyPr/>
          <a:lstStyle/>
          <a:p>
            <a:endParaRPr lang="en-IN"/>
          </a:p>
        </p:txBody>
      </p:sp>
      <p:sp>
        <p:nvSpPr>
          <p:cNvPr id="14" name="Text 12"/>
          <p:cNvSpPr txBox="1"/>
          <p:nvPr/>
        </p:nvSpPr>
        <p:spPr>
          <a:xfrm>
            <a:off x="6263640" y="277063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6858000" y="2743200"/>
            <a:ext cx="470916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Structured output</a:t>
            </a:r>
            <a:endParaRPr lang="en-US" sz="1600" dirty="0"/>
          </a:p>
        </p:txBody>
      </p:sp>
      <p:sp>
        <p:nvSpPr>
          <p:cNvPr id="16" name="Text 14"/>
          <p:cNvSpPr txBox="1"/>
          <p:nvPr/>
        </p:nvSpPr>
        <p:spPr>
          <a:xfrm>
            <a:off x="6858000" y="3044952"/>
            <a:ext cx="470916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Fixed fields, not free prose in which an invented detail can hide.</a:t>
            </a:r>
            <a:endParaRPr lang="en-US" sz="1300" dirty="0"/>
          </a:p>
        </p:txBody>
      </p:sp>
      <p:sp>
        <p:nvSpPr>
          <p:cNvPr id="17" name="Shape 15"/>
          <p:cNvSpPr/>
          <p:nvPr/>
        </p:nvSpPr>
        <p:spPr>
          <a:xfrm>
            <a:off x="6263640" y="3941064"/>
            <a:ext cx="420624" cy="420624"/>
          </a:xfrm>
          <a:prstGeom prst="ellipse">
            <a:avLst/>
          </a:prstGeom>
          <a:solidFill>
            <a:srgbClr val="6B46C1"/>
          </a:solidFill>
          <a:ln/>
        </p:spPr>
        <p:txBody>
          <a:bodyPr/>
          <a:lstStyle/>
          <a:p>
            <a:endParaRPr lang="en-IN"/>
          </a:p>
        </p:txBody>
      </p:sp>
      <p:sp>
        <p:nvSpPr>
          <p:cNvPr id="18" name="Text 16"/>
          <p:cNvSpPr txBox="1"/>
          <p:nvPr/>
        </p:nvSpPr>
        <p:spPr>
          <a:xfrm>
            <a:off x="6263640" y="394106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6858000" y="3913632"/>
            <a:ext cx="470916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Optional fields</a:t>
            </a:r>
            <a:endParaRPr lang="en-US" sz="1600" dirty="0"/>
          </a:p>
        </p:txBody>
      </p:sp>
      <p:sp>
        <p:nvSpPr>
          <p:cNvPr id="20" name="Text 18"/>
          <p:cNvSpPr txBox="1"/>
          <p:nvPr/>
        </p:nvSpPr>
        <p:spPr>
          <a:xfrm>
            <a:off x="6858000" y="4215384"/>
            <a:ext cx="470916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None is a legitimate answer, so the model has somewhere to put absence.</a:t>
            </a:r>
            <a:endParaRPr lang="en-US" sz="1300" dirty="0"/>
          </a:p>
        </p:txBody>
      </p:sp>
      <p:sp>
        <p:nvSpPr>
          <p:cNvPr id="21" name="Shape 19"/>
          <p:cNvSpPr/>
          <p:nvPr/>
        </p:nvSpPr>
        <p:spPr>
          <a:xfrm>
            <a:off x="6263640" y="5111496"/>
            <a:ext cx="420624" cy="420624"/>
          </a:xfrm>
          <a:prstGeom prst="ellipse">
            <a:avLst/>
          </a:prstGeom>
          <a:solidFill>
            <a:srgbClr val="6B46C1"/>
          </a:solidFill>
          <a:ln/>
        </p:spPr>
        <p:txBody>
          <a:bodyPr/>
          <a:lstStyle/>
          <a:p>
            <a:endParaRPr lang="en-IN"/>
          </a:p>
        </p:txBody>
      </p:sp>
      <p:sp>
        <p:nvSpPr>
          <p:cNvPr id="22" name="Text 20"/>
          <p:cNvSpPr txBox="1"/>
          <p:nvPr/>
        </p:nvSpPr>
        <p:spPr>
          <a:xfrm>
            <a:off x="6263640" y="511149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txBox="1"/>
          <p:nvPr/>
        </p:nvSpPr>
        <p:spPr>
          <a:xfrm>
            <a:off x="6858000" y="5084064"/>
            <a:ext cx="470916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Generation reads the extraction</a:t>
            </a:r>
            <a:endParaRPr lang="en-US" sz="1600" dirty="0"/>
          </a:p>
        </p:txBody>
      </p:sp>
      <p:sp>
        <p:nvSpPr>
          <p:cNvPr id="24" name="Text 22"/>
          <p:cNvSpPr txBox="1"/>
          <p:nvPr/>
        </p:nvSpPr>
        <p:spPr>
          <a:xfrm>
            <a:off x="6858000" y="5385816"/>
            <a:ext cx="470916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Not the raw document — so it can only use facts already validated.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BATCH PROCESSING &amp; ERROR HANDLING</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One bad document never stops the batch</a:t>
            </a:r>
            <a:endParaRPr lang="en-US" sz="3200" dirty="0"/>
          </a:p>
        </p:txBody>
      </p:sp>
      <p:pic>
        <p:nvPicPr>
          <p:cNvPr id="4" name="Image 0" descr="preencoded.png"/>
          <p:cNvPicPr>
            <a:picLocks noChangeAspect="1"/>
          </p:cNvPicPr>
          <p:nvPr/>
        </p:nvPicPr>
        <p:blipFill>
          <a:blip r:embed="rId3"/>
          <a:stretch>
            <a:fillRect/>
          </a:stretch>
        </p:blipFill>
        <p:spPr>
          <a:xfrm>
            <a:off x="640080" y="1325880"/>
            <a:ext cx="10881360" cy="3081528"/>
          </a:xfrm>
          <a:prstGeom prst="rect">
            <a:avLst/>
          </a:prstGeom>
        </p:spPr>
      </p:pic>
      <p:sp>
        <p:nvSpPr>
          <p:cNvPr id="5" name="Shape 2"/>
          <p:cNvSpPr/>
          <p:nvPr/>
        </p:nvSpPr>
        <p:spPr>
          <a:xfrm>
            <a:off x="640080" y="4709160"/>
            <a:ext cx="3502152" cy="1572768"/>
          </a:xfrm>
          <a:prstGeom prst="roundRect">
            <a:avLst>
              <a:gd name="adj" fmla="val 5233"/>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6" name="Shape 3"/>
          <p:cNvSpPr/>
          <p:nvPr/>
        </p:nvSpPr>
        <p:spPr>
          <a:xfrm>
            <a:off x="914400" y="4901184"/>
            <a:ext cx="365760" cy="365760"/>
          </a:xfrm>
          <a:prstGeom prst="ellipse">
            <a:avLst/>
          </a:prstGeom>
          <a:solidFill>
            <a:srgbClr val="C53030"/>
          </a:solidFill>
          <a:ln/>
        </p:spPr>
        <p:txBody>
          <a:bodyPr/>
          <a:lstStyle/>
          <a:p>
            <a:endParaRPr lang="en-IN"/>
          </a:p>
        </p:txBody>
      </p:sp>
      <p:sp>
        <p:nvSpPr>
          <p:cNvPr id="7" name="Text 4"/>
          <p:cNvSpPr txBox="1"/>
          <p:nvPr/>
        </p:nvSpPr>
        <p:spPr>
          <a:xfrm>
            <a:off x="914400" y="490118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1389888" y="4901184"/>
            <a:ext cx="2560320" cy="365760"/>
          </a:xfrm>
          <a:prstGeom prst="rect">
            <a:avLst/>
          </a:prstGeom>
          <a:noFill/>
          <a:ln/>
        </p:spPr>
        <p:txBody>
          <a:bodyPr wrap="square" lIns="0" tIns="0" rIns="0" bIns="0" rtlCol="0" anchor="ctr"/>
          <a:lstStyle/>
          <a:p>
            <a:pPr marL="0" indent="0">
              <a:buNone/>
            </a:pPr>
            <a:r>
              <a:rPr lang="en-US" sz="1500" b="1" dirty="0">
                <a:solidFill>
                  <a:srgbClr val="2A1B4D"/>
                </a:solidFill>
                <a:latin typeface="Calibri" pitchFamily="34" charset="0"/>
                <a:ea typeface="Calibri" pitchFamily="34" charset="-122"/>
                <a:cs typeface="Calibri" pitchFamily="34" charset="-120"/>
              </a:rPr>
              <a:t>The API call</a:t>
            </a:r>
            <a:endParaRPr lang="en-US" sz="1500" dirty="0"/>
          </a:p>
        </p:txBody>
      </p:sp>
      <p:sp>
        <p:nvSpPr>
          <p:cNvPr id="9" name="Text 6"/>
          <p:cNvSpPr txBox="1"/>
          <p:nvPr/>
        </p:nvSpPr>
        <p:spPr>
          <a:xfrm>
            <a:off x="914400" y="5358384"/>
            <a:ext cx="2971800" cy="777240"/>
          </a:xfrm>
          <a:prstGeom prst="rect">
            <a:avLst/>
          </a:prstGeom>
          <a:noFill/>
          <a:ln/>
        </p:spPr>
        <p:txBody>
          <a:bodyPr wrap="square" lIns="0" tIns="0" rIns="0" bIns="0" rtlCol="0" anchor="t"/>
          <a:lstStyle/>
          <a:p>
            <a:pPr marL="0" indent="0">
              <a:lnSpc>
                <a:spcPts val="1500"/>
              </a:lnSpc>
              <a:buNone/>
            </a:pPr>
            <a:r>
              <a:rPr lang="en-US" sz="1150" dirty="0">
                <a:solidFill>
                  <a:srgbClr val="5B5670"/>
                </a:solidFill>
                <a:latin typeface="Calibri" pitchFamily="34" charset="0"/>
                <a:ea typeface="Calibri" pitchFamily="34" charset="-122"/>
                <a:cs typeface="Calibri" pitchFamily="34" charset="-120"/>
              </a:rPr>
              <a:t>call_with_retry() makes up to three attempts, waiting 2 seconds and then 4. Recovers from dropped connections and rate limits.</a:t>
            </a:r>
            <a:endParaRPr lang="en-US" sz="1150" dirty="0"/>
          </a:p>
        </p:txBody>
      </p:sp>
      <p:sp>
        <p:nvSpPr>
          <p:cNvPr id="10" name="Shape 7"/>
          <p:cNvSpPr/>
          <p:nvPr/>
        </p:nvSpPr>
        <p:spPr>
          <a:xfrm>
            <a:off x="4416552" y="4709160"/>
            <a:ext cx="3502152" cy="1572768"/>
          </a:xfrm>
          <a:prstGeom prst="roundRect">
            <a:avLst>
              <a:gd name="adj" fmla="val 5233"/>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1" name="Shape 8"/>
          <p:cNvSpPr/>
          <p:nvPr/>
        </p:nvSpPr>
        <p:spPr>
          <a:xfrm>
            <a:off x="4690872" y="4901184"/>
            <a:ext cx="365760" cy="365760"/>
          </a:xfrm>
          <a:prstGeom prst="ellipse">
            <a:avLst/>
          </a:prstGeom>
          <a:solidFill>
            <a:srgbClr val="C53030"/>
          </a:solidFill>
          <a:ln/>
        </p:spPr>
        <p:txBody>
          <a:bodyPr/>
          <a:lstStyle/>
          <a:p>
            <a:endParaRPr lang="en-IN"/>
          </a:p>
        </p:txBody>
      </p:sp>
      <p:sp>
        <p:nvSpPr>
          <p:cNvPr id="12" name="Text 9"/>
          <p:cNvSpPr txBox="1"/>
          <p:nvPr/>
        </p:nvSpPr>
        <p:spPr>
          <a:xfrm>
            <a:off x="4690872" y="490118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5166360" y="4901184"/>
            <a:ext cx="2560320" cy="365760"/>
          </a:xfrm>
          <a:prstGeom prst="rect">
            <a:avLst/>
          </a:prstGeom>
          <a:noFill/>
          <a:ln/>
        </p:spPr>
        <p:txBody>
          <a:bodyPr wrap="square" lIns="0" tIns="0" rIns="0" bIns="0" rtlCol="0" anchor="ctr"/>
          <a:lstStyle/>
          <a:p>
            <a:pPr marL="0" indent="0">
              <a:buNone/>
            </a:pPr>
            <a:r>
              <a:rPr lang="en-US" sz="1500" b="1" dirty="0">
                <a:solidFill>
                  <a:srgbClr val="2A1B4D"/>
                </a:solidFill>
                <a:latin typeface="Calibri" pitchFamily="34" charset="0"/>
                <a:ea typeface="Calibri" pitchFamily="34" charset="-122"/>
                <a:cs typeface="Calibri" pitchFamily="34" charset="-120"/>
              </a:rPr>
              <a:t>The file</a:t>
            </a:r>
            <a:endParaRPr lang="en-US" sz="1500" dirty="0"/>
          </a:p>
        </p:txBody>
      </p:sp>
      <p:sp>
        <p:nvSpPr>
          <p:cNvPr id="14" name="Text 11"/>
          <p:cNvSpPr txBox="1"/>
          <p:nvPr/>
        </p:nvSpPr>
        <p:spPr>
          <a:xfrm>
            <a:off x="4690872" y="5358384"/>
            <a:ext cx="2971800" cy="777240"/>
          </a:xfrm>
          <a:prstGeom prst="rect">
            <a:avLst/>
          </a:prstGeom>
          <a:noFill/>
          <a:ln/>
        </p:spPr>
        <p:txBody>
          <a:bodyPr wrap="square" lIns="0" tIns="0" rIns="0" bIns="0" rtlCol="0" anchor="t"/>
          <a:lstStyle/>
          <a:p>
            <a:pPr marL="0" indent="0">
              <a:lnSpc>
                <a:spcPts val="1500"/>
              </a:lnSpc>
              <a:buNone/>
            </a:pPr>
            <a:r>
              <a:rPr lang="en-US" sz="1150" dirty="0">
                <a:solidFill>
                  <a:srgbClr val="5B5670"/>
                </a:solidFill>
                <a:latin typeface="Calibri" pitchFamily="34" charset="0"/>
                <a:ea typeface="Calibri" pitchFamily="34" charset="-122"/>
                <a:cs typeface="Calibri" pitchFamily="34" charset="-120"/>
              </a:rPr>
              <a:t>A corrupt PDF, a scanned image with no text layer, or an almost-empty file is rejected with a message the user can act on.</a:t>
            </a:r>
            <a:endParaRPr lang="en-US" sz="1150" dirty="0"/>
          </a:p>
        </p:txBody>
      </p:sp>
      <p:sp>
        <p:nvSpPr>
          <p:cNvPr id="15" name="Shape 12"/>
          <p:cNvSpPr/>
          <p:nvPr/>
        </p:nvSpPr>
        <p:spPr>
          <a:xfrm>
            <a:off x="8193024" y="4709160"/>
            <a:ext cx="3502152" cy="1572768"/>
          </a:xfrm>
          <a:prstGeom prst="roundRect">
            <a:avLst>
              <a:gd name="adj" fmla="val 5233"/>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6" name="Shape 13"/>
          <p:cNvSpPr/>
          <p:nvPr/>
        </p:nvSpPr>
        <p:spPr>
          <a:xfrm>
            <a:off x="8467344" y="4901184"/>
            <a:ext cx="365760" cy="365760"/>
          </a:xfrm>
          <a:prstGeom prst="ellipse">
            <a:avLst/>
          </a:prstGeom>
          <a:solidFill>
            <a:srgbClr val="C53030"/>
          </a:solidFill>
          <a:ln/>
        </p:spPr>
        <p:txBody>
          <a:bodyPr/>
          <a:lstStyle/>
          <a:p>
            <a:endParaRPr lang="en-IN"/>
          </a:p>
        </p:txBody>
      </p:sp>
      <p:sp>
        <p:nvSpPr>
          <p:cNvPr id="17" name="Text 14"/>
          <p:cNvSpPr txBox="1"/>
          <p:nvPr/>
        </p:nvSpPr>
        <p:spPr>
          <a:xfrm>
            <a:off x="8467344" y="490118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5"/>
          <p:cNvSpPr txBox="1"/>
          <p:nvPr/>
        </p:nvSpPr>
        <p:spPr>
          <a:xfrm>
            <a:off x="8942832" y="4901184"/>
            <a:ext cx="2560320" cy="365760"/>
          </a:xfrm>
          <a:prstGeom prst="rect">
            <a:avLst/>
          </a:prstGeom>
          <a:noFill/>
          <a:ln/>
        </p:spPr>
        <p:txBody>
          <a:bodyPr wrap="square" lIns="0" tIns="0" rIns="0" bIns="0" rtlCol="0" anchor="ctr"/>
          <a:lstStyle/>
          <a:p>
            <a:pPr marL="0" indent="0">
              <a:buNone/>
            </a:pPr>
            <a:r>
              <a:rPr lang="en-US" sz="1500" b="1" dirty="0">
                <a:solidFill>
                  <a:srgbClr val="2A1B4D"/>
                </a:solidFill>
                <a:latin typeface="Calibri" pitchFamily="34" charset="0"/>
                <a:ea typeface="Calibri" pitchFamily="34" charset="-122"/>
                <a:cs typeface="Calibri" pitchFamily="34" charset="-120"/>
              </a:rPr>
              <a:t>The document</a:t>
            </a:r>
            <a:endParaRPr lang="en-US" sz="1500" dirty="0"/>
          </a:p>
        </p:txBody>
      </p:sp>
      <p:sp>
        <p:nvSpPr>
          <p:cNvPr id="19" name="Text 16"/>
          <p:cNvSpPr txBox="1"/>
          <p:nvPr/>
        </p:nvSpPr>
        <p:spPr>
          <a:xfrm>
            <a:off x="8467344" y="5358384"/>
            <a:ext cx="2971800" cy="777240"/>
          </a:xfrm>
          <a:prstGeom prst="rect">
            <a:avLst/>
          </a:prstGeom>
          <a:noFill/>
          <a:ln/>
        </p:spPr>
        <p:txBody>
          <a:bodyPr wrap="square" lIns="0" tIns="0" rIns="0" bIns="0" rtlCol="0" anchor="t"/>
          <a:lstStyle/>
          <a:p>
            <a:pPr marL="0" indent="0">
              <a:lnSpc>
                <a:spcPts val="1500"/>
              </a:lnSpc>
              <a:buNone/>
            </a:pPr>
            <a:r>
              <a:rPr lang="en-US" sz="1150" dirty="0">
                <a:solidFill>
                  <a:srgbClr val="5B5670"/>
                </a:solidFill>
                <a:latin typeface="Calibri" pitchFamily="34" charset="0"/>
                <a:ea typeface="Calibri" pitchFamily="34" charset="-122"/>
                <a:cs typeface="Calibri" pitchFamily="34" charset="-120"/>
              </a:rPr>
              <a:t>A try/except per document. The failure is logged, the batch continues, and the document still gets a CSV row marked ‘failed’.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STACK</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Technology choices and why</a:t>
            </a:r>
            <a:endParaRPr lang="en-US" sz="3200" dirty="0"/>
          </a:p>
        </p:txBody>
      </p:sp>
      <p:sp>
        <p:nvSpPr>
          <p:cNvPr id="4" name="Shape 2"/>
          <p:cNvSpPr/>
          <p:nvPr/>
        </p:nvSpPr>
        <p:spPr>
          <a:xfrm>
            <a:off x="640080" y="1481328"/>
            <a:ext cx="10881360" cy="640080"/>
          </a:xfrm>
          <a:prstGeom prst="roundRect">
            <a:avLst>
              <a:gd name="adj" fmla="val 1285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5" name="Text 3"/>
          <p:cNvSpPr txBox="1"/>
          <p:nvPr/>
        </p:nvSpPr>
        <p:spPr>
          <a:xfrm>
            <a:off x="914400" y="1655064"/>
            <a:ext cx="3108960" cy="347472"/>
          </a:xfrm>
          <a:prstGeom prst="rect">
            <a:avLst/>
          </a:prstGeom>
          <a:noFill/>
          <a:ln/>
        </p:spPr>
        <p:txBody>
          <a:bodyPr wrap="square" lIns="0" tIns="0" rIns="0" bIns="0" rtlCol="0" anchor="ctr"/>
          <a:lstStyle/>
          <a:p>
            <a:pPr marL="0" indent="0">
              <a:buNone/>
            </a:pPr>
            <a:r>
              <a:rPr lang="en-US" sz="1450" b="1" dirty="0">
                <a:solidFill>
                  <a:srgbClr val="6B46C1"/>
                </a:solidFill>
                <a:latin typeface="Calibri" pitchFamily="34" charset="0"/>
                <a:ea typeface="Calibri" pitchFamily="34" charset="-122"/>
                <a:cs typeface="Calibri" pitchFamily="34" charset="-120"/>
              </a:rPr>
              <a:t>OpenAI gpt-4o-mini</a:t>
            </a:r>
            <a:endParaRPr lang="en-US" sz="1450" dirty="0"/>
          </a:p>
        </p:txBody>
      </p:sp>
      <p:sp>
        <p:nvSpPr>
          <p:cNvPr id="6" name="Text 4"/>
          <p:cNvSpPr txBox="1"/>
          <p:nvPr/>
        </p:nvSpPr>
        <p:spPr>
          <a:xfrm>
            <a:off x="4114800" y="1655064"/>
            <a:ext cx="7132320" cy="347472"/>
          </a:xfrm>
          <a:prstGeom prst="rect">
            <a:avLst/>
          </a:prstGeom>
          <a:noFill/>
          <a:ln/>
        </p:spPr>
        <p:txBody>
          <a:bodyPr wrap="square" lIns="0" tIns="0" rIns="0" bIns="0" rtlCol="0" anchor="ctr"/>
          <a:lstStyle/>
          <a:p>
            <a:pPr marL="0" indent="0">
              <a:buNone/>
            </a:pPr>
            <a:r>
              <a:rPr lang="en-US" sz="1300" dirty="0">
                <a:solidFill>
                  <a:srgbClr val="241F31"/>
                </a:solidFill>
                <a:latin typeface="Calibri" pitchFamily="34" charset="0"/>
                <a:ea typeface="Calibri" pitchFamily="34" charset="-122"/>
                <a:cs typeface="Calibri" pitchFamily="34" charset="-120"/>
              </a:rPr>
              <a:t>Strong structured-output support at low cost — about $0.03 for the whole sample batch.</a:t>
            </a:r>
            <a:endParaRPr lang="en-US" sz="1300" dirty="0"/>
          </a:p>
        </p:txBody>
      </p:sp>
      <p:sp>
        <p:nvSpPr>
          <p:cNvPr id="7" name="Shape 5"/>
          <p:cNvSpPr/>
          <p:nvPr/>
        </p:nvSpPr>
        <p:spPr>
          <a:xfrm>
            <a:off x="640080" y="2304288"/>
            <a:ext cx="10881360" cy="640080"/>
          </a:xfrm>
          <a:prstGeom prst="roundRect">
            <a:avLst>
              <a:gd name="adj" fmla="val 12857"/>
            </a:avLst>
          </a:prstGeom>
          <a:solidFill>
            <a:srgbClr val="FFFFFF"/>
          </a:solidFill>
          <a:ln w="12700">
            <a:solidFill>
              <a:srgbClr val="FFFFFF"/>
            </a:solidFill>
            <a:prstDash val="solid"/>
          </a:ln>
          <a:effectLst>
            <a:outerShdw blurRad="101600" dist="25400" dir="5400000" algn="bl" rotWithShape="0">
              <a:srgbClr val="B9B2CE">
                <a:alpha val="35000"/>
              </a:srgbClr>
            </a:outerShdw>
          </a:effectLst>
        </p:spPr>
        <p:txBody>
          <a:bodyPr/>
          <a:lstStyle/>
          <a:p>
            <a:endParaRPr lang="en-IN"/>
          </a:p>
        </p:txBody>
      </p:sp>
      <p:sp>
        <p:nvSpPr>
          <p:cNvPr id="8" name="Text 6"/>
          <p:cNvSpPr txBox="1"/>
          <p:nvPr/>
        </p:nvSpPr>
        <p:spPr>
          <a:xfrm>
            <a:off x="914400" y="2478024"/>
            <a:ext cx="3108960" cy="347472"/>
          </a:xfrm>
          <a:prstGeom prst="rect">
            <a:avLst/>
          </a:prstGeom>
          <a:noFill/>
          <a:ln/>
        </p:spPr>
        <p:txBody>
          <a:bodyPr wrap="square" lIns="0" tIns="0" rIns="0" bIns="0" rtlCol="0" anchor="ctr"/>
          <a:lstStyle/>
          <a:p>
            <a:pPr marL="0" indent="0">
              <a:buNone/>
            </a:pPr>
            <a:r>
              <a:rPr lang="en-US" sz="1450" b="1" dirty="0">
                <a:solidFill>
                  <a:srgbClr val="6B46C1"/>
                </a:solidFill>
                <a:latin typeface="Calibri" pitchFamily="34" charset="0"/>
                <a:ea typeface="Calibri" pitchFamily="34" charset="-122"/>
                <a:cs typeface="Calibri" pitchFamily="34" charset="-120"/>
              </a:rPr>
              <a:t>LangChain</a:t>
            </a:r>
            <a:endParaRPr lang="en-US" sz="1450" dirty="0"/>
          </a:p>
        </p:txBody>
      </p:sp>
      <p:sp>
        <p:nvSpPr>
          <p:cNvPr id="9" name="Text 7"/>
          <p:cNvSpPr txBox="1"/>
          <p:nvPr/>
        </p:nvSpPr>
        <p:spPr>
          <a:xfrm>
            <a:off x="4114800" y="2478024"/>
            <a:ext cx="7132320" cy="347472"/>
          </a:xfrm>
          <a:prstGeom prst="rect">
            <a:avLst/>
          </a:prstGeom>
          <a:noFill/>
          <a:ln/>
        </p:spPr>
        <p:txBody>
          <a:bodyPr wrap="square" lIns="0" tIns="0" rIns="0" bIns="0" rtlCol="0" anchor="ctr"/>
          <a:lstStyle/>
          <a:p>
            <a:pPr marL="0" indent="0">
              <a:buNone/>
            </a:pPr>
            <a:r>
              <a:rPr lang="en-US" sz="1300" dirty="0">
                <a:solidFill>
                  <a:srgbClr val="241F31"/>
                </a:solidFill>
                <a:latin typeface="Calibri" pitchFamily="34" charset="0"/>
                <a:ea typeface="Calibri" pitchFamily="34" charset="-122"/>
                <a:cs typeface="Calibri" pitchFamily="34" charset="-120"/>
              </a:rPr>
              <a:t>Prompt templates and with_structured_output, which binds a Pydantic schema to the model.</a:t>
            </a:r>
            <a:endParaRPr lang="en-US" sz="1300" dirty="0"/>
          </a:p>
        </p:txBody>
      </p:sp>
      <p:sp>
        <p:nvSpPr>
          <p:cNvPr id="10" name="Shape 8"/>
          <p:cNvSpPr/>
          <p:nvPr/>
        </p:nvSpPr>
        <p:spPr>
          <a:xfrm>
            <a:off x="640080" y="3127248"/>
            <a:ext cx="10881360" cy="640080"/>
          </a:xfrm>
          <a:prstGeom prst="roundRect">
            <a:avLst>
              <a:gd name="adj" fmla="val 1285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1" name="Text 9"/>
          <p:cNvSpPr txBox="1"/>
          <p:nvPr/>
        </p:nvSpPr>
        <p:spPr>
          <a:xfrm>
            <a:off x="914400" y="3300984"/>
            <a:ext cx="3108960" cy="347472"/>
          </a:xfrm>
          <a:prstGeom prst="rect">
            <a:avLst/>
          </a:prstGeom>
          <a:noFill/>
          <a:ln/>
        </p:spPr>
        <p:txBody>
          <a:bodyPr wrap="square" lIns="0" tIns="0" rIns="0" bIns="0" rtlCol="0" anchor="ctr"/>
          <a:lstStyle/>
          <a:p>
            <a:pPr marL="0" indent="0">
              <a:buNone/>
            </a:pPr>
            <a:r>
              <a:rPr lang="en-US" sz="1450" b="1" dirty="0">
                <a:solidFill>
                  <a:srgbClr val="6B46C1"/>
                </a:solidFill>
                <a:latin typeface="Calibri" pitchFamily="34" charset="0"/>
                <a:ea typeface="Calibri" pitchFamily="34" charset="-122"/>
                <a:cs typeface="Calibri" pitchFamily="34" charset="-120"/>
              </a:rPr>
              <a:t>LangGraph</a:t>
            </a:r>
            <a:endParaRPr lang="en-US" sz="1450" dirty="0"/>
          </a:p>
        </p:txBody>
      </p:sp>
      <p:sp>
        <p:nvSpPr>
          <p:cNvPr id="12" name="Text 10"/>
          <p:cNvSpPr txBox="1"/>
          <p:nvPr/>
        </p:nvSpPr>
        <p:spPr>
          <a:xfrm>
            <a:off x="4114800" y="3300984"/>
            <a:ext cx="7132320" cy="347472"/>
          </a:xfrm>
          <a:prstGeom prst="rect">
            <a:avLst/>
          </a:prstGeom>
          <a:noFill/>
          <a:ln/>
        </p:spPr>
        <p:txBody>
          <a:bodyPr wrap="square" lIns="0" tIns="0" rIns="0" bIns="0" rtlCol="0" anchor="ctr"/>
          <a:lstStyle/>
          <a:p>
            <a:pPr marL="0" indent="0">
              <a:buNone/>
            </a:pPr>
            <a:r>
              <a:rPr lang="en-US" sz="1300" dirty="0">
                <a:solidFill>
                  <a:srgbClr val="241F31"/>
                </a:solidFill>
                <a:latin typeface="Calibri" pitchFamily="34" charset="0"/>
                <a:ea typeface="Calibri" pitchFamily="34" charset="-122"/>
                <a:cs typeface="Calibri" pitchFamily="34" charset="-120"/>
              </a:rPr>
              <a:t>Expresses the three tasks as a graph, giving real parallel execution of the two independent tasks.</a:t>
            </a:r>
            <a:endParaRPr lang="en-US" sz="1300" dirty="0"/>
          </a:p>
        </p:txBody>
      </p:sp>
      <p:sp>
        <p:nvSpPr>
          <p:cNvPr id="13" name="Shape 11"/>
          <p:cNvSpPr/>
          <p:nvPr/>
        </p:nvSpPr>
        <p:spPr>
          <a:xfrm>
            <a:off x="640080" y="3950208"/>
            <a:ext cx="10881360" cy="640080"/>
          </a:xfrm>
          <a:prstGeom prst="roundRect">
            <a:avLst>
              <a:gd name="adj" fmla="val 12857"/>
            </a:avLst>
          </a:prstGeom>
          <a:solidFill>
            <a:srgbClr val="FFFFFF"/>
          </a:solidFill>
          <a:ln w="12700">
            <a:solidFill>
              <a:srgbClr val="FFFFFF"/>
            </a:solidFill>
            <a:prstDash val="solid"/>
          </a:ln>
          <a:effectLst>
            <a:outerShdw blurRad="101600" dist="25400" dir="5400000" algn="bl" rotWithShape="0">
              <a:srgbClr val="B9B2CE">
                <a:alpha val="35000"/>
              </a:srgbClr>
            </a:outerShdw>
          </a:effectLst>
        </p:spPr>
        <p:txBody>
          <a:bodyPr/>
          <a:lstStyle/>
          <a:p>
            <a:endParaRPr lang="en-IN"/>
          </a:p>
        </p:txBody>
      </p:sp>
      <p:sp>
        <p:nvSpPr>
          <p:cNvPr id="14" name="Text 12"/>
          <p:cNvSpPr txBox="1"/>
          <p:nvPr/>
        </p:nvSpPr>
        <p:spPr>
          <a:xfrm>
            <a:off x="914400" y="4123944"/>
            <a:ext cx="3108960" cy="347472"/>
          </a:xfrm>
          <a:prstGeom prst="rect">
            <a:avLst/>
          </a:prstGeom>
          <a:noFill/>
          <a:ln/>
        </p:spPr>
        <p:txBody>
          <a:bodyPr wrap="square" lIns="0" tIns="0" rIns="0" bIns="0" rtlCol="0" anchor="ctr"/>
          <a:lstStyle/>
          <a:p>
            <a:pPr marL="0" indent="0">
              <a:buNone/>
            </a:pPr>
            <a:r>
              <a:rPr lang="en-US" sz="1450" b="1" dirty="0">
                <a:solidFill>
                  <a:srgbClr val="6B46C1"/>
                </a:solidFill>
                <a:latin typeface="Calibri" pitchFamily="34" charset="0"/>
                <a:ea typeface="Calibri" pitchFamily="34" charset="-122"/>
                <a:cs typeface="Calibri" pitchFamily="34" charset="-120"/>
              </a:rPr>
              <a:t>Pydantic v2</a:t>
            </a:r>
            <a:endParaRPr lang="en-US" sz="1450" dirty="0"/>
          </a:p>
        </p:txBody>
      </p:sp>
      <p:sp>
        <p:nvSpPr>
          <p:cNvPr id="15" name="Text 13"/>
          <p:cNvSpPr txBox="1"/>
          <p:nvPr/>
        </p:nvSpPr>
        <p:spPr>
          <a:xfrm>
            <a:off x="4114800" y="4123944"/>
            <a:ext cx="7132320" cy="347472"/>
          </a:xfrm>
          <a:prstGeom prst="rect">
            <a:avLst/>
          </a:prstGeom>
          <a:noFill/>
          <a:ln/>
        </p:spPr>
        <p:txBody>
          <a:bodyPr wrap="square" lIns="0" tIns="0" rIns="0" bIns="0" rtlCol="0" anchor="ctr"/>
          <a:lstStyle/>
          <a:p>
            <a:pPr marL="0" indent="0">
              <a:buNone/>
            </a:pPr>
            <a:r>
              <a:rPr lang="en-US" sz="1300" dirty="0">
                <a:solidFill>
                  <a:srgbClr val="241F31"/>
                </a:solidFill>
                <a:latin typeface="Calibri" pitchFamily="34" charset="0"/>
                <a:ea typeface="Calibri" pitchFamily="34" charset="-122"/>
                <a:cs typeface="Calibri" pitchFamily="34" charset="-120"/>
              </a:rPr>
              <a:t>Defines the required output shape and validates the reply before the application uses it.</a:t>
            </a:r>
            <a:endParaRPr lang="en-US" sz="1300" dirty="0"/>
          </a:p>
        </p:txBody>
      </p:sp>
      <p:sp>
        <p:nvSpPr>
          <p:cNvPr id="16" name="Shape 14"/>
          <p:cNvSpPr/>
          <p:nvPr/>
        </p:nvSpPr>
        <p:spPr>
          <a:xfrm>
            <a:off x="640080" y="4773168"/>
            <a:ext cx="10881360" cy="640080"/>
          </a:xfrm>
          <a:prstGeom prst="roundRect">
            <a:avLst>
              <a:gd name="adj" fmla="val 1285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7" name="Text 15"/>
          <p:cNvSpPr txBox="1"/>
          <p:nvPr/>
        </p:nvSpPr>
        <p:spPr>
          <a:xfrm>
            <a:off x="914400" y="4946904"/>
            <a:ext cx="3108960" cy="347472"/>
          </a:xfrm>
          <a:prstGeom prst="rect">
            <a:avLst/>
          </a:prstGeom>
          <a:noFill/>
          <a:ln/>
        </p:spPr>
        <p:txBody>
          <a:bodyPr wrap="square" lIns="0" tIns="0" rIns="0" bIns="0" rtlCol="0" anchor="ctr"/>
          <a:lstStyle/>
          <a:p>
            <a:pPr marL="0" indent="0">
              <a:buNone/>
            </a:pPr>
            <a:r>
              <a:rPr lang="en-US" sz="1450" b="1" dirty="0">
                <a:solidFill>
                  <a:srgbClr val="6B46C1"/>
                </a:solidFill>
                <a:latin typeface="Calibri" pitchFamily="34" charset="0"/>
                <a:ea typeface="Calibri" pitchFamily="34" charset="-122"/>
                <a:cs typeface="Calibri" pitchFamily="34" charset="-120"/>
              </a:rPr>
              <a:t>pypdf · python-docx</a:t>
            </a:r>
            <a:endParaRPr lang="en-US" sz="1450" dirty="0"/>
          </a:p>
        </p:txBody>
      </p:sp>
      <p:sp>
        <p:nvSpPr>
          <p:cNvPr id="18" name="Text 16"/>
          <p:cNvSpPr txBox="1"/>
          <p:nvPr/>
        </p:nvSpPr>
        <p:spPr>
          <a:xfrm>
            <a:off x="4114800" y="4946904"/>
            <a:ext cx="7132320" cy="347472"/>
          </a:xfrm>
          <a:prstGeom prst="rect">
            <a:avLst/>
          </a:prstGeom>
          <a:noFill/>
          <a:ln/>
        </p:spPr>
        <p:txBody>
          <a:bodyPr wrap="square" lIns="0" tIns="0" rIns="0" bIns="0" rtlCol="0" anchor="ctr"/>
          <a:lstStyle/>
          <a:p>
            <a:pPr marL="0" indent="0">
              <a:buNone/>
            </a:pPr>
            <a:r>
              <a:rPr lang="en-US" sz="1300" dirty="0">
                <a:solidFill>
                  <a:srgbClr val="241F31"/>
                </a:solidFill>
                <a:latin typeface="Calibri" pitchFamily="34" charset="0"/>
                <a:ea typeface="Calibri" pitchFamily="34" charset="-122"/>
                <a:cs typeface="Calibri" pitchFamily="34" charset="-120"/>
              </a:rPr>
              <a:t>Mature pure-Python readers, one per format, behind a single read_document() function.</a:t>
            </a:r>
            <a:endParaRPr lang="en-US" sz="1300" dirty="0"/>
          </a:p>
        </p:txBody>
      </p:sp>
      <p:sp>
        <p:nvSpPr>
          <p:cNvPr id="19" name="Shape 17"/>
          <p:cNvSpPr/>
          <p:nvPr/>
        </p:nvSpPr>
        <p:spPr>
          <a:xfrm>
            <a:off x="640080" y="5596128"/>
            <a:ext cx="10881360" cy="640080"/>
          </a:xfrm>
          <a:prstGeom prst="roundRect">
            <a:avLst>
              <a:gd name="adj" fmla="val 12857"/>
            </a:avLst>
          </a:prstGeom>
          <a:solidFill>
            <a:srgbClr val="FFFFFF"/>
          </a:solidFill>
          <a:ln w="12700">
            <a:solidFill>
              <a:srgbClr val="FFFFFF"/>
            </a:solidFill>
            <a:prstDash val="solid"/>
          </a:ln>
          <a:effectLst>
            <a:outerShdw blurRad="101600" dist="25400" dir="5400000" algn="bl" rotWithShape="0">
              <a:srgbClr val="B9B2CE">
                <a:alpha val="35000"/>
              </a:srgbClr>
            </a:outerShdw>
          </a:effectLst>
        </p:spPr>
        <p:txBody>
          <a:bodyPr/>
          <a:lstStyle/>
          <a:p>
            <a:endParaRPr lang="en-IN"/>
          </a:p>
        </p:txBody>
      </p:sp>
      <p:sp>
        <p:nvSpPr>
          <p:cNvPr id="20" name="Text 18"/>
          <p:cNvSpPr txBox="1"/>
          <p:nvPr/>
        </p:nvSpPr>
        <p:spPr>
          <a:xfrm>
            <a:off x="914400" y="5769864"/>
            <a:ext cx="3108960" cy="347472"/>
          </a:xfrm>
          <a:prstGeom prst="rect">
            <a:avLst/>
          </a:prstGeom>
          <a:noFill/>
          <a:ln/>
        </p:spPr>
        <p:txBody>
          <a:bodyPr wrap="square" lIns="0" tIns="0" rIns="0" bIns="0" rtlCol="0" anchor="ctr"/>
          <a:lstStyle/>
          <a:p>
            <a:pPr marL="0" indent="0">
              <a:buNone/>
            </a:pPr>
            <a:r>
              <a:rPr lang="en-US" sz="1450" b="1" dirty="0">
                <a:solidFill>
                  <a:srgbClr val="6B46C1"/>
                </a:solidFill>
                <a:latin typeface="Calibri" pitchFamily="34" charset="0"/>
                <a:ea typeface="Calibri" pitchFamily="34" charset="-122"/>
                <a:cs typeface="Calibri" pitchFamily="34" charset="-120"/>
              </a:rPr>
              <a:t>pytest · GitHub Actions</a:t>
            </a:r>
            <a:endParaRPr lang="en-US" sz="1450" dirty="0"/>
          </a:p>
        </p:txBody>
      </p:sp>
      <p:sp>
        <p:nvSpPr>
          <p:cNvPr id="21" name="Text 19"/>
          <p:cNvSpPr txBox="1"/>
          <p:nvPr/>
        </p:nvSpPr>
        <p:spPr>
          <a:xfrm>
            <a:off x="4114800" y="5769864"/>
            <a:ext cx="7132320" cy="347472"/>
          </a:xfrm>
          <a:prstGeom prst="rect">
            <a:avLst/>
          </a:prstGeom>
          <a:noFill/>
          <a:ln/>
        </p:spPr>
        <p:txBody>
          <a:bodyPr wrap="square" lIns="0" tIns="0" rIns="0" bIns="0" rtlCol="0" anchor="ctr"/>
          <a:lstStyle/>
          <a:p>
            <a:pPr marL="0" indent="0">
              <a:buNone/>
            </a:pPr>
            <a:r>
              <a:rPr lang="en-US" sz="1300" dirty="0">
                <a:solidFill>
                  <a:srgbClr val="241F31"/>
                </a:solidFill>
                <a:latin typeface="Calibri" pitchFamily="34" charset="0"/>
                <a:ea typeface="Calibri" pitchFamily="34" charset="-122"/>
                <a:cs typeface="Calibri" pitchFamily="34" charset="-120"/>
              </a:rPr>
              <a:t>15 tests that need no API key, run automatically on every push.</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Six documents, three formats, one run</a:t>
            </a:r>
            <a:endParaRPr lang="en-US" sz="3200" dirty="0"/>
          </a:p>
        </p:txBody>
      </p:sp>
      <p:sp>
        <p:nvSpPr>
          <p:cNvPr id="4" name="Shape 2"/>
          <p:cNvSpPr/>
          <p:nvPr/>
        </p:nvSpPr>
        <p:spPr>
          <a:xfrm>
            <a:off x="640080" y="1463040"/>
            <a:ext cx="2560320" cy="1737360"/>
          </a:xfrm>
          <a:prstGeom prst="roundRect">
            <a:avLst>
              <a:gd name="adj" fmla="val 473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5" name="Text 3"/>
          <p:cNvSpPr txBox="1"/>
          <p:nvPr/>
        </p:nvSpPr>
        <p:spPr>
          <a:xfrm>
            <a:off x="640080" y="1664208"/>
            <a:ext cx="2560320" cy="777240"/>
          </a:xfrm>
          <a:prstGeom prst="rect">
            <a:avLst/>
          </a:prstGeom>
          <a:noFill/>
          <a:ln/>
        </p:spPr>
        <p:txBody>
          <a:bodyPr wrap="square" lIns="0" tIns="0" rIns="0" bIns="0" rtlCol="0" anchor="ctr"/>
          <a:lstStyle/>
          <a:p>
            <a:pPr marL="0" indent="0" algn="ctr">
              <a:buNone/>
            </a:pPr>
            <a:r>
              <a:rPr lang="en-US" sz="4000" b="1" dirty="0">
                <a:solidFill>
                  <a:srgbClr val="6B46C1"/>
                </a:solidFill>
                <a:latin typeface="Cambria" pitchFamily="34" charset="0"/>
                <a:ea typeface="Cambria" pitchFamily="34" charset="-122"/>
                <a:cs typeface="Cambria" pitchFamily="34" charset="-120"/>
              </a:rPr>
              <a:t>6</a:t>
            </a:r>
            <a:endParaRPr lang="en-US" sz="4000" dirty="0"/>
          </a:p>
        </p:txBody>
      </p:sp>
      <p:sp>
        <p:nvSpPr>
          <p:cNvPr id="6" name="Text 4"/>
          <p:cNvSpPr txBox="1"/>
          <p:nvPr/>
        </p:nvSpPr>
        <p:spPr>
          <a:xfrm>
            <a:off x="640080" y="2414016"/>
            <a:ext cx="2560320" cy="457200"/>
          </a:xfrm>
          <a:prstGeom prst="rect">
            <a:avLst/>
          </a:prstGeom>
          <a:noFill/>
          <a:ln/>
        </p:spPr>
        <p:txBody>
          <a:bodyPr wrap="square" lIns="0" tIns="0" rIns="0" bIns="0" rtlCol="0" anchor="ctr"/>
          <a:lstStyle/>
          <a:p>
            <a:pPr marL="0" indent="0" algn="ctr">
              <a:lnSpc>
                <a:spcPts val="1500"/>
              </a:lnSpc>
              <a:buNone/>
            </a:pPr>
            <a:r>
              <a:rPr lang="en-US" sz="1200" dirty="0">
                <a:solidFill>
                  <a:srgbClr val="5B5670"/>
                </a:solidFill>
                <a:latin typeface="Calibri" pitchFamily="34" charset="0"/>
                <a:ea typeface="Calibri" pitchFamily="34" charset="-122"/>
                <a:cs typeface="Calibri" pitchFamily="34" charset="-120"/>
              </a:rPr>
              <a:t>documents processed</a:t>
            </a:r>
            <a:endParaRPr lang="en-US" sz="1200" dirty="0"/>
          </a:p>
          <a:p>
            <a:pPr marL="0" indent="0" algn="ctr">
              <a:lnSpc>
                <a:spcPts val="1500"/>
              </a:lnSpc>
              <a:buNone/>
            </a:pPr>
            <a:r>
              <a:rPr lang="en-US" sz="1200" dirty="0">
                <a:solidFill>
                  <a:srgbClr val="5B5670"/>
                </a:solidFill>
                <a:latin typeface="Calibri" pitchFamily="34" charset="0"/>
                <a:ea typeface="Calibri" pitchFamily="34" charset="-122"/>
                <a:cs typeface="Calibri" pitchFamily="34" charset="-120"/>
              </a:rPr>
              <a:t>from 3 file formats</a:t>
            </a:r>
            <a:endParaRPr lang="en-US" sz="1200" dirty="0"/>
          </a:p>
        </p:txBody>
      </p:sp>
      <p:sp>
        <p:nvSpPr>
          <p:cNvPr id="7" name="Shape 5"/>
          <p:cNvSpPr/>
          <p:nvPr/>
        </p:nvSpPr>
        <p:spPr>
          <a:xfrm>
            <a:off x="3429000" y="1463040"/>
            <a:ext cx="2560320" cy="1737360"/>
          </a:xfrm>
          <a:prstGeom prst="roundRect">
            <a:avLst>
              <a:gd name="adj" fmla="val 473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8" name="Text 6"/>
          <p:cNvSpPr txBox="1"/>
          <p:nvPr/>
        </p:nvSpPr>
        <p:spPr>
          <a:xfrm>
            <a:off x="3429000" y="1664208"/>
            <a:ext cx="2560320" cy="777240"/>
          </a:xfrm>
          <a:prstGeom prst="rect">
            <a:avLst/>
          </a:prstGeom>
          <a:noFill/>
          <a:ln/>
        </p:spPr>
        <p:txBody>
          <a:bodyPr wrap="square" lIns="0" tIns="0" rIns="0" bIns="0" rtlCol="0" anchor="ctr"/>
          <a:lstStyle/>
          <a:p>
            <a:pPr marL="0" indent="0" algn="ctr">
              <a:buNone/>
            </a:pPr>
            <a:r>
              <a:rPr lang="en-US" sz="4000" b="1" dirty="0">
                <a:solidFill>
                  <a:srgbClr val="6B46C1"/>
                </a:solidFill>
                <a:latin typeface="Cambria" pitchFamily="34" charset="0"/>
                <a:ea typeface="Cambria" pitchFamily="34" charset="-122"/>
                <a:cs typeface="Cambria" pitchFamily="34" charset="-120"/>
              </a:rPr>
              <a:t>18</a:t>
            </a:r>
            <a:endParaRPr lang="en-US" sz="4000" dirty="0"/>
          </a:p>
        </p:txBody>
      </p:sp>
      <p:sp>
        <p:nvSpPr>
          <p:cNvPr id="9" name="Text 7"/>
          <p:cNvSpPr txBox="1"/>
          <p:nvPr/>
        </p:nvSpPr>
        <p:spPr>
          <a:xfrm>
            <a:off x="3429000" y="2414016"/>
            <a:ext cx="2560320" cy="457200"/>
          </a:xfrm>
          <a:prstGeom prst="rect">
            <a:avLst/>
          </a:prstGeom>
          <a:noFill/>
          <a:ln/>
        </p:spPr>
        <p:txBody>
          <a:bodyPr wrap="square" lIns="0" tIns="0" rIns="0" bIns="0" rtlCol="0" anchor="ctr"/>
          <a:lstStyle/>
          <a:p>
            <a:pPr marL="0" indent="0" algn="ctr">
              <a:lnSpc>
                <a:spcPts val="1500"/>
              </a:lnSpc>
              <a:buNone/>
            </a:pPr>
            <a:r>
              <a:rPr lang="en-US" sz="1200" dirty="0">
                <a:solidFill>
                  <a:srgbClr val="5B5670"/>
                </a:solidFill>
                <a:latin typeface="Calibri" pitchFamily="34" charset="0"/>
                <a:ea typeface="Calibri" pitchFamily="34" charset="-122"/>
                <a:cs typeface="Calibri" pitchFamily="34" charset="-120"/>
              </a:rPr>
              <a:t>API calls</a:t>
            </a:r>
            <a:endParaRPr lang="en-US" sz="1200" dirty="0"/>
          </a:p>
          <a:p>
            <a:pPr marL="0" indent="0" algn="ctr">
              <a:lnSpc>
                <a:spcPts val="1500"/>
              </a:lnSpc>
              <a:buNone/>
            </a:pPr>
            <a:r>
              <a:rPr lang="en-US" sz="1200" dirty="0">
                <a:solidFill>
                  <a:srgbClr val="5B5670"/>
                </a:solidFill>
                <a:latin typeface="Calibri" pitchFamily="34" charset="0"/>
                <a:ea typeface="Calibri" pitchFamily="34" charset="-122"/>
                <a:cs typeface="Calibri" pitchFamily="34" charset="-120"/>
              </a:rPr>
              <a:t>(3 per document)</a:t>
            </a:r>
            <a:endParaRPr lang="en-US" sz="1200" dirty="0"/>
          </a:p>
        </p:txBody>
      </p:sp>
      <p:sp>
        <p:nvSpPr>
          <p:cNvPr id="10" name="Shape 8"/>
          <p:cNvSpPr/>
          <p:nvPr/>
        </p:nvSpPr>
        <p:spPr>
          <a:xfrm>
            <a:off x="6217920" y="1463040"/>
            <a:ext cx="2560320" cy="1737360"/>
          </a:xfrm>
          <a:prstGeom prst="roundRect">
            <a:avLst>
              <a:gd name="adj" fmla="val 473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1" name="Text 9"/>
          <p:cNvSpPr txBox="1"/>
          <p:nvPr/>
        </p:nvSpPr>
        <p:spPr>
          <a:xfrm>
            <a:off x="6217920" y="1664208"/>
            <a:ext cx="2560320" cy="777240"/>
          </a:xfrm>
          <a:prstGeom prst="rect">
            <a:avLst/>
          </a:prstGeom>
          <a:noFill/>
          <a:ln/>
        </p:spPr>
        <p:txBody>
          <a:bodyPr wrap="square" lIns="0" tIns="0" rIns="0" bIns="0" rtlCol="0" anchor="ctr"/>
          <a:lstStyle/>
          <a:p>
            <a:pPr marL="0" indent="0" algn="ctr">
              <a:buNone/>
            </a:pPr>
            <a:r>
              <a:rPr lang="en-US" sz="4000" b="1" dirty="0">
                <a:solidFill>
                  <a:srgbClr val="6B46C1"/>
                </a:solidFill>
                <a:latin typeface="Cambria" pitchFamily="34" charset="0"/>
                <a:ea typeface="Cambria" pitchFamily="34" charset="-122"/>
                <a:cs typeface="Cambria" pitchFamily="34" charset="-120"/>
              </a:rPr>
              <a:t>~$0.03</a:t>
            </a:r>
            <a:endParaRPr lang="en-US" sz="4000" dirty="0"/>
          </a:p>
        </p:txBody>
      </p:sp>
      <p:sp>
        <p:nvSpPr>
          <p:cNvPr id="12" name="Text 10"/>
          <p:cNvSpPr txBox="1"/>
          <p:nvPr/>
        </p:nvSpPr>
        <p:spPr>
          <a:xfrm>
            <a:off x="6217920" y="2414016"/>
            <a:ext cx="2560320" cy="457200"/>
          </a:xfrm>
          <a:prstGeom prst="rect">
            <a:avLst/>
          </a:prstGeom>
          <a:noFill/>
          <a:ln/>
        </p:spPr>
        <p:txBody>
          <a:bodyPr wrap="square" lIns="0" tIns="0" rIns="0" bIns="0" rtlCol="0" anchor="ctr"/>
          <a:lstStyle/>
          <a:p>
            <a:pPr marL="0" indent="0" algn="ctr">
              <a:lnSpc>
                <a:spcPts val="1500"/>
              </a:lnSpc>
              <a:buNone/>
            </a:pPr>
            <a:r>
              <a:rPr lang="en-US" sz="1200" dirty="0">
                <a:solidFill>
                  <a:srgbClr val="5B5670"/>
                </a:solidFill>
                <a:latin typeface="Calibri" pitchFamily="34" charset="0"/>
                <a:ea typeface="Calibri" pitchFamily="34" charset="-122"/>
                <a:cs typeface="Calibri" pitchFamily="34" charset="-120"/>
              </a:rPr>
              <a:t>cost of a complete</a:t>
            </a:r>
            <a:endParaRPr lang="en-US" sz="1200" dirty="0"/>
          </a:p>
          <a:p>
            <a:pPr marL="0" indent="0" algn="ctr">
              <a:lnSpc>
                <a:spcPts val="1500"/>
              </a:lnSpc>
              <a:buNone/>
            </a:pPr>
            <a:r>
              <a:rPr lang="en-US" sz="1200" dirty="0">
                <a:solidFill>
                  <a:srgbClr val="5B5670"/>
                </a:solidFill>
                <a:latin typeface="Calibri" pitchFamily="34" charset="0"/>
                <a:ea typeface="Calibri" pitchFamily="34" charset="-122"/>
                <a:cs typeface="Calibri" pitchFamily="34" charset="-120"/>
              </a:rPr>
              <a:t>run on gpt-4o-mini</a:t>
            </a:r>
            <a:endParaRPr lang="en-US" sz="1200" dirty="0"/>
          </a:p>
        </p:txBody>
      </p:sp>
      <p:sp>
        <p:nvSpPr>
          <p:cNvPr id="13" name="Shape 11"/>
          <p:cNvSpPr/>
          <p:nvPr/>
        </p:nvSpPr>
        <p:spPr>
          <a:xfrm>
            <a:off x="9006840" y="1463040"/>
            <a:ext cx="2560320" cy="1737360"/>
          </a:xfrm>
          <a:prstGeom prst="roundRect">
            <a:avLst>
              <a:gd name="adj" fmla="val 473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4" name="Text 12"/>
          <p:cNvSpPr txBox="1"/>
          <p:nvPr/>
        </p:nvSpPr>
        <p:spPr>
          <a:xfrm>
            <a:off x="9006840" y="1664208"/>
            <a:ext cx="2560320" cy="777240"/>
          </a:xfrm>
          <a:prstGeom prst="rect">
            <a:avLst/>
          </a:prstGeom>
          <a:noFill/>
          <a:ln/>
        </p:spPr>
        <p:txBody>
          <a:bodyPr wrap="square" lIns="0" tIns="0" rIns="0" bIns="0" rtlCol="0" anchor="ctr"/>
          <a:lstStyle/>
          <a:p>
            <a:pPr marL="0" indent="0" algn="ctr">
              <a:buNone/>
            </a:pPr>
            <a:r>
              <a:rPr lang="en-US" sz="4000" b="1" dirty="0">
                <a:solidFill>
                  <a:srgbClr val="6B46C1"/>
                </a:solidFill>
                <a:latin typeface="Cambria" pitchFamily="34" charset="0"/>
                <a:ea typeface="Cambria" pitchFamily="34" charset="-122"/>
                <a:cs typeface="Cambria" pitchFamily="34" charset="-120"/>
              </a:rPr>
              <a:t>15</a:t>
            </a:r>
            <a:endParaRPr lang="en-US" sz="4000" dirty="0"/>
          </a:p>
        </p:txBody>
      </p:sp>
      <p:sp>
        <p:nvSpPr>
          <p:cNvPr id="15" name="Text 13"/>
          <p:cNvSpPr txBox="1"/>
          <p:nvPr/>
        </p:nvSpPr>
        <p:spPr>
          <a:xfrm>
            <a:off x="9006840" y="2414016"/>
            <a:ext cx="2560320" cy="457200"/>
          </a:xfrm>
          <a:prstGeom prst="rect">
            <a:avLst/>
          </a:prstGeom>
          <a:noFill/>
          <a:ln/>
        </p:spPr>
        <p:txBody>
          <a:bodyPr wrap="square" lIns="0" tIns="0" rIns="0" bIns="0" rtlCol="0" anchor="ctr"/>
          <a:lstStyle/>
          <a:p>
            <a:pPr marL="0" indent="0" algn="ctr">
              <a:lnSpc>
                <a:spcPts val="1500"/>
              </a:lnSpc>
              <a:buNone/>
            </a:pPr>
            <a:r>
              <a:rPr lang="en-US" sz="1200" dirty="0">
                <a:solidFill>
                  <a:srgbClr val="5B5670"/>
                </a:solidFill>
                <a:latin typeface="Calibri" pitchFamily="34" charset="0"/>
                <a:ea typeface="Calibri" pitchFamily="34" charset="-122"/>
                <a:cs typeface="Calibri" pitchFamily="34" charset="-120"/>
              </a:rPr>
              <a:t>automated tests,</a:t>
            </a:r>
            <a:endParaRPr lang="en-US" sz="1200" dirty="0"/>
          </a:p>
          <a:p>
            <a:pPr marL="0" indent="0" algn="ctr">
              <a:lnSpc>
                <a:spcPts val="1500"/>
              </a:lnSpc>
              <a:buNone/>
            </a:pPr>
            <a:r>
              <a:rPr lang="en-US" sz="1200" dirty="0">
                <a:solidFill>
                  <a:srgbClr val="5B5670"/>
                </a:solidFill>
                <a:latin typeface="Calibri" pitchFamily="34" charset="0"/>
                <a:ea typeface="Calibri" pitchFamily="34" charset="-122"/>
                <a:cs typeface="Calibri" pitchFamily="34" charset="-120"/>
              </a:rPr>
              <a:t>no API key needed</a:t>
            </a:r>
            <a:endParaRPr lang="en-US" sz="1200" dirty="0"/>
          </a:p>
        </p:txBody>
      </p:sp>
      <p:sp>
        <p:nvSpPr>
          <p:cNvPr id="16" name="Text 14"/>
          <p:cNvSpPr txBox="1"/>
          <p:nvPr/>
        </p:nvSpPr>
        <p:spPr>
          <a:xfrm>
            <a:off x="640080" y="3429000"/>
            <a:ext cx="6858000" cy="2148840"/>
          </a:xfrm>
          <a:prstGeom prst="rect">
            <a:avLst/>
          </a:prstGeom>
          <a:solidFill>
            <a:srgbClr val="2A1B4D"/>
          </a:solidFill>
          <a:ln/>
        </p:spPr>
        <p:txBody>
          <a:bodyPr wrap="square" lIns="152400" tIns="152400" rIns="152400" bIns="152400" rtlCol="0" anchor="ctr"/>
          <a:lstStyle/>
          <a:p>
            <a:pPr marL="0" indent="0">
              <a:lnSpc>
                <a:spcPts val="1600"/>
              </a:lnSpc>
              <a:buNone/>
            </a:pPr>
            <a:r>
              <a:rPr lang="en-US" sz="1100" dirty="0">
                <a:solidFill>
                  <a:srgbClr val="B9B2CE"/>
                </a:solidFill>
                <a:latin typeface="Courier New" pitchFamily="34" charset="0"/>
                <a:ea typeface="Courier New" pitchFamily="34" charset="-122"/>
                <a:cs typeface="Courier New" pitchFamily="34" charset="-120"/>
              </a:rPr>
              <a:t>DOCUMENT              STATUS    CATEGORY          ESCALATE  CASE STATUS</a:t>
            </a:r>
            <a:endParaRPr lang="en-US" sz="1100" dirty="0"/>
          </a:p>
          <a:p>
            <a:pPr marL="0" indent="0">
              <a:lnSpc>
                <a:spcPts val="1600"/>
              </a:lnSpc>
              <a:buNone/>
            </a:pPr>
            <a:r>
              <a:rPr lang="en-US" sz="1100" dirty="0">
                <a:solidFill>
                  <a:srgbClr val="FFFFFF"/>
                </a:solidFill>
                <a:latin typeface="Courier New" pitchFamily="34" charset="0"/>
                <a:ea typeface="Courier New" pitchFamily="34" charset="-122"/>
                <a:cs typeface="Courier New" pitchFamily="34" charset="-120"/>
              </a:rPr>
              <a:t>complaint_001.pdf     success   Billing           No        Resolved</a:t>
            </a:r>
            <a:endParaRPr lang="en-US" sz="1100" dirty="0"/>
          </a:p>
          <a:p>
            <a:pPr marL="0" indent="0">
              <a:lnSpc>
                <a:spcPts val="1600"/>
              </a:lnSpc>
              <a:buNone/>
            </a:pPr>
            <a:r>
              <a:rPr lang="en-US" sz="1100" dirty="0">
                <a:solidFill>
                  <a:srgbClr val="FFFFFF"/>
                </a:solidFill>
                <a:latin typeface="Courier New" pitchFamily="34" charset="0"/>
                <a:ea typeface="Courier New" pitchFamily="34" charset="-122"/>
                <a:cs typeface="Courier New" pitchFamily="34" charset="-120"/>
              </a:rPr>
              <a:t>complaint_002.pdf     success   Delivery          Yes       Escalated</a:t>
            </a:r>
            <a:endParaRPr lang="en-US" sz="1100" dirty="0"/>
          </a:p>
          <a:p>
            <a:pPr marL="0" indent="0">
              <a:lnSpc>
                <a:spcPts val="1600"/>
              </a:lnSpc>
              <a:buNone/>
            </a:pPr>
            <a:r>
              <a:rPr lang="en-US" sz="1100" dirty="0">
                <a:solidFill>
                  <a:srgbClr val="FFFFFF"/>
                </a:solidFill>
                <a:latin typeface="Courier New" pitchFamily="34" charset="0"/>
                <a:ea typeface="Courier New" pitchFamily="34" charset="-122"/>
                <a:cs typeface="Courier New" pitchFamily="34" charset="-120"/>
              </a:rPr>
              <a:t>complaint_003.txt     success   Warranty          Yes       Escalated</a:t>
            </a:r>
            <a:endParaRPr lang="en-US" sz="1100" dirty="0"/>
          </a:p>
          <a:p>
            <a:pPr marL="0" indent="0">
              <a:lnSpc>
                <a:spcPts val="1600"/>
              </a:lnSpc>
              <a:buNone/>
            </a:pPr>
            <a:r>
              <a:rPr lang="en-US" sz="1100" dirty="0">
                <a:solidFill>
                  <a:srgbClr val="FFFFFF"/>
                </a:solidFill>
                <a:latin typeface="Courier New" pitchFamily="34" charset="0"/>
                <a:ea typeface="Courier New" pitchFamily="34" charset="-122"/>
                <a:cs typeface="Courier New" pitchFamily="34" charset="-120"/>
              </a:rPr>
              <a:t>complaint_004.docx    success   Account Access    Yes       Escalated</a:t>
            </a:r>
            <a:endParaRPr lang="en-US" sz="1100" dirty="0"/>
          </a:p>
          <a:p>
            <a:pPr marL="0" indent="0">
              <a:lnSpc>
                <a:spcPts val="1600"/>
              </a:lnSpc>
              <a:buNone/>
            </a:pPr>
            <a:r>
              <a:rPr lang="en-US" sz="1100" dirty="0">
                <a:solidFill>
                  <a:srgbClr val="FFFFFF"/>
                </a:solidFill>
                <a:latin typeface="Courier New" pitchFamily="34" charset="0"/>
                <a:ea typeface="Courier New" pitchFamily="34" charset="-122"/>
                <a:cs typeface="Courier New" pitchFamily="34" charset="-120"/>
              </a:rPr>
              <a:t>complaint_005.docx    success   Service Quality   No        Resolved</a:t>
            </a:r>
            <a:endParaRPr lang="en-US" sz="1100" dirty="0"/>
          </a:p>
          <a:p>
            <a:pPr marL="0" indent="0">
              <a:lnSpc>
                <a:spcPts val="1600"/>
              </a:lnSpc>
              <a:buNone/>
            </a:pPr>
            <a:r>
              <a:rPr lang="en-US" sz="1100" dirty="0">
                <a:solidFill>
                  <a:srgbClr val="FFFFFF"/>
                </a:solidFill>
                <a:latin typeface="Courier New" pitchFamily="34" charset="0"/>
                <a:ea typeface="Courier New" pitchFamily="34" charset="-122"/>
                <a:cs typeface="Courier New" pitchFamily="34" charset="-120"/>
              </a:rPr>
              <a:t>enquiry_006.txt       success   Other             No        Closed</a:t>
            </a:r>
            <a:endParaRPr lang="en-US" sz="1100" dirty="0"/>
          </a:p>
        </p:txBody>
      </p:sp>
      <p:sp>
        <p:nvSpPr>
          <p:cNvPr id="17" name="Text 15"/>
          <p:cNvSpPr txBox="1"/>
          <p:nvPr/>
        </p:nvSpPr>
        <p:spPr>
          <a:xfrm>
            <a:off x="7818120" y="3438144"/>
            <a:ext cx="3703320" cy="292608"/>
          </a:xfrm>
          <a:prstGeom prst="rect">
            <a:avLst/>
          </a:prstGeom>
          <a:noFill/>
          <a:ln/>
        </p:spPr>
        <p:txBody>
          <a:bodyPr wrap="square" lIns="0" tIns="0" rIns="0" bIns="0" rtlCol="0" anchor="ctr"/>
          <a:lstStyle/>
          <a:p>
            <a:pPr marL="0" indent="0">
              <a:buNone/>
            </a:pPr>
            <a:r>
              <a:rPr lang="en-US" sz="1500" b="1" dirty="0">
                <a:solidFill>
                  <a:srgbClr val="2A1B4D"/>
                </a:solidFill>
                <a:latin typeface="Calibri" pitchFamily="34" charset="0"/>
                <a:ea typeface="Calibri" pitchFamily="34" charset="-122"/>
                <a:cs typeface="Calibri" pitchFamily="34" charset="-120"/>
              </a:rPr>
              <a:t>What to notice</a:t>
            </a:r>
            <a:endParaRPr lang="en-US" sz="1500" dirty="0"/>
          </a:p>
        </p:txBody>
      </p:sp>
      <p:sp>
        <p:nvSpPr>
          <p:cNvPr id="18" name="Text 16"/>
          <p:cNvSpPr txBox="1"/>
          <p:nvPr/>
        </p:nvSpPr>
        <p:spPr>
          <a:xfrm>
            <a:off x="7818120" y="3803904"/>
            <a:ext cx="3703320" cy="182880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241F31"/>
                </a:solidFill>
                <a:latin typeface="Calibri" pitchFamily="34" charset="0"/>
                <a:ea typeface="Calibri" pitchFamily="34" charset="-122"/>
                <a:cs typeface="Calibri" pitchFamily="34" charset="-120"/>
              </a:rPr>
              <a:t>The last row is an enquiry, not a complaint — the system sets is_complaint to No.</a:t>
            </a:r>
            <a:endParaRPr lang="en-US" sz="1200" dirty="0"/>
          </a:p>
          <a:p>
            <a:pPr marL="342900" indent="-342900">
              <a:lnSpc>
                <a:spcPts val="1600"/>
              </a:lnSpc>
              <a:spcAft>
                <a:spcPts val="800"/>
              </a:spcAft>
              <a:buSzPct val="100000"/>
              <a:buChar char="•"/>
            </a:pPr>
            <a:r>
              <a:rPr lang="en-US" sz="1200" dirty="0">
                <a:solidFill>
                  <a:srgbClr val="241F31"/>
                </a:solidFill>
                <a:latin typeface="Calibri" pitchFamily="34" charset="0"/>
                <a:ea typeface="Calibri" pitchFamily="34" charset="-122"/>
                <a:cs typeface="Calibri" pitchFamily="34" charset="-120"/>
              </a:rPr>
              <a:t>Escalation comes from meaning, not keywords: one document mentions a manager but is resolved.</a:t>
            </a:r>
            <a:endParaRPr lang="en-US" sz="1200" dirty="0"/>
          </a:p>
          <a:p>
            <a:pPr marL="342900" indent="-342900">
              <a:lnSpc>
                <a:spcPts val="1600"/>
              </a:lnSpc>
              <a:spcAft>
                <a:spcPts val="800"/>
              </a:spcAft>
              <a:buSzPct val="100000"/>
              <a:buChar char="•"/>
            </a:pPr>
            <a:r>
              <a:rPr lang="en-US" sz="1200" dirty="0">
                <a:solidFill>
                  <a:srgbClr val="241F31"/>
                </a:solidFill>
                <a:latin typeface="Calibri" pitchFamily="34" charset="0"/>
                <a:ea typeface="Calibri" pitchFamily="34" charset="-122"/>
                <a:cs typeface="Calibri" pitchFamily="34" charset="-120"/>
              </a:rPr>
              <a:t>An unsupported .csv in the folder is skipped without error.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ENGINEERING PRACTICE</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Tested, versioned and reproducible</a:t>
            </a:r>
            <a:endParaRPr lang="en-US" sz="3200" dirty="0"/>
          </a:p>
        </p:txBody>
      </p:sp>
      <p:sp>
        <p:nvSpPr>
          <p:cNvPr id="4" name="Shape 2"/>
          <p:cNvSpPr/>
          <p:nvPr/>
        </p:nvSpPr>
        <p:spPr>
          <a:xfrm>
            <a:off x="640080" y="1554480"/>
            <a:ext cx="3502152" cy="3063240"/>
          </a:xfrm>
          <a:prstGeom prst="roundRect">
            <a:avLst>
              <a:gd name="adj" fmla="val 268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5" name="Shape 3"/>
          <p:cNvSpPr/>
          <p:nvPr/>
        </p:nvSpPr>
        <p:spPr>
          <a:xfrm>
            <a:off x="932688" y="1810512"/>
            <a:ext cx="365760" cy="365760"/>
          </a:xfrm>
          <a:prstGeom prst="ellipse">
            <a:avLst/>
          </a:prstGeom>
          <a:solidFill>
            <a:srgbClr val="2F855A"/>
          </a:solidFill>
          <a:ln/>
        </p:spPr>
        <p:txBody>
          <a:bodyPr/>
          <a:lstStyle/>
          <a:p>
            <a:endParaRPr lang="en-IN"/>
          </a:p>
        </p:txBody>
      </p:sp>
      <p:sp>
        <p:nvSpPr>
          <p:cNvPr id="6" name="Text 4"/>
          <p:cNvSpPr txBox="1"/>
          <p:nvPr/>
        </p:nvSpPr>
        <p:spPr>
          <a:xfrm>
            <a:off x="1417320" y="1810512"/>
            <a:ext cx="2560320" cy="365760"/>
          </a:xfrm>
          <a:prstGeom prst="rect">
            <a:avLst/>
          </a:prstGeom>
          <a:noFill/>
          <a:ln/>
        </p:spPr>
        <p:txBody>
          <a:bodyPr wrap="square" lIns="0" tIns="0" rIns="0" bIns="0" rtlCol="0" anchor="ctr"/>
          <a:lstStyle/>
          <a:p>
            <a:pPr marL="0" indent="0">
              <a:buNone/>
            </a:pPr>
            <a:r>
              <a:rPr lang="en-US" sz="1600" b="1" dirty="0">
                <a:solidFill>
                  <a:srgbClr val="2A1B4D"/>
                </a:solidFill>
                <a:latin typeface="Calibri" pitchFamily="34" charset="0"/>
                <a:ea typeface="Calibri" pitchFamily="34" charset="-122"/>
                <a:cs typeface="Calibri" pitchFamily="34" charset="-120"/>
              </a:rPr>
              <a:t>Testing</a:t>
            </a:r>
            <a:endParaRPr lang="en-US" sz="1600" dirty="0"/>
          </a:p>
        </p:txBody>
      </p:sp>
      <p:sp>
        <p:nvSpPr>
          <p:cNvPr id="7" name="Text 5"/>
          <p:cNvSpPr txBox="1"/>
          <p:nvPr/>
        </p:nvSpPr>
        <p:spPr>
          <a:xfrm>
            <a:off x="932688" y="2359152"/>
            <a:ext cx="2926080" cy="3108960"/>
          </a:xfrm>
          <a:prstGeom prst="rect">
            <a:avLst/>
          </a:prstGeom>
          <a:noFill/>
          <a:ln/>
        </p:spPr>
        <p:txBody>
          <a:bodyPr wrap="square" lIns="0" tIns="0" rIns="0" bIns="0" rtlCol="0" anchor="t"/>
          <a:lstStyle/>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15 tests in test_basic.py</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None of them calls the API — free, and under a second</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Covers file reading, Pydantic validation and CSV building</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A test proves an invented category is rejected</a:t>
            </a:r>
            <a:endParaRPr lang="en-US" sz="1250" dirty="0"/>
          </a:p>
        </p:txBody>
      </p:sp>
      <p:sp>
        <p:nvSpPr>
          <p:cNvPr id="8" name="Shape 6"/>
          <p:cNvSpPr/>
          <p:nvPr/>
        </p:nvSpPr>
        <p:spPr>
          <a:xfrm>
            <a:off x="4416552" y="1554480"/>
            <a:ext cx="3502152" cy="3063240"/>
          </a:xfrm>
          <a:prstGeom prst="roundRect">
            <a:avLst>
              <a:gd name="adj" fmla="val 268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9" name="Shape 7"/>
          <p:cNvSpPr/>
          <p:nvPr/>
        </p:nvSpPr>
        <p:spPr>
          <a:xfrm>
            <a:off x="4709160" y="1810512"/>
            <a:ext cx="365760" cy="365760"/>
          </a:xfrm>
          <a:prstGeom prst="ellipse">
            <a:avLst/>
          </a:prstGeom>
          <a:solidFill>
            <a:srgbClr val="6B46C1"/>
          </a:solidFill>
          <a:ln/>
        </p:spPr>
        <p:txBody>
          <a:bodyPr/>
          <a:lstStyle/>
          <a:p>
            <a:endParaRPr lang="en-IN"/>
          </a:p>
        </p:txBody>
      </p:sp>
      <p:sp>
        <p:nvSpPr>
          <p:cNvPr id="10" name="Text 8"/>
          <p:cNvSpPr txBox="1"/>
          <p:nvPr/>
        </p:nvSpPr>
        <p:spPr>
          <a:xfrm>
            <a:off x="5193792" y="1810512"/>
            <a:ext cx="2560320" cy="365760"/>
          </a:xfrm>
          <a:prstGeom prst="rect">
            <a:avLst/>
          </a:prstGeom>
          <a:noFill/>
          <a:ln/>
        </p:spPr>
        <p:txBody>
          <a:bodyPr wrap="square" lIns="0" tIns="0" rIns="0" bIns="0" rtlCol="0" anchor="ctr"/>
          <a:lstStyle/>
          <a:p>
            <a:pPr marL="0" indent="0">
              <a:buNone/>
            </a:pPr>
            <a:r>
              <a:rPr lang="en-US" sz="1600" b="1" dirty="0">
                <a:solidFill>
                  <a:srgbClr val="2A1B4D"/>
                </a:solidFill>
                <a:latin typeface="Calibri" pitchFamily="34" charset="0"/>
                <a:ea typeface="Calibri" pitchFamily="34" charset="-122"/>
                <a:cs typeface="Calibri" pitchFamily="34" charset="-120"/>
              </a:rPr>
              <a:t>Version control</a:t>
            </a:r>
            <a:endParaRPr lang="en-US" sz="1600" dirty="0"/>
          </a:p>
        </p:txBody>
      </p:sp>
      <p:sp>
        <p:nvSpPr>
          <p:cNvPr id="11" name="Text 9"/>
          <p:cNvSpPr txBox="1"/>
          <p:nvPr/>
        </p:nvSpPr>
        <p:spPr>
          <a:xfrm>
            <a:off x="4709160" y="2359152"/>
            <a:ext cx="2926080" cy="3108960"/>
          </a:xfrm>
          <a:prstGeom prst="rect">
            <a:avLst/>
          </a:prstGeom>
          <a:noFill/>
          <a:ln/>
        </p:spPr>
        <p:txBody>
          <a:bodyPr wrap="square" lIns="0" tIns="0" rIns="0" bIns="0" rtlCol="0" anchor="t"/>
          <a:lstStyle/>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.gitignore excludes .env and output/</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The API key can never reach GitHub</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A commit-by-commit history, not one bulk commit</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.env.example is committed in its place</a:t>
            </a:r>
            <a:endParaRPr lang="en-US" sz="1250" dirty="0"/>
          </a:p>
        </p:txBody>
      </p:sp>
      <p:sp>
        <p:nvSpPr>
          <p:cNvPr id="12" name="Shape 10"/>
          <p:cNvSpPr/>
          <p:nvPr/>
        </p:nvSpPr>
        <p:spPr>
          <a:xfrm>
            <a:off x="8193024" y="1554480"/>
            <a:ext cx="3502152" cy="3063240"/>
          </a:xfrm>
          <a:prstGeom prst="roundRect">
            <a:avLst>
              <a:gd name="adj" fmla="val 2687"/>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3" name="Shape 11"/>
          <p:cNvSpPr/>
          <p:nvPr/>
        </p:nvSpPr>
        <p:spPr>
          <a:xfrm>
            <a:off x="8485632" y="1810512"/>
            <a:ext cx="365760" cy="365760"/>
          </a:xfrm>
          <a:prstGeom prst="ellipse">
            <a:avLst/>
          </a:prstGeom>
          <a:solidFill>
            <a:srgbClr val="2A1B4D"/>
          </a:solidFill>
          <a:ln/>
        </p:spPr>
        <p:txBody>
          <a:bodyPr/>
          <a:lstStyle/>
          <a:p>
            <a:endParaRPr lang="en-IN"/>
          </a:p>
        </p:txBody>
      </p:sp>
      <p:sp>
        <p:nvSpPr>
          <p:cNvPr id="14" name="Text 12"/>
          <p:cNvSpPr txBox="1"/>
          <p:nvPr/>
        </p:nvSpPr>
        <p:spPr>
          <a:xfrm>
            <a:off x="8970264" y="1810512"/>
            <a:ext cx="2560320" cy="365760"/>
          </a:xfrm>
          <a:prstGeom prst="rect">
            <a:avLst/>
          </a:prstGeom>
          <a:noFill/>
          <a:ln/>
        </p:spPr>
        <p:txBody>
          <a:bodyPr wrap="square" lIns="0" tIns="0" rIns="0" bIns="0" rtlCol="0" anchor="ctr"/>
          <a:lstStyle/>
          <a:p>
            <a:pPr marL="0" indent="0">
              <a:buNone/>
            </a:pPr>
            <a:r>
              <a:rPr lang="en-US" sz="1600" b="1" dirty="0">
                <a:solidFill>
                  <a:srgbClr val="2A1B4D"/>
                </a:solidFill>
                <a:latin typeface="Calibri" pitchFamily="34" charset="0"/>
                <a:ea typeface="Calibri" pitchFamily="34" charset="-122"/>
                <a:cs typeface="Calibri" pitchFamily="34" charset="-120"/>
              </a:rPr>
              <a:t>Continuous integration</a:t>
            </a:r>
            <a:endParaRPr lang="en-US" sz="1600" dirty="0"/>
          </a:p>
        </p:txBody>
      </p:sp>
      <p:sp>
        <p:nvSpPr>
          <p:cNvPr id="15" name="Text 13"/>
          <p:cNvSpPr txBox="1"/>
          <p:nvPr/>
        </p:nvSpPr>
        <p:spPr>
          <a:xfrm>
            <a:off x="8485632" y="2359152"/>
            <a:ext cx="2926080" cy="3108960"/>
          </a:xfrm>
          <a:prstGeom prst="rect">
            <a:avLst/>
          </a:prstGeom>
          <a:noFill/>
          <a:ln/>
        </p:spPr>
        <p:txBody>
          <a:bodyPr wrap="square" lIns="0" tIns="0" rIns="0" bIns="0" rtlCol="0" anchor="t"/>
          <a:lstStyle/>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GitHub Actions runs pytest on every push</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No secret needs configuring, because the tests need no key</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A green tick on every commit</a:t>
            </a:r>
            <a:endParaRPr lang="en-US" sz="1250" dirty="0"/>
          </a:p>
          <a:p>
            <a:pPr marL="342900" indent="-342900">
              <a:lnSpc>
                <a:spcPts val="1700"/>
              </a:lnSpc>
              <a:spcAft>
                <a:spcPts val="1000"/>
              </a:spcAft>
              <a:buSzPct val="100000"/>
              <a:buChar char="•"/>
            </a:pPr>
            <a:r>
              <a:rPr lang="en-US" sz="1250" dirty="0">
                <a:solidFill>
                  <a:srgbClr val="241F31"/>
                </a:solidFill>
                <a:latin typeface="Calibri" pitchFamily="34" charset="0"/>
                <a:ea typeface="Calibri" pitchFamily="34" charset="-122"/>
                <a:cs typeface="Calibri" pitchFamily="34" charset="-120"/>
              </a:rPr>
              <a:t>Defined in .github/workflows/tests.yml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SKILLS DEMONSTRATED</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Where each assessed skill lives in the code</a:t>
            </a:r>
            <a:endParaRPr lang="en-US" sz="3200" dirty="0"/>
          </a:p>
        </p:txBody>
      </p:sp>
      <p:sp>
        <p:nvSpPr>
          <p:cNvPr id="4" name="Shape 2"/>
          <p:cNvSpPr/>
          <p:nvPr/>
        </p:nvSpPr>
        <p:spPr>
          <a:xfrm>
            <a:off x="640080" y="1517904"/>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5" name="Text 3"/>
          <p:cNvSpPr txBox="1"/>
          <p:nvPr/>
        </p:nvSpPr>
        <p:spPr>
          <a:xfrm>
            <a:off x="896112" y="1655064"/>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Python</a:t>
            </a:r>
            <a:endParaRPr lang="en-US" sz="1400" dirty="0"/>
          </a:p>
        </p:txBody>
      </p:sp>
      <p:sp>
        <p:nvSpPr>
          <p:cNvPr id="6" name="Text 4"/>
          <p:cNvSpPr txBox="1"/>
          <p:nvPr/>
        </p:nvSpPr>
        <p:spPr>
          <a:xfrm>
            <a:off x="896112" y="2002536"/>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all seven files</a:t>
            </a:r>
            <a:endParaRPr lang="en-US" sz="1100" dirty="0"/>
          </a:p>
        </p:txBody>
      </p:sp>
      <p:sp>
        <p:nvSpPr>
          <p:cNvPr id="7" name="Shape 5"/>
          <p:cNvSpPr/>
          <p:nvPr/>
        </p:nvSpPr>
        <p:spPr>
          <a:xfrm>
            <a:off x="4416552" y="1517904"/>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8" name="Text 6"/>
          <p:cNvSpPr txBox="1"/>
          <p:nvPr/>
        </p:nvSpPr>
        <p:spPr>
          <a:xfrm>
            <a:off x="4672584" y="1655064"/>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LLM API integration</a:t>
            </a:r>
            <a:endParaRPr lang="en-US" sz="1400" dirty="0"/>
          </a:p>
        </p:txBody>
      </p:sp>
      <p:sp>
        <p:nvSpPr>
          <p:cNvPr id="9" name="Text 7"/>
          <p:cNvSpPr txBox="1"/>
          <p:nvPr/>
        </p:nvSpPr>
        <p:spPr>
          <a:xfrm>
            <a:off x="4672584" y="2002536"/>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ai_tasks.build_llm()</a:t>
            </a:r>
            <a:endParaRPr lang="en-US" sz="1100" dirty="0"/>
          </a:p>
        </p:txBody>
      </p:sp>
      <p:sp>
        <p:nvSpPr>
          <p:cNvPr id="10" name="Shape 8"/>
          <p:cNvSpPr/>
          <p:nvPr/>
        </p:nvSpPr>
        <p:spPr>
          <a:xfrm>
            <a:off x="8193024" y="1517904"/>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1" name="Text 9"/>
          <p:cNvSpPr txBox="1"/>
          <p:nvPr/>
        </p:nvSpPr>
        <p:spPr>
          <a:xfrm>
            <a:off x="8449056" y="1655064"/>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Prompt Engineering</a:t>
            </a:r>
            <a:endParaRPr lang="en-US" sz="1400" dirty="0"/>
          </a:p>
        </p:txBody>
      </p:sp>
      <p:sp>
        <p:nvSpPr>
          <p:cNvPr id="12" name="Text 10"/>
          <p:cNvSpPr txBox="1"/>
          <p:nvPr/>
        </p:nvSpPr>
        <p:spPr>
          <a:xfrm>
            <a:off x="8449056" y="2002536"/>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three prompts, ai_tasks.py</a:t>
            </a:r>
            <a:endParaRPr lang="en-US" sz="1100" dirty="0"/>
          </a:p>
        </p:txBody>
      </p:sp>
      <p:sp>
        <p:nvSpPr>
          <p:cNvPr id="13" name="Shape 11"/>
          <p:cNvSpPr/>
          <p:nvPr/>
        </p:nvSpPr>
        <p:spPr>
          <a:xfrm>
            <a:off x="640080" y="2734056"/>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4" name="Text 12"/>
          <p:cNvSpPr txBox="1"/>
          <p:nvPr/>
        </p:nvSpPr>
        <p:spPr>
          <a:xfrm>
            <a:off x="896112" y="2871216"/>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Structured Outputs</a:t>
            </a:r>
            <a:endParaRPr lang="en-US" sz="1400" dirty="0"/>
          </a:p>
        </p:txBody>
      </p:sp>
      <p:sp>
        <p:nvSpPr>
          <p:cNvPr id="15" name="Text 13"/>
          <p:cNvSpPr txBox="1"/>
          <p:nvPr/>
        </p:nvSpPr>
        <p:spPr>
          <a:xfrm>
            <a:off x="896112" y="3218688"/>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with_structured_output()</a:t>
            </a:r>
            <a:endParaRPr lang="en-US" sz="1100" dirty="0"/>
          </a:p>
        </p:txBody>
      </p:sp>
      <p:sp>
        <p:nvSpPr>
          <p:cNvPr id="16" name="Shape 14"/>
          <p:cNvSpPr/>
          <p:nvPr/>
        </p:nvSpPr>
        <p:spPr>
          <a:xfrm>
            <a:off x="4416552" y="2734056"/>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17" name="Text 15"/>
          <p:cNvSpPr txBox="1"/>
          <p:nvPr/>
        </p:nvSpPr>
        <p:spPr>
          <a:xfrm>
            <a:off x="4672584" y="2871216"/>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Pydantic</a:t>
            </a:r>
            <a:endParaRPr lang="en-US" sz="1400" dirty="0"/>
          </a:p>
        </p:txBody>
      </p:sp>
      <p:sp>
        <p:nvSpPr>
          <p:cNvPr id="18" name="Text 16"/>
          <p:cNvSpPr txBox="1"/>
          <p:nvPr/>
        </p:nvSpPr>
        <p:spPr>
          <a:xfrm>
            <a:off x="4672584" y="3218688"/>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models.py — three schemas</a:t>
            </a:r>
            <a:endParaRPr lang="en-US" sz="1100" dirty="0"/>
          </a:p>
        </p:txBody>
      </p:sp>
      <p:sp>
        <p:nvSpPr>
          <p:cNvPr id="19" name="Shape 17"/>
          <p:cNvSpPr/>
          <p:nvPr/>
        </p:nvSpPr>
        <p:spPr>
          <a:xfrm>
            <a:off x="8193024" y="2734056"/>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20" name="Text 18"/>
          <p:cNvSpPr txBox="1"/>
          <p:nvPr/>
        </p:nvSpPr>
        <p:spPr>
          <a:xfrm>
            <a:off x="8449056" y="2871216"/>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Batch Processing</a:t>
            </a:r>
            <a:endParaRPr lang="en-US" sz="1400" dirty="0"/>
          </a:p>
        </p:txBody>
      </p:sp>
      <p:sp>
        <p:nvSpPr>
          <p:cNvPr id="21" name="Text 19"/>
          <p:cNvSpPr txBox="1"/>
          <p:nvPr/>
        </p:nvSpPr>
        <p:spPr>
          <a:xfrm>
            <a:off x="8449056" y="3218688"/>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app.py — the loop + CSV</a:t>
            </a:r>
            <a:endParaRPr lang="en-US" sz="1100" dirty="0"/>
          </a:p>
        </p:txBody>
      </p:sp>
      <p:sp>
        <p:nvSpPr>
          <p:cNvPr id="22" name="Shape 20"/>
          <p:cNvSpPr/>
          <p:nvPr/>
        </p:nvSpPr>
        <p:spPr>
          <a:xfrm>
            <a:off x="640080" y="3950208"/>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23" name="Text 21"/>
          <p:cNvSpPr txBox="1"/>
          <p:nvPr/>
        </p:nvSpPr>
        <p:spPr>
          <a:xfrm>
            <a:off x="896112" y="4087368"/>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Sequential / Parallel</a:t>
            </a:r>
            <a:endParaRPr lang="en-US" sz="1400" dirty="0"/>
          </a:p>
        </p:txBody>
      </p:sp>
      <p:sp>
        <p:nvSpPr>
          <p:cNvPr id="24" name="Text 22"/>
          <p:cNvSpPr txBox="1"/>
          <p:nvPr/>
        </p:nvSpPr>
        <p:spPr>
          <a:xfrm>
            <a:off x="896112" y="4434840"/>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workflow.py — LangGraph</a:t>
            </a:r>
            <a:endParaRPr lang="en-US" sz="1100" dirty="0"/>
          </a:p>
        </p:txBody>
      </p:sp>
      <p:sp>
        <p:nvSpPr>
          <p:cNvPr id="25" name="Shape 23"/>
          <p:cNvSpPr/>
          <p:nvPr/>
        </p:nvSpPr>
        <p:spPr>
          <a:xfrm>
            <a:off x="4416552" y="3950208"/>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26" name="Text 24"/>
          <p:cNvSpPr txBox="1"/>
          <p:nvPr/>
        </p:nvSpPr>
        <p:spPr>
          <a:xfrm>
            <a:off x="4672584" y="4087368"/>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Error Handling</a:t>
            </a:r>
            <a:endParaRPr lang="en-US" sz="1400" dirty="0"/>
          </a:p>
        </p:txBody>
      </p:sp>
      <p:sp>
        <p:nvSpPr>
          <p:cNvPr id="27" name="Text 25"/>
          <p:cNvSpPr txBox="1"/>
          <p:nvPr/>
        </p:nvSpPr>
        <p:spPr>
          <a:xfrm>
            <a:off x="4672584" y="4434840"/>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retry, validation, try/except</a:t>
            </a:r>
            <a:endParaRPr lang="en-US" sz="1100" dirty="0"/>
          </a:p>
        </p:txBody>
      </p:sp>
      <p:sp>
        <p:nvSpPr>
          <p:cNvPr id="28" name="Shape 26"/>
          <p:cNvSpPr/>
          <p:nvPr/>
        </p:nvSpPr>
        <p:spPr>
          <a:xfrm>
            <a:off x="8193024" y="3950208"/>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29" name="Text 27"/>
          <p:cNvSpPr txBox="1"/>
          <p:nvPr/>
        </p:nvSpPr>
        <p:spPr>
          <a:xfrm>
            <a:off x="8449056" y="4087368"/>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Modular Code</a:t>
            </a:r>
            <a:endParaRPr lang="en-US" sz="1400" dirty="0"/>
          </a:p>
        </p:txBody>
      </p:sp>
      <p:sp>
        <p:nvSpPr>
          <p:cNvPr id="30" name="Text 28"/>
          <p:cNvSpPr txBox="1"/>
          <p:nvPr/>
        </p:nvSpPr>
        <p:spPr>
          <a:xfrm>
            <a:off x="8449056" y="4434840"/>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six single-purpose modules</a:t>
            </a:r>
            <a:endParaRPr lang="en-US" sz="1100" dirty="0"/>
          </a:p>
        </p:txBody>
      </p:sp>
      <p:sp>
        <p:nvSpPr>
          <p:cNvPr id="31" name="Shape 29"/>
          <p:cNvSpPr/>
          <p:nvPr/>
        </p:nvSpPr>
        <p:spPr>
          <a:xfrm>
            <a:off x="640080" y="5166360"/>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32" name="Text 30"/>
          <p:cNvSpPr txBox="1"/>
          <p:nvPr/>
        </p:nvSpPr>
        <p:spPr>
          <a:xfrm>
            <a:off x="896112" y="5303520"/>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File Processing</a:t>
            </a:r>
            <a:endParaRPr lang="en-US" sz="1400" dirty="0"/>
          </a:p>
        </p:txBody>
      </p:sp>
      <p:sp>
        <p:nvSpPr>
          <p:cNvPr id="33" name="Text 31"/>
          <p:cNvSpPr txBox="1"/>
          <p:nvPr/>
        </p:nvSpPr>
        <p:spPr>
          <a:xfrm>
            <a:off x="896112" y="5650992"/>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document_reader.py</a:t>
            </a:r>
            <a:endParaRPr lang="en-US" sz="1100" dirty="0"/>
          </a:p>
        </p:txBody>
      </p:sp>
      <p:sp>
        <p:nvSpPr>
          <p:cNvPr id="34" name="Shape 32"/>
          <p:cNvSpPr/>
          <p:nvPr/>
        </p:nvSpPr>
        <p:spPr>
          <a:xfrm>
            <a:off x="4416552" y="5166360"/>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35" name="Text 33"/>
          <p:cNvSpPr txBox="1"/>
          <p:nvPr/>
        </p:nvSpPr>
        <p:spPr>
          <a:xfrm>
            <a:off x="4672584" y="5303520"/>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Git / GitHub</a:t>
            </a:r>
            <a:endParaRPr lang="en-US" sz="1400" dirty="0"/>
          </a:p>
        </p:txBody>
      </p:sp>
      <p:sp>
        <p:nvSpPr>
          <p:cNvPr id="36" name="Text 34"/>
          <p:cNvSpPr txBox="1"/>
          <p:nvPr/>
        </p:nvSpPr>
        <p:spPr>
          <a:xfrm>
            <a:off x="4672584" y="5650992"/>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.gitignore + Actions</a:t>
            </a:r>
            <a:endParaRPr lang="en-US" sz="1100" dirty="0"/>
          </a:p>
        </p:txBody>
      </p:sp>
      <p:sp>
        <p:nvSpPr>
          <p:cNvPr id="37" name="Shape 35"/>
          <p:cNvSpPr/>
          <p:nvPr/>
        </p:nvSpPr>
        <p:spPr>
          <a:xfrm>
            <a:off x="8193024" y="5166360"/>
            <a:ext cx="3502152" cy="969264"/>
          </a:xfrm>
          <a:prstGeom prst="roundRect">
            <a:avLst>
              <a:gd name="adj" fmla="val 8491"/>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38" name="Text 36"/>
          <p:cNvSpPr txBox="1"/>
          <p:nvPr/>
        </p:nvSpPr>
        <p:spPr>
          <a:xfrm>
            <a:off x="8449056" y="5303520"/>
            <a:ext cx="3017520" cy="310896"/>
          </a:xfrm>
          <a:prstGeom prst="rect">
            <a:avLst/>
          </a:prstGeom>
          <a:noFill/>
          <a:ln/>
        </p:spPr>
        <p:txBody>
          <a:bodyPr wrap="square" lIns="0" tIns="0" rIns="0" bIns="0" rtlCol="0" anchor="ctr"/>
          <a:lstStyle/>
          <a:p>
            <a:pPr marL="0" indent="0">
              <a:buNone/>
            </a:pPr>
            <a:r>
              <a:rPr lang="en-US" sz="1400" b="1" dirty="0">
                <a:solidFill>
                  <a:srgbClr val="2A1B4D"/>
                </a:solidFill>
                <a:latin typeface="Calibri" pitchFamily="34" charset="0"/>
                <a:ea typeface="Calibri" pitchFamily="34" charset="-122"/>
                <a:cs typeface="Calibri" pitchFamily="34" charset="-120"/>
              </a:rPr>
              <a:t>Basic Logging</a:t>
            </a:r>
            <a:endParaRPr lang="en-US" sz="1400" dirty="0"/>
          </a:p>
        </p:txBody>
      </p:sp>
      <p:sp>
        <p:nvSpPr>
          <p:cNvPr id="39" name="Text 37"/>
          <p:cNvSpPr txBox="1"/>
          <p:nvPr/>
        </p:nvSpPr>
        <p:spPr>
          <a:xfrm>
            <a:off x="8449056" y="5650992"/>
            <a:ext cx="3017520" cy="310896"/>
          </a:xfrm>
          <a:prstGeom prst="rect">
            <a:avLst/>
          </a:prstGeom>
          <a:noFill/>
          <a:ln/>
        </p:spPr>
        <p:txBody>
          <a:bodyPr wrap="square" lIns="0" tIns="0" rIns="0" bIns="0" rtlCol="0" anchor="ctr"/>
          <a:lstStyle/>
          <a:p>
            <a:pPr marL="0" indent="0">
              <a:buNone/>
            </a:pPr>
            <a:r>
              <a:rPr lang="en-US" sz="1100" dirty="0">
                <a:solidFill>
                  <a:srgbClr val="6B46C1"/>
                </a:solidFill>
                <a:latin typeface="Courier New" pitchFamily="34" charset="0"/>
                <a:ea typeface="Courier New" pitchFamily="34" charset="-122"/>
                <a:cs typeface="Courier New" pitchFamily="34" charset="-120"/>
              </a:rPr>
              <a:t>screen + output/run.log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6B46C1"/>
                </a:solidFill>
                <a:latin typeface="Calibri" pitchFamily="34" charset="0"/>
                <a:ea typeface="Calibri" pitchFamily="34" charset="-122"/>
                <a:cs typeface="Calibri" pitchFamily="34" charset="-120"/>
              </a:rPr>
              <a:t>HONEST ASSESSMENT</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What it does not do yet, and what comes next</a:t>
            </a:r>
            <a:endParaRPr lang="en-US" sz="3200" dirty="0"/>
          </a:p>
        </p:txBody>
      </p:sp>
      <p:sp>
        <p:nvSpPr>
          <p:cNvPr id="4" name="Shape 2"/>
          <p:cNvSpPr/>
          <p:nvPr/>
        </p:nvSpPr>
        <p:spPr>
          <a:xfrm>
            <a:off x="640080" y="1554480"/>
            <a:ext cx="5349240" cy="3566160"/>
          </a:xfrm>
          <a:prstGeom prst="roundRect">
            <a:avLst>
              <a:gd name="adj" fmla="val 2308"/>
            </a:avLst>
          </a:prstGeom>
          <a:solidFill>
            <a:srgbClr val="F4F1FB"/>
          </a:solidFill>
          <a:ln w="12700">
            <a:solidFill>
              <a:srgbClr val="F4F1FB"/>
            </a:solidFill>
            <a:prstDash val="solid"/>
          </a:ln>
          <a:effectLst>
            <a:outerShdw blurRad="101600" dist="25400" dir="5400000" algn="bl" rotWithShape="0">
              <a:srgbClr val="B9B2CE">
                <a:alpha val="35000"/>
              </a:srgbClr>
            </a:outerShdw>
          </a:effectLst>
        </p:spPr>
        <p:txBody>
          <a:bodyPr/>
          <a:lstStyle/>
          <a:p>
            <a:endParaRPr lang="en-IN"/>
          </a:p>
        </p:txBody>
      </p:sp>
      <p:sp>
        <p:nvSpPr>
          <p:cNvPr id="5" name="Text 3"/>
          <p:cNvSpPr txBox="1"/>
          <p:nvPr/>
        </p:nvSpPr>
        <p:spPr>
          <a:xfrm>
            <a:off x="914400" y="1810512"/>
            <a:ext cx="4800600" cy="320040"/>
          </a:xfrm>
          <a:prstGeom prst="rect">
            <a:avLst/>
          </a:prstGeom>
          <a:noFill/>
          <a:ln/>
        </p:spPr>
        <p:txBody>
          <a:bodyPr wrap="square" lIns="0" tIns="0" rIns="0" bIns="0" rtlCol="0" anchor="ctr"/>
          <a:lstStyle/>
          <a:p>
            <a:pPr marL="0" indent="0">
              <a:buNone/>
            </a:pPr>
            <a:r>
              <a:rPr lang="en-US" sz="1700" b="1" dirty="0">
                <a:solidFill>
                  <a:srgbClr val="C53030"/>
                </a:solidFill>
                <a:latin typeface="Calibri" pitchFamily="34" charset="0"/>
                <a:ea typeface="Calibri" pitchFamily="34" charset="-122"/>
                <a:cs typeface="Calibri" pitchFamily="34" charset="-120"/>
              </a:rPr>
              <a:t>Current limitations</a:t>
            </a:r>
            <a:endParaRPr lang="en-US" sz="1700" dirty="0"/>
          </a:p>
        </p:txBody>
      </p:sp>
      <p:sp>
        <p:nvSpPr>
          <p:cNvPr id="6" name="Text 4"/>
          <p:cNvSpPr txBox="1"/>
          <p:nvPr/>
        </p:nvSpPr>
        <p:spPr>
          <a:xfrm>
            <a:off x="914400" y="2240280"/>
            <a:ext cx="4800600" cy="3291840"/>
          </a:xfrm>
          <a:prstGeom prst="rect">
            <a:avLst/>
          </a:prstGeom>
          <a:noFill/>
          <a:ln/>
        </p:spPr>
        <p:txBody>
          <a:bodyPr wrap="square" lIns="0" tIns="0" rIns="0" bIns="0" rtlCol="0" anchor="t"/>
          <a:lstStyle/>
          <a:p>
            <a:pPr marL="342900" indent="-342900">
              <a:lnSpc>
                <a:spcPts val="1800"/>
              </a:lnSpc>
              <a:spcAft>
                <a:spcPts val="1100"/>
              </a:spcAft>
              <a:buSzPct val="100000"/>
              <a:buChar char="•"/>
            </a:pPr>
            <a:r>
              <a:rPr lang="en-US" sz="1300" dirty="0">
                <a:solidFill>
                  <a:srgbClr val="241F31"/>
                </a:solidFill>
                <a:latin typeface="Calibri" pitchFamily="34" charset="0"/>
                <a:ea typeface="Calibri" pitchFamily="34" charset="-122"/>
                <a:cs typeface="Calibri" pitchFamily="34" charset="-120"/>
              </a:rPr>
              <a:t>Scanned PDFs have no text layer — they are correctly rejected, not silently misread.</a:t>
            </a:r>
            <a:endParaRPr lang="en-US" sz="1300" dirty="0"/>
          </a:p>
          <a:p>
            <a:pPr marL="342900" indent="-342900">
              <a:lnSpc>
                <a:spcPts val="1800"/>
              </a:lnSpc>
              <a:spcAft>
                <a:spcPts val="1100"/>
              </a:spcAft>
              <a:buSzPct val="100000"/>
              <a:buChar char="•"/>
            </a:pPr>
            <a:r>
              <a:rPr lang="en-US" sz="1300" dirty="0">
                <a:solidFill>
                  <a:srgbClr val="241F31"/>
                </a:solidFill>
                <a:latin typeface="Calibri" pitchFamily="34" charset="0"/>
                <a:ea typeface="Calibri" pitchFamily="34" charset="-122"/>
                <a:cs typeface="Calibri" pitchFamily="34" charset="-120"/>
              </a:rPr>
              <a:t>Documents are processed one at a time; the parallelism is within a document, not across them.</a:t>
            </a:r>
            <a:endParaRPr lang="en-US" sz="1300" dirty="0"/>
          </a:p>
          <a:p>
            <a:pPr marL="342900" indent="-342900">
              <a:lnSpc>
                <a:spcPts val="1800"/>
              </a:lnSpc>
              <a:spcAft>
                <a:spcPts val="1100"/>
              </a:spcAft>
              <a:buSzPct val="100000"/>
              <a:buChar char="•"/>
            </a:pPr>
            <a:r>
              <a:rPr lang="en-US" sz="1300" dirty="0">
                <a:solidFill>
                  <a:srgbClr val="241F31"/>
                </a:solidFill>
                <a:latin typeface="Calibri" pitchFamily="34" charset="0"/>
                <a:ea typeface="Calibri" pitchFamily="34" charset="-122"/>
                <a:cs typeface="Calibri" pitchFamily="34" charset="-120"/>
              </a:rPr>
              <a:t>No human review step — emails are written to disk, not sent.</a:t>
            </a:r>
            <a:endParaRPr lang="en-US" sz="1300" dirty="0"/>
          </a:p>
          <a:p>
            <a:pPr marL="342900" indent="-342900">
              <a:lnSpc>
                <a:spcPts val="1800"/>
              </a:lnSpc>
              <a:spcAft>
                <a:spcPts val="1100"/>
              </a:spcAft>
              <a:buSzPct val="100000"/>
              <a:buChar char="•"/>
            </a:pPr>
            <a:r>
              <a:rPr lang="en-US" sz="1300" dirty="0">
                <a:solidFill>
                  <a:srgbClr val="241F31"/>
                </a:solidFill>
                <a:latin typeface="Calibri" pitchFamily="34" charset="0"/>
                <a:ea typeface="Calibri" pitchFamily="34" charset="-122"/>
                <a:cs typeface="Calibri" pitchFamily="34" charset="-120"/>
              </a:rPr>
              <a:t>No confidence threshold at which the system would ask for human input.</a:t>
            </a:r>
            <a:endParaRPr lang="en-US" sz="1300" dirty="0"/>
          </a:p>
          <a:p>
            <a:pPr marL="342900" indent="-342900">
              <a:lnSpc>
                <a:spcPts val="1800"/>
              </a:lnSpc>
              <a:spcAft>
                <a:spcPts val="1100"/>
              </a:spcAft>
              <a:buSzPct val="100000"/>
              <a:buChar char="•"/>
            </a:pPr>
            <a:r>
              <a:rPr lang="en-US" sz="1300" dirty="0">
                <a:solidFill>
                  <a:srgbClr val="241F31"/>
                </a:solidFill>
                <a:latin typeface="Calibri" pitchFamily="34" charset="0"/>
                <a:ea typeface="Calibri" pitchFamily="34" charset="-122"/>
                <a:cs typeface="Calibri" pitchFamily="34" charset="-120"/>
              </a:rPr>
              <a:t>English only; other languages are untested.</a:t>
            </a:r>
            <a:endParaRPr lang="en-US" sz="1300" dirty="0"/>
          </a:p>
        </p:txBody>
      </p:sp>
      <p:sp>
        <p:nvSpPr>
          <p:cNvPr id="7" name="Text 5"/>
          <p:cNvSpPr txBox="1"/>
          <p:nvPr/>
        </p:nvSpPr>
        <p:spPr>
          <a:xfrm>
            <a:off x="6309360" y="1810512"/>
            <a:ext cx="5212080" cy="320040"/>
          </a:xfrm>
          <a:prstGeom prst="rect">
            <a:avLst/>
          </a:prstGeom>
          <a:noFill/>
          <a:ln/>
        </p:spPr>
        <p:txBody>
          <a:bodyPr wrap="square" lIns="0" tIns="0" rIns="0" bIns="0" rtlCol="0" anchor="ctr"/>
          <a:lstStyle/>
          <a:p>
            <a:pPr marL="0" indent="0">
              <a:buNone/>
            </a:pPr>
            <a:r>
              <a:rPr lang="en-US" sz="1700" b="1" dirty="0">
                <a:solidFill>
                  <a:srgbClr val="2F855A"/>
                </a:solidFill>
                <a:latin typeface="Calibri" pitchFamily="34" charset="0"/>
                <a:ea typeface="Calibri" pitchFamily="34" charset="-122"/>
                <a:cs typeface="Calibri" pitchFamily="34" charset="-120"/>
              </a:rPr>
              <a:t>Next steps</a:t>
            </a:r>
            <a:endParaRPr lang="en-US" sz="1700" dirty="0"/>
          </a:p>
        </p:txBody>
      </p:sp>
      <p:sp>
        <p:nvSpPr>
          <p:cNvPr id="8" name="Shape 6"/>
          <p:cNvSpPr/>
          <p:nvPr/>
        </p:nvSpPr>
        <p:spPr>
          <a:xfrm>
            <a:off x="6309360" y="2240280"/>
            <a:ext cx="420624" cy="420624"/>
          </a:xfrm>
          <a:prstGeom prst="ellipse">
            <a:avLst/>
          </a:prstGeom>
          <a:solidFill>
            <a:srgbClr val="2F855A"/>
          </a:solidFill>
          <a:ln/>
        </p:spPr>
        <p:txBody>
          <a:bodyPr/>
          <a:lstStyle/>
          <a:p>
            <a:endParaRPr lang="en-IN"/>
          </a:p>
        </p:txBody>
      </p:sp>
      <p:sp>
        <p:nvSpPr>
          <p:cNvPr id="9" name="Text 7"/>
          <p:cNvSpPr txBox="1"/>
          <p:nvPr/>
        </p:nvSpPr>
        <p:spPr>
          <a:xfrm>
            <a:off x="6309360" y="22402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6903720" y="2212848"/>
            <a:ext cx="461772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OCR</a:t>
            </a:r>
            <a:endParaRPr lang="en-US" sz="1600" dirty="0"/>
          </a:p>
        </p:txBody>
      </p:sp>
      <p:sp>
        <p:nvSpPr>
          <p:cNvPr id="11" name="Text 9"/>
          <p:cNvSpPr txBox="1"/>
          <p:nvPr/>
        </p:nvSpPr>
        <p:spPr>
          <a:xfrm>
            <a:off x="6903720" y="2514600"/>
            <a:ext cx="461772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Add Tesseract so scanned complaint documents can be processed too.</a:t>
            </a:r>
            <a:endParaRPr lang="en-US" sz="1300" dirty="0"/>
          </a:p>
        </p:txBody>
      </p:sp>
      <p:sp>
        <p:nvSpPr>
          <p:cNvPr id="12" name="Shape 10"/>
          <p:cNvSpPr/>
          <p:nvPr/>
        </p:nvSpPr>
        <p:spPr>
          <a:xfrm>
            <a:off x="6309360" y="3291840"/>
            <a:ext cx="420624" cy="420624"/>
          </a:xfrm>
          <a:prstGeom prst="ellipse">
            <a:avLst/>
          </a:prstGeom>
          <a:solidFill>
            <a:srgbClr val="2F855A"/>
          </a:solidFill>
          <a:ln/>
        </p:spPr>
        <p:txBody>
          <a:bodyPr/>
          <a:lstStyle/>
          <a:p>
            <a:endParaRPr lang="en-IN"/>
          </a:p>
        </p:txBody>
      </p:sp>
      <p:sp>
        <p:nvSpPr>
          <p:cNvPr id="13" name="Text 11"/>
          <p:cNvSpPr txBox="1"/>
          <p:nvPr/>
        </p:nvSpPr>
        <p:spPr>
          <a:xfrm>
            <a:off x="6309360" y="329184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6903720" y="3264408"/>
            <a:ext cx="461772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Concurrency across documents</a:t>
            </a:r>
            <a:endParaRPr lang="en-US" sz="1600" dirty="0"/>
          </a:p>
        </p:txBody>
      </p:sp>
      <p:sp>
        <p:nvSpPr>
          <p:cNvPr id="15" name="Text 13"/>
          <p:cNvSpPr txBox="1"/>
          <p:nvPr/>
        </p:nvSpPr>
        <p:spPr>
          <a:xfrm>
            <a:off x="6903720" y="3566160"/>
            <a:ext cx="461772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A thread pool — the program spends nearly all its time waiting on the API.</a:t>
            </a:r>
            <a:endParaRPr lang="en-US" sz="1300" dirty="0"/>
          </a:p>
        </p:txBody>
      </p:sp>
      <p:sp>
        <p:nvSpPr>
          <p:cNvPr id="16" name="Shape 14"/>
          <p:cNvSpPr/>
          <p:nvPr/>
        </p:nvSpPr>
        <p:spPr>
          <a:xfrm>
            <a:off x="6309360" y="4343400"/>
            <a:ext cx="420624" cy="420624"/>
          </a:xfrm>
          <a:prstGeom prst="ellipse">
            <a:avLst/>
          </a:prstGeom>
          <a:solidFill>
            <a:srgbClr val="2F855A"/>
          </a:solidFill>
          <a:ln/>
        </p:spPr>
        <p:txBody>
          <a:bodyPr/>
          <a:lstStyle/>
          <a:p>
            <a:endParaRPr lang="en-IN"/>
          </a:p>
        </p:txBody>
      </p:sp>
      <p:sp>
        <p:nvSpPr>
          <p:cNvPr id="17" name="Text 15"/>
          <p:cNvSpPr txBox="1"/>
          <p:nvPr/>
        </p:nvSpPr>
        <p:spPr>
          <a:xfrm>
            <a:off x="6309360" y="43434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6903720" y="4315968"/>
            <a:ext cx="461772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Automatic routing</a:t>
            </a:r>
            <a:endParaRPr lang="en-US" sz="1600" dirty="0"/>
          </a:p>
        </p:txBody>
      </p:sp>
      <p:sp>
        <p:nvSpPr>
          <p:cNvPr id="19" name="Text 17"/>
          <p:cNvSpPr txBox="1"/>
          <p:nvPr/>
        </p:nvSpPr>
        <p:spPr>
          <a:xfrm>
            <a:off x="6903720" y="4617720"/>
            <a:ext cx="461772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Send escalated cases to the responsible team using category and priority.</a:t>
            </a:r>
            <a:endParaRPr lang="en-US" sz="1300" dirty="0"/>
          </a:p>
        </p:txBody>
      </p:sp>
      <p:sp>
        <p:nvSpPr>
          <p:cNvPr id="20" name="Shape 18"/>
          <p:cNvSpPr/>
          <p:nvPr/>
        </p:nvSpPr>
        <p:spPr>
          <a:xfrm>
            <a:off x="6309360" y="5394960"/>
            <a:ext cx="420624" cy="420624"/>
          </a:xfrm>
          <a:prstGeom prst="ellipse">
            <a:avLst/>
          </a:prstGeom>
          <a:solidFill>
            <a:srgbClr val="2F855A"/>
          </a:solidFill>
          <a:ln/>
        </p:spPr>
        <p:txBody>
          <a:bodyPr/>
          <a:lstStyle/>
          <a:p>
            <a:endParaRPr lang="en-IN"/>
          </a:p>
        </p:txBody>
      </p:sp>
      <p:sp>
        <p:nvSpPr>
          <p:cNvPr id="21" name="Text 19"/>
          <p:cNvSpPr txBox="1"/>
          <p:nvPr/>
        </p:nvSpPr>
        <p:spPr>
          <a:xfrm>
            <a:off x="6309360" y="53949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6903720" y="5367528"/>
            <a:ext cx="4617720" cy="292608"/>
          </a:xfrm>
          <a:prstGeom prst="rect">
            <a:avLst/>
          </a:prstGeom>
          <a:noFill/>
          <a:ln/>
        </p:spPr>
        <p:txBody>
          <a:bodyPr wrap="square" lIns="0" tIns="0" rIns="0" bIns="0" rtlCol="0" anchor="ctr"/>
          <a:lstStyle/>
          <a:p>
            <a:pPr marL="0" indent="0">
              <a:buNone/>
            </a:pPr>
            <a:r>
              <a:rPr lang="en-US" sz="1600" b="1" dirty="0">
                <a:solidFill>
                  <a:srgbClr val="241F31"/>
                </a:solidFill>
                <a:latin typeface="Calibri" pitchFamily="34" charset="0"/>
                <a:ea typeface="Calibri" pitchFamily="34" charset="-122"/>
                <a:cs typeface="Calibri" pitchFamily="34" charset="-120"/>
              </a:rPr>
              <a:t>Policy retrieval (RAG)</a:t>
            </a:r>
            <a:endParaRPr lang="en-US" sz="1600" dirty="0"/>
          </a:p>
        </p:txBody>
      </p:sp>
      <p:sp>
        <p:nvSpPr>
          <p:cNvPr id="23" name="Text 21"/>
          <p:cNvSpPr txBox="1"/>
          <p:nvPr/>
        </p:nvSpPr>
        <p:spPr>
          <a:xfrm>
            <a:off x="6903720" y="5669280"/>
            <a:ext cx="4617720" cy="713232"/>
          </a:xfrm>
          <a:prstGeom prst="rect">
            <a:avLst/>
          </a:prstGeom>
          <a:noFill/>
          <a:ln/>
        </p:spPr>
        <p:txBody>
          <a:bodyPr wrap="square" lIns="0" tIns="0" rIns="0" bIns="0" rtlCol="0" anchor="t"/>
          <a:lstStyle/>
          <a:p>
            <a:pPr marL="0" indent="0">
              <a:lnSpc>
                <a:spcPts val="1700"/>
              </a:lnSpc>
              <a:buNone/>
            </a:pPr>
            <a:r>
              <a:rPr lang="en-US" sz="1300" dirty="0">
                <a:solidFill>
                  <a:srgbClr val="5B5670"/>
                </a:solidFill>
                <a:latin typeface="Calibri" pitchFamily="34" charset="0"/>
                <a:ea typeface="Calibri" pitchFamily="34" charset="-122"/>
                <a:cs typeface="Calibri" pitchFamily="34" charset="-120"/>
              </a:rPr>
              <a:t>Ground the email in the real refund window and service-level targets.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A1B4D"/>
        </a:solidFill>
        <a:effectLst/>
      </p:bgPr>
    </p:bg>
    <p:spTree>
      <p:nvGrpSpPr>
        <p:cNvPr id="1" name=""/>
        <p:cNvGrpSpPr/>
        <p:nvPr/>
      </p:nvGrpSpPr>
      <p:grpSpPr>
        <a:xfrm>
          <a:off x="0" y="0"/>
          <a:ext cx="0" cy="0"/>
          <a:chOff x="0" y="0"/>
          <a:chExt cx="0" cy="0"/>
        </a:xfrm>
      </p:grpSpPr>
      <p:sp>
        <p:nvSpPr>
          <p:cNvPr id="2" name="Shape 0"/>
          <p:cNvSpPr/>
          <p:nvPr/>
        </p:nvSpPr>
        <p:spPr>
          <a:xfrm>
            <a:off x="10972800" y="-1188720"/>
            <a:ext cx="2926080" cy="2926080"/>
          </a:xfrm>
          <a:prstGeom prst="ellipse">
            <a:avLst/>
          </a:prstGeom>
          <a:solidFill>
            <a:srgbClr val="6B46C1"/>
          </a:solidFill>
          <a:ln/>
        </p:spPr>
        <p:txBody>
          <a:bodyPr/>
          <a:lstStyle/>
          <a:p>
            <a:endParaRPr lang="en-IN"/>
          </a:p>
        </p:txBody>
      </p:sp>
      <p:sp>
        <p:nvSpPr>
          <p:cNvPr id="3" name="Shape 1"/>
          <p:cNvSpPr/>
          <p:nvPr/>
        </p:nvSpPr>
        <p:spPr>
          <a:xfrm>
            <a:off x="-1645920" y="5760720"/>
            <a:ext cx="2377440" cy="2377440"/>
          </a:xfrm>
          <a:prstGeom prst="ellipse">
            <a:avLst/>
          </a:prstGeom>
          <a:solidFill>
            <a:srgbClr val="6B46C1"/>
          </a:solidFill>
          <a:ln/>
        </p:spPr>
        <p:txBody>
          <a:bodyPr/>
          <a:lstStyle/>
          <a:p>
            <a:endParaRPr lang="en-IN"/>
          </a:p>
        </p:txBody>
      </p:sp>
      <p:sp>
        <p:nvSpPr>
          <p:cNvPr id="4" name="Text 2"/>
          <p:cNvSpPr txBox="1"/>
          <p:nvPr/>
        </p:nvSpPr>
        <p:spPr>
          <a:xfrm>
            <a:off x="822960" y="1325880"/>
            <a:ext cx="7315200" cy="365760"/>
          </a:xfrm>
          <a:prstGeom prst="rect">
            <a:avLst/>
          </a:prstGeom>
          <a:noFill/>
          <a:ln/>
        </p:spPr>
        <p:txBody>
          <a:bodyPr wrap="square" lIns="0" tIns="0" rIns="0" bIns="0" rtlCol="0" anchor="ctr"/>
          <a:lstStyle/>
          <a:p>
            <a:pPr marL="0" indent="0">
              <a:buNone/>
            </a:pPr>
            <a:r>
              <a:rPr lang="en-US" sz="1300" b="1" kern="0" spc="300" dirty="0">
                <a:solidFill>
                  <a:srgbClr val="CFC4EE"/>
                </a:solidFill>
                <a:latin typeface="Calibri" pitchFamily="34" charset="0"/>
                <a:ea typeface="Calibri" pitchFamily="34" charset="-122"/>
                <a:cs typeface="Calibri" pitchFamily="34" charset="-120"/>
              </a:rPr>
              <a:t>IN SUMMARY</a:t>
            </a:r>
            <a:endParaRPr lang="en-US" sz="1300" dirty="0"/>
          </a:p>
        </p:txBody>
      </p:sp>
      <p:sp>
        <p:nvSpPr>
          <p:cNvPr id="5" name="Text 3"/>
          <p:cNvSpPr txBox="1"/>
          <p:nvPr/>
        </p:nvSpPr>
        <p:spPr>
          <a:xfrm>
            <a:off x="822960" y="1783080"/>
            <a:ext cx="9601200" cy="1463040"/>
          </a:xfrm>
          <a:prstGeom prst="rect">
            <a:avLst/>
          </a:prstGeom>
          <a:noFill/>
          <a:ln/>
        </p:spPr>
        <p:txBody>
          <a:bodyPr wrap="square" lIns="0" tIns="0" rIns="0" bIns="0" rtlCol="0" anchor="ctr"/>
          <a:lstStyle/>
          <a:p>
            <a:pPr marL="0" indent="0">
              <a:lnSpc>
                <a:spcPts val="4400"/>
              </a:lnSpc>
              <a:buNone/>
            </a:pPr>
            <a:r>
              <a:rPr lang="en-US" sz="3400" b="1" dirty="0">
                <a:solidFill>
                  <a:srgbClr val="FFFFFF"/>
                </a:solidFill>
                <a:latin typeface="Cambria" pitchFamily="34" charset="0"/>
                <a:ea typeface="Cambria" pitchFamily="34" charset="-122"/>
                <a:cs typeface="Cambria" pitchFamily="34" charset="-120"/>
              </a:rPr>
              <a:t>Unstructured documents in,</a:t>
            </a:r>
            <a:endParaRPr lang="en-US" sz="3400" dirty="0"/>
          </a:p>
          <a:p>
            <a:pPr marL="0" indent="0">
              <a:lnSpc>
                <a:spcPts val="4400"/>
              </a:lnSpc>
              <a:buNone/>
            </a:pPr>
            <a:r>
              <a:rPr lang="en-US" sz="3400" b="1" dirty="0">
                <a:solidFill>
                  <a:srgbClr val="FFFFFF"/>
                </a:solidFill>
                <a:latin typeface="Cambria" pitchFamily="34" charset="0"/>
                <a:ea typeface="Cambria" pitchFamily="34" charset="-122"/>
                <a:cs typeface="Cambria" pitchFamily="34" charset="-120"/>
              </a:rPr>
              <a:t>governed business output out</a:t>
            </a:r>
            <a:endParaRPr lang="en-US" sz="3400" dirty="0"/>
          </a:p>
        </p:txBody>
      </p:sp>
      <p:sp>
        <p:nvSpPr>
          <p:cNvPr id="6" name="Text 4"/>
          <p:cNvSpPr txBox="1"/>
          <p:nvPr/>
        </p:nvSpPr>
        <p:spPr>
          <a:xfrm>
            <a:off x="822960" y="3703320"/>
            <a:ext cx="320040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Structured output</a:t>
            </a:r>
            <a:endParaRPr lang="en-US" sz="1500" dirty="0"/>
          </a:p>
        </p:txBody>
      </p:sp>
      <p:sp>
        <p:nvSpPr>
          <p:cNvPr id="7" name="Text 5"/>
          <p:cNvSpPr txBox="1"/>
          <p:nvPr/>
        </p:nvSpPr>
        <p:spPr>
          <a:xfrm>
            <a:off x="822960" y="4069080"/>
            <a:ext cx="3200400" cy="1280160"/>
          </a:xfrm>
          <a:prstGeom prst="rect">
            <a:avLst/>
          </a:prstGeom>
          <a:noFill/>
          <a:ln/>
        </p:spPr>
        <p:txBody>
          <a:bodyPr wrap="square" lIns="0" tIns="0" rIns="0" bIns="0" rtlCol="0" anchor="t"/>
          <a:lstStyle/>
          <a:p>
            <a:pPr marL="0" indent="0">
              <a:lnSpc>
                <a:spcPts val="1800"/>
              </a:lnSpc>
              <a:buNone/>
            </a:pPr>
            <a:r>
              <a:rPr lang="en-US" sz="1250" dirty="0">
                <a:solidFill>
                  <a:srgbClr val="CFC4EE"/>
                </a:solidFill>
                <a:latin typeface="Calibri" pitchFamily="34" charset="0"/>
                <a:ea typeface="Calibri" pitchFamily="34" charset="-122"/>
                <a:cs typeface="Calibri" pitchFamily="34" charset="-120"/>
              </a:rPr>
              <a:t>Binding every reply to a Pydantic schema removes text parsing from the system entirely.</a:t>
            </a:r>
            <a:endParaRPr lang="en-US" sz="1250" dirty="0"/>
          </a:p>
        </p:txBody>
      </p:sp>
      <p:sp>
        <p:nvSpPr>
          <p:cNvPr id="8" name="Text 6"/>
          <p:cNvSpPr txBox="1"/>
          <p:nvPr/>
        </p:nvSpPr>
        <p:spPr>
          <a:xfrm>
            <a:off x="4343400" y="3703320"/>
            <a:ext cx="320040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Explicit orchestration</a:t>
            </a:r>
            <a:endParaRPr lang="en-US" sz="1500" dirty="0"/>
          </a:p>
        </p:txBody>
      </p:sp>
      <p:sp>
        <p:nvSpPr>
          <p:cNvPr id="9" name="Text 7"/>
          <p:cNvSpPr txBox="1"/>
          <p:nvPr/>
        </p:nvSpPr>
        <p:spPr>
          <a:xfrm>
            <a:off x="4343400" y="4069080"/>
            <a:ext cx="3200400" cy="1280160"/>
          </a:xfrm>
          <a:prstGeom prst="rect">
            <a:avLst/>
          </a:prstGeom>
          <a:noFill/>
          <a:ln/>
        </p:spPr>
        <p:txBody>
          <a:bodyPr wrap="square" lIns="0" tIns="0" rIns="0" bIns="0" rtlCol="0" anchor="t"/>
          <a:lstStyle/>
          <a:p>
            <a:pPr marL="0" indent="0">
              <a:lnSpc>
                <a:spcPts val="1800"/>
              </a:lnSpc>
              <a:buNone/>
            </a:pPr>
            <a:r>
              <a:rPr lang="en-US" sz="1250" dirty="0">
                <a:solidFill>
                  <a:srgbClr val="CFC4EE"/>
                </a:solidFill>
                <a:latin typeface="Calibri" pitchFamily="34" charset="0"/>
                <a:ea typeface="Calibri" pitchFamily="34" charset="-122"/>
                <a:cs typeface="Calibri" pitchFamily="34" charset="-120"/>
              </a:rPr>
              <a:t>LangGraph makes the dependency between the three tasks visible, and runs two of them in parallel.</a:t>
            </a:r>
            <a:endParaRPr lang="en-US" sz="1250" dirty="0"/>
          </a:p>
        </p:txBody>
      </p:sp>
      <p:sp>
        <p:nvSpPr>
          <p:cNvPr id="10" name="Text 8"/>
          <p:cNvSpPr txBox="1"/>
          <p:nvPr/>
        </p:nvSpPr>
        <p:spPr>
          <a:xfrm>
            <a:off x="7863840" y="3703320"/>
            <a:ext cx="320040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Failures stay visible</a:t>
            </a:r>
            <a:endParaRPr lang="en-US" sz="1500" dirty="0"/>
          </a:p>
        </p:txBody>
      </p:sp>
      <p:sp>
        <p:nvSpPr>
          <p:cNvPr id="11" name="Text 9"/>
          <p:cNvSpPr txBox="1"/>
          <p:nvPr/>
        </p:nvSpPr>
        <p:spPr>
          <a:xfrm>
            <a:off x="7863840" y="4069080"/>
            <a:ext cx="3200400" cy="1280160"/>
          </a:xfrm>
          <a:prstGeom prst="rect">
            <a:avLst/>
          </a:prstGeom>
          <a:noFill/>
          <a:ln/>
        </p:spPr>
        <p:txBody>
          <a:bodyPr wrap="square" lIns="0" tIns="0" rIns="0" bIns="0" rtlCol="0" anchor="t"/>
          <a:lstStyle/>
          <a:p>
            <a:pPr marL="0" indent="0">
              <a:lnSpc>
                <a:spcPts val="1800"/>
              </a:lnSpc>
              <a:buNone/>
            </a:pPr>
            <a:r>
              <a:rPr lang="en-US" sz="1250" dirty="0">
                <a:solidFill>
                  <a:srgbClr val="CFC4EE"/>
                </a:solidFill>
                <a:latin typeface="Calibri" pitchFamily="34" charset="0"/>
                <a:ea typeface="Calibri" pitchFamily="34" charset="-122"/>
                <a:cs typeface="Calibri" pitchFamily="34" charset="-120"/>
              </a:rPr>
              <a:t>Three levels of error handling; a failed document still appears in the report with its reason.</a:t>
            </a:r>
            <a:endParaRPr lang="en-US" sz="1250" dirty="0"/>
          </a:p>
        </p:txBody>
      </p:sp>
      <p:sp>
        <p:nvSpPr>
          <p:cNvPr id="12" name="Text 10"/>
          <p:cNvSpPr txBox="1"/>
          <p:nvPr/>
        </p:nvSpPr>
        <p:spPr>
          <a:xfrm>
            <a:off x="822960" y="5623560"/>
            <a:ext cx="731520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 — questions welcome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2179</Words>
  <Application>Microsoft Office PowerPoint</Application>
  <PresentationFormat>Widescreen</PresentationFormat>
  <Paragraphs>240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Customer Complaint &amp; Case Processing System</dc:title>
  <dc:subject>PptxGenJS Presentation</dc:subject>
  <dc:creator>Ashish Jain</dc:creator>
  <cp:lastModifiedBy>Jain, Ashish Kumar</cp:lastModifiedBy>
  <cp:revision>5</cp:revision>
  <dcterms:created xsi:type="dcterms:W3CDTF">2026-09-07T14:54:48Z</dcterms:created>
  <dcterms:modified xsi:type="dcterms:W3CDTF">2026-09-13T13:40:56Z</dcterms:modified>
</cp:coreProperties>
</file>