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I built an AI system that processes customer complaint documents end to end. I will show you the business problem, the architecture, the code that matters, and then run it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work is repetitive, slow and inconsistent between agents. And because the input is free text in three different file formats, you cannot solve it with a rule-based parser — which is exactly why an LLM is the right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is produced by one command. Three artefacts per document, plus a consolidated CSV that an operations team would actually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small modules, each with one job. app.py runs the batch. document_reader turns files into text. workflow orchestrates. ai_tasks holds the prompts and the LLM calls. models defines what the model must return. config holds every setting. Nothing depends on app.py, which is why the whole thing is testable.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orchestration requirement. Extraction is a genuine sequential dependency. The email and the summary are not dependent on each other, so I draw two edges out of extract and LangGraph runs them together. Each document finishes noticeably faster.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single most important idea in the project. I do not ask for text and then parse it. with_structured_output binds the Pydantic class to the model, so it has to return exactly those fields, and LangChain validates the reply before my code sees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Fabricated detail is the central risk here. Four measures work together: the shared rule, structured output, optional fields that default to None, and the fact that the two generation tasks receive the validated extraction rather than the raw document.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principle throughout is that a failure must end up visible in the output rather than quietly reducing the number of rows in the report. I also check for the API key before processing anything, so a missing key costs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choice is deliberate. gpt-4o-mini because it supports structured output well and is cheap. LangGraph because the parallelism is real, not decorative. Pydantic because it is both the schema and the validation.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at the escalate column — the system worked that out from the meaning of the text. And the last row is the interesting one: it is an enquiry, not a complaint, which a keyword rule would get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tests need no API key, which is the detail that makes continuous integration possible — GitHub can run the full suite on every push without a secret and without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twelve assessed skills, and where to find each one. The project report has this same table with more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would rather state the limits than have the panel find them. The most valuable next step is OCR, because scanned documents are common in the real world; after that, concurrency across documents, since the program is almost entirely waiting on the network.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three design decisions carry most of the value — structured output, explicit orchestration, and error handling that keeps failures visible. Happy to take questions, and I can run it live on any document you would like to give 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A1B4D"/>
        </a:solidFill>
      </p:bgPr>
    </p:bg>
    <p:spTree>
      <p:nvGrpSpPr>
        <p:cNvPr id="1" name=""/>
        <p:cNvGrpSpPr/>
        <p:nvPr/>
      </p:nvGrpSpPr>
      <p:grpSpPr>
        <a:xfrm>
          <a:off x="0" y="0"/>
          <a:ext cx="0" cy="0"/>
          <a:chOff x="0" y="0"/>
          <a:chExt cx="0" cy="0"/>
        </a:xfrm>
      </p:grpSpPr>
      <p:sp>
        <p:nvSpPr>
          <p:cNvPr id="2" name="Shape 0"/>
          <p:cNvSpPr/>
          <p:nvPr/>
        </p:nvSpPr>
        <p:spPr>
          <a:xfrm>
            <a:off x="10241280" y="-1371600"/>
            <a:ext cx="3840480" cy="3840480"/>
          </a:xfrm>
          <a:prstGeom prst="ellipse">
            <a:avLst/>
          </a:prstGeom>
          <a:solidFill>
            <a:srgbClr val="6B46C1"/>
          </a:solidFill>
          <a:ln/>
        </p:spPr>
      </p:sp>
      <p:sp>
        <p:nvSpPr>
          <p:cNvPr id="3" name="Shape 1"/>
          <p:cNvSpPr/>
          <p:nvPr/>
        </p:nvSpPr>
        <p:spPr>
          <a:xfrm>
            <a:off x="10881360" y="5120640"/>
            <a:ext cx="2743200" cy="2743200"/>
          </a:xfrm>
          <a:prstGeom prst="ellipse">
            <a:avLst/>
          </a:prstGeom>
          <a:solidFill>
            <a:srgbClr val="6B46C1"/>
          </a:solidFill>
          <a:ln/>
        </p:spPr>
      </p:sp>
      <p:sp>
        <p:nvSpPr>
          <p:cNvPr id="4" name="Text 2"/>
          <p:cNvSpPr txBox="1"/>
          <p:nvPr/>
        </p:nvSpPr>
        <p:spPr>
          <a:xfrm>
            <a:off x="822960" y="1417320"/>
            <a:ext cx="7315200" cy="274320"/>
          </a:xfrm>
          <a:prstGeom prst="rect">
            <a:avLst/>
          </a:prstGeom>
          <a:noFill/>
          <a:ln/>
        </p:spPr>
        <p:txBody>
          <a:bodyPr wrap="square" lIns="0" tIns="0" rIns="0" bIns="0" rtlCol="0" anchor="ctr"/>
          <a:lstStyle/>
          <a:p>
            <a:pPr indent="0" marL="0">
              <a:buNone/>
            </a:pPr>
            <a:r>
              <a:rPr lang="en-US" sz="1300" b="1" spc="300" kern="0" dirty="0">
                <a:solidFill>
                  <a:srgbClr val="CFC4EE"/>
                </a:solidFill>
                <a:latin typeface="Calibri" pitchFamily="34" charset="0"/>
                <a:ea typeface="Calibri" pitchFamily="34" charset="-122"/>
                <a:cs typeface="Calibri" pitchFamily="34" charset="-120"/>
              </a:rPr>
              <a:t>FINAL PROJECT 1</a:t>
            </a:r>
            <a:endParaRPr lang="en-US" sz="1300" dirty="0"/>
          </a:p>
        </p:txBody>
      </p:sp>
      <p:sp>
        <p:nvSpPr>
          <p:cNvPr id="5" name="Text 3"/>
          <p:cNvSpPr txBox="1"/>
          <p:nvPr/>
        </p:nvSpPr>
        <p:spPr>
          <a:xfrm>
            <a:off x="822960" y="1874520"/>
            <a:ext cx="10515600" cy="77724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AI Customer Complaint</a:t>
            </a:r>
            <a:endParaRPr lang="en-US" sz="4400" dirty="0"/>
          </a:p>
        </p:txBody>
      </p:sp>
      <p:sp>
        <p:nvSpPr>
          <p:cNvPr id="6" name="Text 4"/>
          <p:cNvSpPr txBox="1"/>
          <p:nvPr/>
        </p:nvSpPr>
        <p:spPr>
          <a:xfrm>
            <a:off x="822960" y="2606040"/>
            <a:ext cx="10515600" cy="77724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&amp; Case Processing System</a:t>
            </a:r>
            <a:endParaRPr lang="en-US" sz="4400" dirty="0"/>
          </a:p>
        </p:txBody>
      </p:sp>
      <p:sp>
        <p:nvSpPr>
          <p:cNvPr id="7" name="Text 5"/>
          <p:cNvSpPr txBox="1"/>
          <p:nvPr/>
        </p:nvSpPr>
        <p:spPr>
          <a:xfrm>
            <a:off x="822960" y="3520440"/>
            <a:ext cx="8778240" cy="640080"/>
          </a:xfrm>
          <a:prstGeom prst="rect">
            <a:avLst/>
          </a:prstGeom>
          <a:noFill/>
          <a:ln/>
        </p:spPr>
        <p:txBody>
          <a:bodyPr wrap="square" lIns="0" tIns="0" rIns="0" bIns="0" rtlCol="0" anchor="ctr"/>
          <a:lstStyle/>
          <a:p>
            <a:pPr indent="0" marL="0">
              <a:lnSpc>
                <a:spcPts val="2200"/>
              </a:lnSpc>
              <a:buNone/>
            </a:pPr>
            <a:r>
              <a:rPr lang="en-US" sz="1500" dirty="0">
                <a:solidFill>
                  <a:srgbClr val="CFC4EE"/>
                </a:solidFill>
                <a:latin typeface="Calibri" pitchFamily="34" charset="0"/>
                <a:ea typeface="Calibri" pitchFamily="34" charset="-122"/>
                <a:cs typeface="Calibri" pitchFamily="34" charset="-120"/>
              </a:rPr>
              <a:t>A GenAI batch workflow that reads complaint documents and produces structured data, customer emails and management summaries</a:t>
            </a:r>
            <a:endParaRPr lang="en-US" sz="1500" dirty="0"/>
          </a:p>
        </p:txBody>
      </p:sp>
      <p:sp>
        <p:nvSpPr>
          <p:cNvPr id="8" name="Text 6"/>
          <p:cNvSpPr txBox="1"/>
          <p:nvPr/>
        </p:nvSpPr>
        <p:spPr>
          <a:xfrm>
            <a:off x="822960" y="4343400"/>
            <a:ext cx="877824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Python  ·  OpenAI  ·  LangChain  ·  LangGraph  ·  Pydantic</a:t>
            </a:r>
            <a:endParaRPr lang="en-US" sz="1300" dirty="0"/>
          </a:p>
        </p:txBody>
      </p:sp>
      <p:sp>
        <p:nvSpPr>
          <p:cNvPr id="9" name="Text 7"/>
          <p:cNvSpPr txBox="1"/>
          <p:nvPr/>
        </p:nvSpPr>
        <p:spPr>
          <a:xfrm>
            <a:off x="822960" y="5349240"/>
            <a:ext cx="8778240" cy="8229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Ashish Jain</a:t>
            </a:r>
            <a:endParaRPr lang="en-US" sz="1500" dirty="0"/>
          </a:p>
          <a:p>
            <a:pPr indent="0" marL="0">
              <a:buNone/>
            </a:pPr>
            <a:r>
              <a:rPr lang="en-US" sz="1200" dirty="0">
                <a:solidFill>
                  <a:srgbClr val="CFC4EE"/>
                </a:solidFill>
                <a:latin typeface="Calibri" pitchFamily="34" charset="0"/>
                <a:ea typeface="Calibri" pitchFamily="34" charset="-122"/>
                <a:cs typeface="Calibri" pitchFamily="34" charset="-120"/>
              </a:rPr>
              <a:t>Certification Programme in Generative and Agentic AI Development</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56032"/>
          </a:xfrm>
          <a:prstGeom prst="rect">
            <a:avLst/>
          </a:prstGeom>
          <a:noFill/>
          <a:ln/>
        </p:spPr>
        <p:txBody>
          <a:bodyPr wrap="square" lIns="0" tIns="0" rIns="0" bIns="0" rtlCol="0" anchor="ctr"/>
          <a:lstStyle/>
          <a:p>
            <a:pPr indent="0" marL="0">
              <a:buNone/>
            </a:pPr>
            <a:r>
              <a:rPr lang="en-US" sz="1100" b="1" spc="200" kern="0" dirty="0">
                <a:solidFill>
                  <a:srgbClr val="6B46C1"/>
                </a:solidFill>
                <a:latin typeface="Calibri" pitchFamily="34" charset="0"/>
                <a:ea typeface="Calibri" pitchFamily="34" charset="-122"/>
                <a:cs typeface="Calibri" pitchFamily="34" charset="-120"/>
              </a:rPr>
              <a:t>THE PROBLEM</a:t>
            </a:r>
            <a:endParaRPr lang="en-US" sz="1100" dirty="0"/>
          </a:p>
        </p:txBody>
      </p:sp>
      <p:sp>
        <p:nvSpPr>
          <p:cNvPr id="3" name="Text 1"/>
          <p:cNvSpPr txBox="1"/>
          <p:nvPr/>
        </p:nvSpPr>
        <p:spPr>
          <a:xfrm>
            <a:off x="640080" y="658368"/>
            <a:ext cx="10881360" cy="685800"/>
          </a:xfrm>
          <a:prstGeom prst="rect">
            <a:avLst/>
          </a:prstGeom>
          <a:noFill/>
          <a:ln/>
        </p:spPr>
        <p:txBody>
          <a:bodyPr wrap="square" lIns="0" tIns="0" rIns="0" bIns="0" rtlCol="0" anchor="ctr"/>
          <a:lstStyle/>
          <a:p>
            <a:pPr indent="0" marL="0">
              <a:buNone/>
            </a:pPr>
            <a:r>
              <a:rPr lang="en-US" sz="3200" b="1" dirty="0">
                <a:solidFill>
                  <a:srgbClr val="2A1B4D"/>
                </a:solidFill>
                <a:latin typeface="Cambria" pitchFamily="34" charset="0"/>
                <a:ea typeface="Cambria" pitchFamily="34" charset="-122"/>
                <a:cs typeface="Cambria" pitchFamily="34" charset="-120"/>
              </a:rPr>
              <a:t>Reading complaints by hand does not scale</a:t>
            </a:r>
            <a:endParaRPr lang="en-US" sz="3200" dirty="0"/>
          </a:p>
        </p:txBody>
      </p:sp>
      <p:sp>
        <p:nvSpPr>
          <p:cNvPr id="4" name="Shape 2"/>
          <p:cNvSpPr/>
          <p:nvPr/>
        </p:nvSpPr>
        <p:spPr>
          <a:xfrm>
            <a:off x="640080" y="1600200"/>
            <a:ext cx="5120640" cy="2880360"/>
          </a:xfrm>
          <a:prstGeom prst="roundRect">
            <a:avLst>
              <a:gd name="adj" fmla="val 2857"/>
            </a:avLst>
          </a:prstGeom>
          <a:solidFill>
            <a:srgbClr val="F4F1FB"/>
          </a:solidFill>
          <a:ln w="12700">
            <a:solidFill>
              <a:srgbClr val="F4F1FB"/>
            </a:solidFill>
            <a:prstDash val="solid"/>
          </a:ln>
          <a:effectLst>
            <a:outerShdw sx="100000" sy="100000" kx="0" ky="0" algn="bl" rotWithShape="0" blurRad="101600" dist="25400" dir="5400000">
              <a:srgbClr val="B9B2CE">
                <a:alpha val="35000"/>
              </a:srgbClr>
            </a:outerShdw>
          </a:effectLst>
        </p:spPr>
      </p:sp>
      <p:sp>
        <p:nvSpPr>
          <p:cNvPr id="5" name="Text 3"/>
          <p:cNvSpPr txBox="1"/>
          <p:nvPr/>
        </p:nvSpPr>
        <p:spPr>
          <a:xfrm>
            <a:off x="960120" y="1783080"/>
            <a:ext cx="4480560" cy="320040"/>
          </a:xfrm>
          <a:prstGeom prst="rect">
            <a:avLst/>
          </a:prstGeom>
          <a:noFill/>
          <a:ln/>
        </p:spPr>
        <p:txBody>
          <a:bodyPr wrap="square" lIns="0" tIns="0" rIns="0" bIns="0" rtlCol="0" anchor="ctr"/>
          <a:lstStyle/>
          <a:p>
            <a:pPr indent="0" marL="0">
              <a:buNone/>
            </a:pPr>
            <a:r>
              <a:rPr lang="en-US" sz="1600" b="1" dirty="0">
                <a:solidFill>
                  <a:srgbClr val="2A1B4D"/>
                </a:solidFill>
                <a:latin typeface="Calibri" pitchFamily="34" charset="0"/>
                <a:ea typeface="Calibri" pitchFamily="34" charset="-122"/>
                <a:cs typeface="Calibri" pitchFamily="34" charset="-120"/>
              </a:rPr>
              <a:t>What an agent does today</a:t>
            </a:r>
            <a:endParaRPr lang="en-US" sz="1600" dirty="0"/>
          </a:p>
        </p:txBody>
      </p:sp>
      <p:sp>
        <p:nvSpPr>
          <p:cNvPr id="6" name="Text 4"/>
          <p:cNvSpPr txBox="1"/>
          <p:nvPr/>
        </p:nvSpPr>
        <p:spPr>
          <a:xfrm>
            <a:off x="960120" y="2240280"/>
            <a:ext cx="4480560" cy="3063240"/>
          </a:xfrm>
          <a:prstGeom prst="rect">
            <a:avLst/>
          </a:prstGeom>
          <a:noFill/>
          <a:ln/>
        </p:spPr>
        <p:txBody>
          <a:bodyPr wrap="square" lIns="0" tIns="0" rIns="0" bIns="0" rtlCol="0" anchor="t"/>
          <a:lstStyle/>
          <a:p>
            <a:pPr marL="342900" indent="-342900">
              <a:lnSpc>
                <a:spcPts val="1900"/>
              </a:lnSpc>
              <a:spcAft>
                <a:spcPts val="1000"/>
              </a:spcAft>
              <a:buSzPct val="100000"/>
              <a:buChar char="•"/>
            </a:pPr>
            <a:r>
              <a:rPr lang="en-US" sz="1400" dirty="0">
                <a:solidFill>
                  <a:srgbClr val="241F31"/>
                </a:solidFill>
                <a:latin typeface="Calibri" pitchFamily="34" charset="0"/>
                <a:ea typeface="Calibri" pitchFamily="34" charset="-122"/>
                <a:cs typeface="Calibri" pitchFamily="34" charset="-120"/>
              </a:rPr>
              <a:t>Read the document — a PDF, a Word form or a transcript</a:t>
            </a:r>
            <a:endParaRPr lang="en-US" sz="1400" dirty="0"/>
          </a:p>
          <a:p>
            <a:pPr marL="342900" indent="-342900">
              <a:lnSpc>
                <a:spcPts val="1900"/>
              </a:lnSpc>
              <a:spcAft>
                <a:spcPts val="1000"/>
              </a:spcAft>
              <a:buSzPct val="100000"/>
              <a:buChar char="•"/>
            </a:pPr>
            <a:r>
              <a:rPr lang="en-US" sz="1400" dirty="0">
                <a:solidFill>
                  <a:srgbClr val="241F31"/>
                </a:solidFill>
                <a:latin typeface="Calibri" pitchFamily="34" charset="0"/>
                <a:ea typeface="Calibri" pitchFamily="34" charset="-122"/>
                <a:cs typeface="Calibri" pitchFamily="34" charset="-120"/>
              </a:rPr>
              <a:t>Type the customer and case details into a system</a:t>
            </a:r>
            <a:endParaRPr lang="en-US" sz="1400" dirty="0"/>
          </a:p>
          <a:p>
            <a:pPr marL="342900" indent="-342900">
              <a:lnSpc>
                <a:spcPts val="1900"/>
              </a:lnSpc>
              <a:spcAft>
                <a:spcPts val="1000"/>
              </a:spcAft>
              <a:buSzPct val="100000"/>
              <a:buChar char="•"/>
            </a:pPr>
            <a:r>
              <a:rPr lang="en-US" sz="1400" dirty="0">
                <a:solidFill>
                  <a:srgbClr val="241F31"/>
                </a:solidFill>
                <a:latin typeface="Calibri" pitchFamily="34" charset="0"/>
                <a:ea typeface="Calibri" pitchFamily="34" charset="-122"/>
                <a:cs typeface="Calibri" pitchFamily="34" charset="-120"/>
              </a:rPr>
              <a:t>Decide whether the case needs escalation</a:t>
            </a:r>
            <a:endParaRPr lang="en-US" sz="1400" dirty="0"/>
          </a:p>
          <a:p>
            <a:pPr marL="342900" indent="-342900">
              <a:lnSpc>
                <a:spcPts val="1900"/>
              </a:lnSpc>
              <a:spcAft>
                <a:spcPts val="1000"/>
              </a:spcAft>
              <a:buSzPct val="100000"/>
              <a:buChar char="•"/>
            </a:pPr>
            <a:r>
              <a:rPr lang="en-US" sz="1400" dirty="0">
                <a:solidFill>
                  <a:srgbClr val="241F31"/>
                </a:solidFill>
                <a:latin typeface="Calibri" pitchFamily="34" charset="0"/>
                <a:ea typeface="Calibri" pitchFamily="34" charset="-122"/>
                <a:cs typeface="Calibri" pitchFamily="34" charset="-120"/>
              </a:rPr>
              <a:t>Write a reply to the customer</a:t>
            </a:r>
            <a:endParaRPr lang="en-US" sz="1400" dirty="0"/>
          </a:p>
          <a:p>
            <a:pPr marL="342900" indent="-342900">
              <a:lnSpc>
                <a:spcPts val="1900"/>
              </a:lnSpc>
              <a:spcAft>
                <a:spcPts val="1000"/>
              </a:spcAft>
              <a:buSzPct val="100000"/>
              <a:buChar char="•"/>
            </a:pPr>
            <a:r>
              <a:rPr lang="en-US" sz="1400" dirty="0">
                <a:solidFill>
                  <a:srgbClr val="241F31"/>
                </a:solidFill>
                <a:latin typeface="Calibri" pitchFamily="34" charset="0"/>
                <a:ea typeface="Calibri" pitchFamily="34" charset="-122"/>
                <a:cs typeface="Calibri" pitchFamily="34" charset="-120"/>
              </a:rPr>
              <a:t>Write a summary note for the manager</a:t>
            </a:r>
            <a:endParaRPr lang="en-US" sz="1400" dirty="0"/>
          </a:p>
        </p:txBody>
      </p:sp>
      <p:sp>
        <p:nvSpPr>
          <p:cNvPr id="7" name="Text 5"/>
          <p:cNvSpPr txBox="1"/>
          <p:nvPr/>
        </p:nvSpPr>
        <p:spPr>
          <a:xfrm>
            <a:off x="6263640" y="1783080"/>
            <a:ext cx="5303520" cy="320040"/>
          </a:xfrm>
          <a:prstGeom prst="rect">
            <a:avLst/>
          </a:prstGeom>
          <a:noFill/>
          <a:ln/>
        </p:spPr>
        <p:txBody>
          <a:bodyPr wrap="square" lIns="0" tIns="0" rIns="0" bIns="0" rtlCol="0" anchor="ctr"/>
          <a:lstStyle/>
          <a:p>
            <a:pPr indent="0" marL="0">
              <a:buNone/>
            </a:pPr>
            <a:r>
              <a:rPr lang="en-US" sz="1600" b="1" dirty="0">
                <a:solidFill>
                  <a:srgbClr val="2A1B4D"/>
                </a:solidFill>
                <a:latin typeface="Calibri" pitchFamily="34" charset="0"/>
                <a:ea typeface="Calibri" pitchFamily="34" charset="-122"/>
                <a:cs typeface="Calibri" pitchFamily="34" charset="-120"/>
              </a:rPr>
              <a:t>Why it is a poor fit for a human, and a good fit for an LLM</a:t>
            </a:r>
            <a:endParaRPr lang="en-US" sz="1600" dirty="0"/>
          </a:p>
        </p:txBody>
      </p:sp>
      <p:sp>
        <p:nvSpPr>
          <p:cNvPr id="8" name="Shape 6"/>
          <p:cNvSpPr/>
          <p:nvPr/>
        </p:nvSpPr>
        <p:spPr>
          <a:xfrm>
            <a:off x="6263640" y="2286000"/>
            <a:ext cx="420624" cy="420624"/>
          </a:xfrm>
          <a:prstGeom prst="ellipse">
            <a:avLst/>
          </a:prstGeom>
          <a:solidFill>
            <a:srgbClr val="6B46C1"/>
          </a:solidFill>
          <a:ln/>
        </p:spPr>
      </p:sp>
      <p:sp>
        <p:nvSpPr>
          <p:cNvPr id="9" name="Text 7"/>
          <p:cNvSpPr txBox="1"/>
          <p:nvPr/>
        </p:nvSpPr>
        <p:spPr>
          <a:xfrm>
            <a:off x="6263640" y="22860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10" name="Text 8"/>
          <p:cNvSpPr txBox="1"/>
          <p:nvPr/>
        </p:nvSpPr>
        <p:spPr>
          <a:xfrm>
            <a:off x="6858000" y="2258568"/>
            <a:ext cx="4709160" cy="292608"/>
          </a:xfrm>
          <a:prstGeom prst="rect">
            <a:avLst/>
          </a:prstGeom>
          <a:noFill/>
          <a:ln/>
        </p:spPr>
        <p:txBody>
          <a:bodyPr wrap="square" lIns="0" tIns="0" rIns="0" bIns="0" rtlCol="0" anchor="ctr"/>
          <a:lstStyle/>
          <a:p>
            <a:pPr indent="0" marL="0">
              <a:buNone/>
            </a:pPr>
            <a:r>
              <a:rPr lang="en-US" sz="1600" b="1" dirty="0">
                <a:solidFill>
                  <a:srgbClr val="241F31"/>
                </a:solidFill>
                <a:latin typeface="Calibri" pitchFamily="34" charset="0"/>
                <a:ea typeface="Calibri" pitchFamily="34" charset="-122"/>
                <a:cs typeface="Calibri" pitchFamily="34" charset="-120"/>
              </a:rPr>
              <a:t>Repetitive</a:t>
            </a:r>
            <a:endParaRPr lang="en-US" sz="1600" dirty="0"/>
          </a:p>
        </p:txBody>
      </p:sp>
      <p:sp>
        <p:nvSpPr>
          <p:cNvPr id="11" name="Text 9"/>
          <p:cNvSpPr txBox="1"/>
          <p:nvPr/>
        </p:nvSpPr>
        <p:spPr>
          <a:xfrm>
            <a:off x="6858000" y="2560320"/>
            <a:ext cx="4709160" cy="713232"/>
          </a:xfrm>
          <a:prstGeom prst="rect">
            <a:avLst/>
          </a:prstGeom>
          <a:noFill/>
          <a:ln/>
        </p:spPr>
        <p:txBody>
          <a:bodyPr wrap="square" lIns="0" tIns="0" rIns="0" bIns="0" rtlCol="0" anchor="t"/>
          <a:lstStyle/>
          <a:p>
            <a:pPr indent="0" marL="0">
              <a:lnSpc>
                <a:spcPts val="1700"/>
              </a:lnSpc>
              <a:buNone/>
            </a:pPr>
            <a:r>
              <a:rPr lang="en-US" sz="1300" dirty="0">
                <a:solidFill>
                  <a:srgbClr val="5B5670"/>
                </a:solidFill>
                <a:latin typeface="Calibri" pitchFamily="34" charset="0"/>
                <a:ea typeface="Calibri" pitchFamily="34" charset="-122"/>
                <a:cs typeface="Calibri" pitchFamily="34" charset="-120"/>
              </a:rPr>
              <a:t>The same five steps for every single complaint that arrives.</a:t>
            </a:r>
            <a:endParaRPr lang="en-US" sz="1300" dirty="0"/>
          </a:p>
        </p:txBody>
      </p:sp>
      <p:sp>
        <p:nvSpPr>
          <p:cNvPr id="12" name="Shape 10"/>
          <p:cNvSpPr/>
          <p:nvPr/>
        </p:nvSpPr>
        <p:spPr>
          <a:xfrm>
            <a:off x="6263640" y="3383280"/>
            <a:ext cx="420624" cy="420624"/>
          </a:xfrm>
          <a:prstGeom prst="ellipse">
            <a:avLst/>
          </a:prstGeom>
          <a:solidFill>
            <a:srgbClr val="6B46C1"/>
          </a:solidFill>
          <a:ln/>
        </p:spPr>
      </p:sp>
      <p:sp>
        <p:nvSpPr>
          <p:cNvPr id="13" name="Text 11"/>
          <p:cNvSpPr txBox="1"/>
          <p:nvPr/>
        </p:nvSpPr>
        <p:spPr>
          <a:xfrm>
            <a:off x="6263640" y="338328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4" name="Text 12"/>
          <p:cNvSpPr txBox="1"/>
          <p:nvPr/>
        </p:nvSpPr>
        <p:spPr>
          <a:xfrm>
            <a:off x="6858000" y="3355848"/>
            <a:ext cx="4709160" cy="292608"/>
          </a:xfrm>
          <a:prstGeom prst="rect">
            <a:avLst/>
          </a:prstGeom>
          <a:noFill/>
          <a:ln/>
        </p:spPr>
        <p:txBody>
          <a:bodyPr wrap="square" lIns="0" tIns="0" rIns="0" bIns="0" rtlCol="0" anchor="ctr"/>
          <a:lstStyle/>
          <a:p>
            <a:pPr indent="0" marL="0">
              <a:buNone/>
            </a:pPr>
            <a:r>
              <a:rPr lang="en-US" sz="1600" b="1" dirty="0">
                <a:solidFill>
                  <a:srgbClr val="241F31"/>
                </a:solidFill>
                <a:latin typeface="Calibri" pitchFamily="34" charset="0"/>
                <a:ea typeface="Calibri" pitchFamily="34" charset="-122"/>
                <a:cs typeface="Calibri" pitchFamily="34" charset="-120"/>
              </a:rPr>
              <a:t>Inconsistent</a:t>
            </a:r>
            <a:endParaRPr lang="en-US" sz="1600" dirty="0"/>
          </a:p>
        </p:txBody>
      </p:sp>
      <p:sp>
        <p:nvSpPr>
          <p:cNvPr id="15" name="Text 13"/>
          <p:cNvSpPr txBox="1"/>
          <p:nvPr/>
        </p:nvSpPr>
        <p:spPr>
          <a:xfrm>
            <a:off x="6858000" y="3657600"/>
            <a:ext cx="4709160" cy="713232"/>
          </a:xfrm>
          <a:prstGeom prst="rect">
            <a:avLst/>
          </a:prstGeom>
          <a:noFill/>
          <a:ln/>
        </p:spPr>
        <p:txBody>
          <a:bodyPr wrap="square" lIns="0" tIns="0" rIns="0" bIns="0" rtlCol="0" anchor="t"/>
          <a:lstStyle/>
          <a:p>
            <a:pPr indent="0" marL="0">
              <a:lnSpc>
                <a:spcPts val="1700"/>
              </a:lnSpc>
              <a:buNone/>
            </a:pPr>
            <a:r>
              <a:rPr lang="en-US" sz="1300" dirty="0">
                <a:solidFill>
                  <a:srgbClr val="5B5670"/>
                </a:solidFill>
                <a:latin typeface="Calibri" pitchFamily="34" charset="0"/>
                <a:ea typeface="Calibri" pitchFamily="34" charset="-122"/>
                <a:cs typeface="Calibri" pitchFamily="34" charset="-120"/>
              </a:rPr>
              <a:t>Two agents categorise and escalate the same case differently.</a:t>
            </a:r>
            <a:endParaRPr lang="en-US" sz="1300" dirty="0"/>
          </a:p>
        </p:txBody>
      </p:sp>
      <p:sp>
        <p:nvSpPr>
          <p:cNvPr id="16" name="Shape 14"/>
          <p:cNvSpPr/>
          <p:nvPr/>
        </p:nvSpPr>
        <p:spPr>
          <a:xfrm>
            <a:off x="6263640" y="4480560"/>
            <a:ext cx="420624" cy="420624"/>
          </a:xfrm>
          <a:prstGeom prst="ellipse">
            <a:avLst/>
          </a:prstGeom>
          <a:solidFill>
            <a:srgbClr val="6B46C1"/>
          </a:solidFill>
          <a:ln/>
        </p:spPr>
      </p:sp>
      <p:sp>
        <p:nvSpPr>
          <p:cNvPr id="17" name="Text 15"/>
          <p:cNvSpPr txBox="1"/>
          <p:nvPr/>
        </p:nvSpPr>
        <p:spPr>
          <a:xfrm>
            <a:off x="6263640" y="448056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8" name="Text 16"/>
          <p:cNvSpPr txBox="1"/>
          <p:nvPr/>
        </p:nvSpPr>
        <p:spPr>
          <a:xfrm>
            <a:off x="6858000" y="4453128"/>
            <a:ext cx="4709160" cy="292608"/>
          </a:xfrm>
          <a:prstGeom prst="rect">
            <a:avLst/>
          </a:prstGeom>
          <a:noFill/>
          <a:ln/>
        </p:spPr>
        <p:txBody>
          <a:bodyPr wrap="square" lIns="0" tIns="0" rIns="0" bIns="0" rtlCol="0" anchor="ctr"/>
          <a:lstStyle/>
          <a:p>
            <a:pPr indent="0" marL="0">
              <a:buNone/>
            </a:pPr>
            <a:r>
              <a:rPr lang="en-US" sz="1600" b="1" dirty="0">
                <a:solidFill>
                  <a:srgbClr val="241F31"/>
                </a:solidFill>
                <a:latin typeface="Calibri" pitchFamily="34" charset="0"/>
                <a:ea typeface="Calibri" pitchFamily="34" charset="-122"/>
                <a:cs typeface="Calibri" pitchFamily="34" charset="-120"/>
              </a:rPr>
              <a:t>Unstructured input</a:t>
            </a:r>
            <a:endParaRPr lang="en-US" sz="1600" dirty="0"/>
          </a:p>
        </p:txBody>
      </p:sp>
      <p:sp>
        <p:nvSpPr>
          <p:cNvPr id="19" name="Text 17"/>
          <p:cNvSpPr txBox="1"/>
          <p:nvPr/>
        </p:nvSpPr>
        <p:spPr>
          <a:xfrm>
            <a:off x="6858000" y="4754880"/>
            <a:ext cx="4709160" cy="713232"/>
          </a:xfrm>
          <a:prstGeom prst="rect">
            <a:avLst/>
          </a:prstGeom>
          <a:noFill/>
          <a:ln/>
        </p:spPr>
        <p:txBody>
          <a:bodyPr wrap="square" lIns="0" tIns="0" rIns="0" bIns="0" rtlCol="0" anchor="t"/>
          <a:lstStyle/>
          <a:p>
            <a:pPr indent="0" marL="0">
              <a:lnSpc>
                <a:spcPts val="1700"/>
              </a:lnSpc>
              <a:buNone/>
            </a:pPr>
            <a:r>
              <a:rPr lang="en-US" sz="1300" dirty="0">
                <a:solidFill>
                  <a:srgbClr val="5B5670"/>
                </a:solidFill>
                <a:latin typeface="Calibri" pitchFamily="34" charset="0"/>
                <a:ea typeface="Calibri" pitchFamily="34" charset="-122"/>
                <a:cs typeface="Calibri" pitchFamily="34" charset="-120"/>
              </a:rPr>
              <a:t>Nothing is in a fixed position, so a rule-based parser cannot work.</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56032"/>
          </a:xfrm>
          <a:prstGeom prst="rect">
            <a:avLst/>
          </a:prstGeom>
          <a:noFill/>
          <a:ln/>
        </p:spPr>
        <p:txBody>
          <a:bodyPr wrap="square" lIns="0" tIns="0" rIns="0" bIns="0" rtlCol="0" anchor="ctr"/>
          <a:lstStyle/>
          <a:p>
            <a:pPr indent="0" marL="0">
              <a:buNone/>
            </a:pPr>
            <a:r>
              <a:rPr lang="en-US" sz="1100" b="1" spc="200" kern="0" dirty="0">
                <a:solidFill>
                  <a:srgbClr val="6B46C1"/>
                </a:solidFill>
                <a:latin typeface="Calibri" pitchFamily="34" charset="0"/>
                <a:ea typeface="Calibri" pitchFamily="34" charset="-122"/>
                <a:cs typeface="Calibri" pitchFamily="34" charset="-120"/>
              </a:rPr>
              <a:t>THE SOLUTION</a:t>
            </a:r>
            <a:endParaRPr lang="en-US" sz="1100" dirty="0"/>
          </a:p>
        </p:txBody>
      </p:sp>
      <p:sp>
        <p:nvSpPr>
          <p:cNvPr id="3" name="Text 1"/>
          <p:cNvSpPr txBox="1"/>
          <p:nvPr/>
        </p:nvSpPr>
        <p:spPr>
          <a:xfrm>
            <a:off x="640080" y="658368"/>
            <a:ext cx="10881360" cy="685800"/>
          </a:xfrm>
          <a:prstGeom prst="rect">
            <a:avLst/>
          </a:prstGeom>
          <a:noFill/>
          <a:ln/>
        </p:spPr>
        <p:txBody>
          <a:bodyPr wrap="square" lIns="0" tIns="0" rIns="0" bIns="0" rtlCol="0" anchor="ctr"/>
          <a:lstStyle/>
          <a:p>
            <a:pPr indent="0" marL="0">
              <a:buNone/>
            </a:pPr>
            <a:r>
              <a:rPr lang="en-US" sz="3200" b="1" dirty="0">
                <a:solidFill>
                  <a:srgbClr val="2A1B4D"/>
                </a:solidFill>
                <a:latin typeface="Cambria" pitchFamily="34" charset="0"/>
                <a:ea typeface="Cambria" pitchFamily="34" charset="-122"/>
                <a:cs typeface="Cambria" pitchFamily="34" charset="-120"/>
              </a:rPr>
              <a:t>One command, three artefacts per document</a:t>
            </a:r>
            <a:endParaRPr lang="en-US" sz="3200" dirty="0"/>
          </a:p>
        </p:txBody>
      </p:sp>
      <p:sp>
        <p:nvSpPr>
          <p:cNvPr id="4" name="Text 2"/>
          <p:cNvSpPr txBox="1"/>
          <p:nvPr/>
        </p:nvSpPr>
        <p:spPr>
          <a:xfrm>
            <a:off x="640080" y="1463040"/>
            <a:ext cx="2926080" cy="384048"/>
          </a:xfrm>
          <a:prstGeom prst="rect">
            <a:avLst/>
          </a:prstGeom>
          <a:solidFill>
            <a:srgbClr val="2A1B4D"/>
          </a:solidFill>
          <a:ln/>
        </p:spPr>
        <p:txBody>
          <a:bodyPr wrap="square" lIns="76200" tIns="76200" rIns="76200" bIns="7620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python app.py</a:t>
            </a:r>
            <a:endParaRPr lang="en-US" sz="1600" dirty="0"/>
          </a:p>
        </p:txBody>
      </p:sp>
      <p:sp>
        <p:nvSpPr>
          <p:cNvPr id="5" name="Text 3"/>
          <p:cNvSpPr txBox="1"/>
          <p:nvPr/>
        </p:nvSpPr>
        <p:spPr>
          <a:xfrm>
            <a:off x="3749040" y="1481328"/>
            <a:ext cx="7772400" cy="365760"/>
          </a:xfrm>
          <a:prstGeom prst="rect">
            <a:avLst/>
          </a:prstGeom>
          <a:noFill/>
          <a:ln/>
        </p:spPr>
        <p:txBody>
          <a:bodyPr wrap="square" lIns="0" tIns="0" rIns="0" bIns="0" rtlCol="0" anchor="ctr"/>
          <a:lstStyle/>
          <a:p>
            <a:pPr indent="0" marL="0">
              <a:buNone/>
            </a:pPr>
            <a:r>
              <a:rPr lang="en-US" sz="1400" i="1" dirty="0">
                <a:solidFill>
                  <a:srgbClr val="5B5670"/>
                </a:solidFill>
                <a:latin typeface="Calibri" pitchFamily="34" charset="0"/>
                <a:ea typeface="Calibri" pitchFamily="34" charset="-122"/>
                <a:cs typeface="Calibri" pitchFamily="34" charset="-120"/>
              </a:rPr>
              <a:t>reads every .pdf, .docx and .txt file in the data/ folder</a:t>
            </a:r>
            <a:endParaRPr lang="en-US" sz="1400" dirty="0"/>
          </a:p>
        </p:txBody>
      </p:sp>
      <p:sp>
        <p:nvSpPr>
          <p:cNvPr id="6" name="Shape 4"/>
          <p:cNvSpPr/>
          <p:nvPr/>
        </p:nvSpPr>
        <p:spPr>
          <a:xfrm>
            <a:off x="640080" y="2148840"/>
            <a:ext cx="3502152" cy="3017520"/>
          </a:xfrm>
          <a:prstGeom prst="roundRect">
            <a:avLst>
              <a:gd name="adj" fmla="val 2727"/>
            </a:avLst>
          </a:prstGeom>
          <a:solidFill>
            <a:srgbClr val="F4F1FB"/>
          </a:solidFill>
          <a:ln w="12700">
            <a:solidFill>
              <a:srgbClr val="F4F1FB"/>
            </a:solidFill>
            <a:prstDash val="solid"/>
          </a:ln>
          <a:effectLst>
            <a:outerShdw sx="100000" sy="100000" kx="0" ky="0" algn="bl" rotWithShape="0" blurRad="101600" dist="25400" dir="5400000">
              <a:srgbClr val="B9B2CE">
                <a:alpha val="35000"/>
              </a:srgbClr>
            </a:outerShdw>
          </a:effectLst>
        </p:spPr>
      </p:sp>
      <p:sp>
        <p:nvSpPr>
          <p:cNvPr id="7" name="Shape 5"/>
          <p:cNvSpPr/>
          <p:nvPr/>
        </p:nvSpPr>
        <p:spPr>
          <a:xfrm>
            <a:off x="932688" y="2395728"/>
            <a:ext cx="420624" cy="420624"/>
          </a:xfrm>
          <a:prstGeom prst="ellipse">
            <a:avLst/>
          </a:prstGeom>
          <a:solidFill>
            <a:srgbClr val="6B46C1"/>
          </a:solidFill>
          <a:ln/>
        </p:spPr>
      </p:sp>
      <p:sp>
        <p:nvSpPr>
          <p:cNvPr id="8" name="Text 6"/>
          <p:cNvSpPr txBox="1"/>
          <p:nvPr/>
        </p:nvSpPr>
        <p:spPr>
          <a:xfrm>
            <a:off x="932688" y="239572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9" name="Text 7"/>
          <p:cNvSpPr txBox="1"/>
          <p:nvPr/>
        </p:nvSpPr>
        <p:spPr>
          <a:xfrm>
            <a:off x="932688" y="2944368"/>
            <a:ext cx="2926080" cy="566928"/>
          </a:xfrm>
          <a:prstGeom prst="rect">
            <a:avLst/>
          </a:prstGeom>
          <a:noFill/>
          <a:ln/>
        </p:spPr>
        <p:txBody>
          <a:bodyPr wrap="square" lIns="0" tIns="0" rIns="0" bIns="0" rtlCol="0" anchor="ctr"/>
          <a:lstStyle/>
          <a:p>
            <a:pPr indent="0" marL="0">
              <a:buNone/>
            </a:pPr>
            <a:r>
              <a:rPr lang="en-US" sz="1600" b="1" dirty="0">
                <a:solidFill>
                  <a:srgbClr val="2A1B4D"/>
                </a:solidFill>
                <a:latin typeface="Calibri" pitchFamily="34" charset="0"/>
                <a:ea typeface="Calibri" pitchFamily="34" charset="-122"/>
                <a:cs typeface="Calibri" pitchFamily="34" charset="-120"/>
              </a:rPr>
              <a:t>Structured case data</a:t>
            </a:r>
            <a:endParaRPr lang="en-US" sz="1600" dirty="0"/>
          </a:p>
        </p:txBody>
      </p:sp>
      <p:sp>
        <p:nvSpPr>
          <p:cNvPr id="10" name="Text 8"/>
          <p:cNvSpPr txBox="1"/>
          <p:nvPr/>
        </p:nvSpPr>
        <p:spPr>
          <a:xfrm>
            <a:off x="932688" y="3520440"/>
            <a:ext cx="2926080" cy="1371600"/>
          </a:xfrm>
          <a:prstGeom prst="rect">
            <a:avLst/>
          </a:prstGeom>
          <a:noFill/>
          <a:ln/>
        </p:spPr>
        <p:txBody>
          <a:bodyPr wrap="square" lIns="0" tIns="0" rIns="0" bIns="0" rtlCol="0" anchor="t"/>
          <a:lstStyle/>
          <a:p>
            <a:pPr indent="0" marL="0">
              <a:lnSpc>
                <a:spcPts val="1700"/>
              </a:lnSpc>
              <a:buNone/>
            </a:pPr>
            <a:r>
              <a:rPr lang="en-US" sz="1250" dirty="0">
                <a:solidFill>
                  <a:srgbClr val="5B5670"/>
                </a:solidFill>
                <a:latin typeface="Calibri" pitchFamily="34" charset="0"/>
                <a:ea typeface="Calibri" pitchFamily="34" charset="-122"/>
                <a:cs typeface="Calibri" pitchFamily="34" charset="-120"/>
              </a:rPr>
              <a:t>Customer name, email, phone, category, issue, resolution, three Yes/No business flags, case status and priority — validated against a schema.</a:t>
            </a:r>
            <a:endParaRPr lang="en-US" sz="1250" dirty="0"/>
          </a:p>
        </p:txBody>
      </p:sp>
      <p:sp>
        <p:nvSpPr>
          <p:cNvPr id="11" name="Text 9"/>
          <p:cNvSpPr txBox="1"/>
          <p:nvPr/>
        </p:nvSpPr>
        <p:spPr>
          <a:xfrm>
            <a:off x="932688" y="4754880"/>
            <a:ext cx="2926080" cy="274320"/>
          </a:xfrm>
          <a:prstGeom prst="rect">
            <a:avLst/>
          </a:prstGeom>
          <a:noFill/>
          <a:ln/>
        </p:spPr>
        <p:txBody>
          <a:bodyPr wrap="square" lIns="0" tIns="0" rIns="0" bIns="0" rtlCol="0" anchor="ctr"/>
          <a:lstStyle/>
          <a:p>
            <a:pPr indent="0" marL="0">
              <a:buNone/>
            </a:pPr>
            <a:r>
              <a:rPr lang="en-US" sz="1100" b="1" dirty="0">
                <a:solidFill>
                  <a:srgbClr val="2F855A"/>
                </a:solidFill>
                <a:latin typeface="Courier New" pitchFamily="34" charset="0"/>
                <a:ea typeface="Courier New" pitchFamily="34" charset="-122"/>
                <a:cs typeface="Courier New" pitchFamily="34" charset="-120"/>
              </a:rPr>
              <a:t>structured_data/*.json</a:t>
            </a:r>
            <a:endParaRPr lang="en-US" sz="1100" dirty="0"/>
          </a:p>
        </p:txBody>
      </p:sp>
      <p:sp>
        <p:nvSpPr>
          <p:cNvPr id="12" name="Shape 10"/>
          <p:cNvSpPr/>
          <p:nvPr/>
        </p:nvSpPr>
        <p:spPr>
          <a:xfrm>
            <a:off x="4416552" y="2148840"/>
            <a:ext cx="3502152" cy="3017520"/>
          </a:xfrm>
          <a:prstGeom prst="roundRect">
            <a:avLst>
              <a:gd name="adj" fmla="val 2727"/>
            </a:avLst>
          </a:prstGeom>
          <a:solidFill>
            <a:srgbClr val="F4F1FB"/>
          </a:solidFill>
          <a:ln w="12700">
            <a:solidFill>
              <a:srgbClr val="F4F1FB"/>
            </a:solidFill>
            <a:prstDash val="solid"/>
          </a:ln>
          <a:effectLst>
            <a:outerShdw sx="100000" sy="100000" kx="0" ky="0" algn="bl" rotWithShape="0" blurRad="101600" dist="25400" dir="5400000">
              <a:srgbClr val="B9B2CE">
                <a:alpha val="35000"/>
              </a:srgbClr>
            </a:outerShdw>
          </a:effectLst>
        </p:spPr>
      </p:sp>
      <p:sp>
        <p:nvSpPr>
          <p:cNvPr id="13" name="Shape 11"/>
          <p:cNvSpPr/>
          <p:nvPr/>
        </p:nvSpPr>
        <p:spPr>
          <a:xfrm>
            <a:off x="4709160" y="2395728"/>
            <a:ext cx="420624" cy="420624"/>
          </a:xfrm>
          <a:prstGeom prst="ellipse">
            <a:avLst/>
          </a:prstGeom>
          <a:solidFill>
            <a:srgbClr val="6B46C1"/>
          </a:solidFill>
          <a:ln/>
        </p:spPr>
      </p:sp>
      <p:sp>
        <p:nvSpPr>
          <p:cNvPr id="14" name="Text 12"/>
          <p:cNvSpPr txBox="1"/>
          <p:nvPr/>
        </p:nvSpPr>
        <p:spPr>
          <a:xfrm>
            <a:off x="4709160" y="239572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5" name="Text 13"/>
          <p:cNvSpPr txBox="1"/>
          <p:nvPr/>
        </p:nvSpPr>
        <p:spPr>
          <a:xfrm>
            <a:off x="4709160" y="2944368"/>
            <a:ext cx="2926080" cy="566928"/>
          </a:xfrm>
          <a:prstGeom prst="rect">
            <a:avLst/>
          </a:prstGeom>
          <a:noFill/>
          <a:ln/>
        </p:spPr>
        <p:txBody>
          <a:bodyPr wrap="square" lIns="0" tIns="0" rIns="0" bIns="0" rtlCol="0" anchor="ctr"/>
          <a:lstStyle/>
          <a:p>
            <a:pPr indent="0" marL="0">
              <a:buNone/>
            </a:pPr>
            <a:r>
              <a:rPr lang="en-US" sz="1600" b="1" dirty="0">
                <a:solidFill>
                  <a:srgbClr val="2A1B4D"/>
                </a:solidFill>
                <a:latin typeface="Calibri" pitchFamily="34" charset="0"/>
                <a:ea typeface="Calibri" pitchFamily="34" charset="-122"/>
                <a:cs typeface="Calibri" pitchFamily="34" charset="-120"/>
              </a:rPr>
              <a:t>Customer reply email</a:t>
            </a:r>
            <a:endParaRPr lang="en-US" sz="1600" dirty="0"/>
          </a:p>
        </p:txBody>
      </p:sp>
      <p:sp>
        <p:nvSpPr>
          <p:cNvPr id="16" name="Text 14"/>
          <p:cNvSpPr txBox="1"/>
          <p:nvPr/>
        </p:nvSpPr>
        <p:spPr>
          <a:xfrm>
            <a:off x="4709160" y="3520440"/>
            <a:ext cx="2926080" cy="1371600"/>
          </a:xfrm>
          <a:prstGeom prst="rect">
            <a:avLst/>
          </a:prstGeom>
          <a:noFill/>
          <a:ln/>
        </p:spPr>
        <p:txBody>
          <a:bodyPr wrap="square" lIns="0" tIns="0" rIns="0" bIns="0" rtlCol="0" anchor="t"/>
          <a:lstStyle/>
          <a:p>
            <a:pPr indent="0" marL="0">
              <a:lnSpc>
                <a:spcPts val="1700"/>
              </a:lnSpc>
              <a:buNone/>
            </a:pPr>
            <a:r>
              <a:rPr lang="en-US" sz="1250" dirty="0">
                <a:solidFill>
                  <a:srgbClr val="5B5670"/>
                </a:solidFill>
                <a:latin typeface="Calibri" pitchFamily="34" charset="0"/>
                <a:ea typeface="Calibri" pitchFamily="34" charset="-122"/>
                <a:cs typeface="Calibri" pitchFamily="34" charset="-120"/>
              </a:rPr>
              <a:t>A professional response addressed to the customer, restating the issue and giving the resolution or the next step — inventing nothing.</a:t>
            </a:r>
            <a:endParaRPr lang="en-US" sz="1250" dirty="0"/>
          </a:p>
        </p:txBody>
      </p:sp>
      <p:sp>
        <p:nvSpPr>
          <p:cNvPr id="17" name="Text 15"/>
          <p:cNvSpPr txBox="1"/>
          <p:nvPr/>
        </p:nvSpPr>
        <p:spPr>
          <a:xfrm>
            <a:off x="4709160" y="4754880"/>
            <a:ext cx="2926080" cy="274320"/>
          </a:xfrm>
          <a:prstGeom prst="rect">
            <a:avLst/>
          </a:prstGeom>
          <a:noFill/>
          <a:ln/>
        </p:spPr>
        <p:txBody>
          <a:bodyPr wrap="square" lIns="0" tIns="0" rIns="0" bIns="0" rtlCol="0" anchor="ctr"/>
          <a:lstStyle/>
          <a:p>
            <a:pPr indent="0" marL="0">
              <a:buNone/>
            </a:pPr>
            <a:r>
              <a:rPr lang="en-US" sz="1100" b="1" dirty="0">
                <a:solidFill>
                  <a:srgbClr val="2F855A"/>
                </a:solidFill>
                <a:latin typeface="Courier New" pitchFamily="34" charset="0"/>
                <a:ea typeface="Courier New" pitchFamily="34" charset="-122"/>
                <a:cs typeface="Courier New" pitchFamily="34" charset="-120"/>
              </a:rPr>
              <a:t>customer_emails/*.txt</a:t>
            </a:r>
            <a:endParaRPr lang="en-US" sz="1100" dirty="0"/>
          </a:p>
        </p:txBody>
      </p:sp>
      <p:sp>
        <p:nvSpPr>
          <p:cNvPr id="18" name="Shape 16"/>
          <p:cNvSpPr/>
          <p:nvPr/>
        </p:nvSpPr>
        <p:spPr>
          <a:xfrm>
            <a:off x="8193024" y="2148840"/>
            <a:ext cx="3502152" cy="3017520"/>
          </a:xfrm>
          <a:prstGeom prst="roundRect">
            <a:avLst>
              <a:gd name="adj" fmla="val 2727"/>
            </a:avLst>
          </a:prstGeom>
          <a:solidFill>
            <a:srgbClr val="F4F1FB"/>
          </a:solidFill>
          <a:ln w="12700">
            <a:solidFill>
              <a:srgbClr val="F4F1FB"/>
            </a:solidFill>
            <a:prstDash val="solid"/>
          </a:ln>
          <a:effectLst>
            <a:outerShdw sx="100000" sy="100000" kx="0" ky="0" algn="bl" rotWithShape="0" blurRad="101600" dist="25400" dir="5400000">
              <a:srgbClr val="B9B2CE">
                <a:alpha val="35000"/>
              </a:srgbClr>
            </a:outerShdw>
          </a:effectLst>
        </p:spPr>
      </p:sp>
      <p:sp>
        <p:nvSpPr>
          <p:cNvPr id="19" name="Shape 17"/>
          <p:cNvSpPr/>
          <p:nvPr/>
        </p:nvSpPr>
        <p:spPr>
          <a:xfrm>
            <a:off x="8485632" y="2395728"/>
            <a:ext cx="420624" cy="420624"/>
          </a:xfrm>
          <a:prstGeom prst="ellipse">
            <a:avLst/>
          </a:prstGeom>
          <a:solidFill>
            <a:srgbClr val="6B46C1"/>
          </a:solidFill>
          <a:ln/>
        </p:spPr>
      </p:sp>
      <p:sp>
        <p:nvSpPr>
          <p:cNvPr id="20" name="Text 18"/>
          <p:cNvSpPr txBox="1"/>
          <p:nvPr/>
        </p:nvSpPr>
        <p:spPr>
          <a:xfrm>
            <a:off x="8485632" y="239572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21" name="Text 19"/>
          <p:cNvSpPr txBox="1"/>
          <p:nvPr/>
        </p:nvSpPr>
        <p:spPr>
          <a:xfrm>
            <a:off x="8485632" y="2944368"/>
            <a:ext cx="2926080" cy="566928"/>
          </a:xfrm>
          <a:prstGeom prst="rect">
            <a:avLst/>
          </a:prstGeom>
          <a:noFill/>
          <a:ln/>
        </p:spPr>
        <p:txBody>
          <a:bodyPr wrap="square" lIns="0" tIns="0" rIns="0" bIns="0" rtlCol="0" anchor="ctr"/>
          <a:lstStyle/>
          <a:p>
            <a:pPr indent="0" marL="0">
              <a:buNone/>
            </a:pPr>
            <a:r>
              <a:rPr lang="en-US" sz="1600" b="1" dirty="0">
                <a:solidFill>
                  <a:srgbClr val="2A1B4D"/>
                </a:solidFill>
                <a:latin typeface="Calibri" pitchFamily="34" charset="0"/>
                <a:ea typeface="Calibri" pitchFamily="34" charset="-122"/>
                <a:cs typeface="Calibri" pitchFamily="34" charset="-120"/>
              </a:rPr>
              <a:t>Internal case summary</a:t>
            </a:r>
            <a:endParaRPr lang="en-US" sz="1600" dirty="0"/>
          </a:p>
        </p:txBody>
      </p:sp>
      <p:sp>
        <p:nvSpPr>
          <p:cNvPr id="22" name="Text 20"/>
          <p:cNvSpPr txBox="1"/>
          <p:nvPr/>
        </p:nvSpPr>
        <p:spPr>
          <a:xfrm>
            <a:off x="8485632" y="3520440"/>
            <a:ext cx="2926080" cy="1371600"/>
          </a:xfrm>
          <a:prstGeom prst="rect">
            <a:avLst/>
          </a:prstGeom>
          <a:noFill/>
          <a:ln/>
        </p:spPr>
        <p:txBody>
          <a:bodyPr wrap="square" lIns="0" tIns="0" rIns="0" bIns="0" rtlCol="0" anchor="t"/>
          <a:lstStyle/>
          <a:p>
            <a:pPr indent="0" marL="0">
              <a:lnSpc>
                <a:spcPts val="1700"/>
              </a:lnSpc>
              <a:buNone/>
            </a:pPr>
            <a:r>
              <a:rPr lang="en-US" sz="1250" dirty="0">
                <a:solidFill>
                  <a:srgbClr val="5B5670"/>
                </a:solidFill>
                <a:latin typeface="Calibri" pitchFamily="34" charset="0"/>
                <a:ea typeface="Calibri" pitchFamily="34" charset="-122"/>
                <a:cs typeface="Calibri" pitchFamily="34" charset="-120"/>
              </a:rPr>
              <a:t>Overview, key issue, action taken, current status and one concrete recommended next action for the service manager.</a:t>
            </a:r>
            <a:endParaRPr lang="en-US" sz="1250" dirty="0"/>
          </a:p>
        </p:txBody>
      </p:sp>
      <p:sp>
        <p:nvSpPr>
          <p:cNvPr id="23" name="Text 21"/>
          <p:cNvSpPr txBox="1"/>
          <p:nvPr/>
        </p:nvSpPr>
        <p:spPr>
          <a:xfrm>
            <a:off x="8485632" y="4754880"/>
            <a:ext cx="2926080" cy="274320"/>
          </a:xfrm>
          <a:prstGeom prst="rect">
            <a:avLst/>
          </a:prstGeom>
          <a:noFill/>
          <a:ln/>
        </p:spPr>
        <p:txBody>
          <a:bodyPr wrap="square" lIns="0" tIns="0" rIns="0" bIns="0" rtlCol="0" anchor="ctr"/>
          <a:lstStyle/>
          <a:p>
            <a:pPr indent="0" marL="0">
              <a:buNone/>
            </a:pPr>
            <a:r>
              <a:rPr lang="en-US" sz="1100" b="1" dirty="0">
                <a:solidFill>
                  <a:srgbClr val="2F855A"/>
                </a:solidFill>
                <a:latin typeface="Courier New" pitchFamily="34" charset="0"/>
                <a:ea typeface="Courier New" pitchFamily="34" charset="-122"/>
                <a:cs typeface="Courier New" pitchFamily="34" charset="-120"/>
              </a:rPr>
              <a:t>case_summaries/*.txt</a:t>
            </a:r>
            <a:endParaRPr lang="en-US" sz="1100" dirty="0"/>
          </a:p>
        </p:txBody>
      </p:sp>
      <p:sp>
        <p:nvSpPr>
          <p:cNvPr id="24" name="Text 22"/>
          <p:cNvSpPr txBox="1"/>
          <p:nvPr/>
        </p:nvSpPr>
        <p:spPr>
          <a:xfrm>
            <a:off x="640080" y="5440680"/>
            <a:ext cx="10881360" cy="365760"/>
          </a:xfrm>
          <a:prstGeom prst="rect">
            <a:avLst/>
          </a:prstGeom>
          <a:noFill/>
          <a:ln/>
        </p:spPr>
        <p:txBody>
          <a:bodyPr wrap="square" lIns="0" tIns="0" rIns="0" bIns="0" rtlCol="0" anchor="ctr"/>
          <a:lstStyle/>
          <a:p>
            <a:pPr indent="0" marL="0">
              <a:buNone/>
            </a:pPr>
            <a:r>
              <a:rPr lang="en-US" sz="1400" b="1" dirty="0">
                <a:solidFill>
                  <a:srgbClr val="2A1B4D"/>
                </a:solidFill>
                <a:latin typeface="Calibri" pitchFamily="34" charset="0"/>
                <a:ea typeface="Calibri" pitchFamily="34" charset="-122"/>
                <a:cs typeface="Calibri" pitchFamily="34" charset="-120"/>
              </a:rPr>
              <a:t>Plus one consolidated final_report.csv across the whole batch, and a timestamped run.log</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56032"/>
          </a:xfrm>
          <a:prstGeom prst="rect">
            <a:avLst/>
          </a:prstGeom>
          <a:noFill/>
          <a:ln/>
        </p:spPr>
        <p:txBody>
          <a:bodyPr wrap="square" lIns="0" tIns="0" rIns="0" bIns="0" rtlCol="0" anchor="ctr"/>
          <a:lstStyle/>
          <a:p>
            <a:pPr indent="0" marL="0">
              <a:buNone/>
            </a:pPr>
            <a:r>
              <a:rPr lang="en-US" sz="1100" b="1" spc="200" kern="0" dirty="0">
                <a:solidFill>
                  <a:srgbClr val="6B46C1"/>
                </a:solidFill>
                <a:latin typeface="Calibri" pitchFamily="34" charset="0"/>
                <a:ea typeface="Calibri" pitchFamily="34" charset="-122"/>
                <a:cs typeface="Calibri" pitchFamily="34" charset="-120"/>
              </a:rPr>
              <a:t>ARCHITECTURE</a:t>
            </a:r>
            <a:endParaRPr lang="en-US" sz="1100" dirty="0"/>
          </a:p>
        </p:txBody>
      </p:sp>
      <p:sp>
        <p:nvSpPr>
          <p:cNvPr id="3" name="Text 1"/>
          <p:cNvSpPr txBox="1"/>
          <p:nvPr/>
        </p:nvSpPr>
        <p:spPr>
          <a:xfrm>
            <a:off x="640080" y="658368"/>
            <a:ext cx="10881360" cy="685800"/>
          </a:xfrm>
          <a:prstGeom prst="rect">
            <a:avLst/>
          </a:prstGeom>
          <a:noFill/>
          <a:ln/>
        </p:spPr>
        <p:txBody>
          <a:bodyPr wrap="square" lIns="0" tIns="0" rIns="0" bIns="0" rtlCol="0" anchor="ctr"/>
          <a:lstStyle/>
          <a:p>
            <a:pPr indent="0" marL="0">
              <a:buNone/>
            </a:pPr>
            <a:r>
              <a:rPr lang="en-US" sz="3200" b="1" dirty="0">
                <a:solidFill>
                  <a:srgbClr val="2A1B4D"/>
                </a:solidFill>
                <a:latin typeface="Cambria" pitchFamily="34" charset="0"/>
                <a:ea typeface="Cambria" pitchFamily="34" charset="-122"/>
                <a:cs typeface="Cambria" pitchFamily="34" charset="-120"/>
              </a:rPr>
              <a:t>Six modules, one direction of dependency</a:t>
            </a:r>
            <a:endParaRPr lang="en-US" sz="3200" dirty="0"/>
          </a:p>
        </p:txBody>
      </p:sp>
      <p:pic>
        <p:nvPicPr>
          <p:cNvPr id="4" name="Image 0" descr="preencoded.png">    </p:cNvPr>
          <p:cNvPicPr>
            <a:picLocks noChangeAspect="1"/>
          </p:cNvPicPr>
          <p:nvPr/>
        </p:nvPicPr>
        <p:blipFill>
          <a:blip r:embed="rId1"/>
          <a:stretch>
            <a:fillRect/>
          </a:stretch>
        </p:blipFill>
        <p:spPr>
          <a:xfrm>
            <a:off x="658368" y="1371600"/>
            <a:ext cx="10881360" cy="4873752"/>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56032"/>
          </a:xfrm>
          <a:prstGeom prst="rect">
            <a:avLst/>
          </a:prstGeom>
          <a:noFill/>
          <a:ln/>
        </p:spPr>
        <p:txBody>
          <a:bodyPr wrap="square" lIns="0" tIns="0" rIns="0" bIns="0" rtlCol="0" anchor="ctr"/>
          <a:lstStyle/>
          <a:p>
            <a:pPr indent="0" marL="0">
              <a:buNone/>
            </a:pPr>
            <a:r>
              <a:rPr lang="en-US" sz="1100" b="1" spc="200" kern="0" dirty="0">
                <a:solidFill>
                  <a:srgbClr val="6B46C1"/>
                </a:solidFill>
                <a:latin typeface="Calibri" pitchFamily="34" charset="0"/>
                <a:ea typeface="Calibri" pitchFamily="34" charset="-122"/>
                <a:cs typeface="Calibri" pitchFamily="34" charset="-120"/>
              </a:rPr>
              <a:t>WORKFLOW — LANGGRAPH</a:t>
            </a:r>
            <a:endParaRPr lang="en-US" sz="1100" dirty="0"/>
          </a:p>
        </p:txBody>
      </p:sp>
      <p:sp>
        <p:nvSpPr>
          <p:cNvPr id="3" name="Text 1"/>
          <p:cNvSpPr txBox="1"/>
          <p:nvPr/>
        </p:nvSpPr>
        <p:spPr>
          <a:xfrm>
            <a:off x="640080" y="658368"/>
            <a:ext cx="10881360" cy="685800"/>
          </a:xfrm>
          <a:prstGeom prst="rect">
            <a:avLst/>
          </a:prstGeom>
          <a:noFill/>
          <a:ln/>
        </p:spPr>
        <p:txBody>
          <a:bodyPr wrap="square" lIns="0" tIns="0" rIns="0" bIns="0" rtlCol="0" anchor="ctr"/>
          <a:lstStyle/>
          <a:p>
            <a:pPr indent="0" marL="0">
              <a:buNone/>
            </a:pPr>
            <a:r>
              <a:rPr lang="en-US" sz="3200" b="1" dirty="0">
                <a:solidFill>
                  <a:srgbClr val="2A1B4D"/>
                </a:solidFill>
                <a:latin typeface="Cambria" pitchFamily="34" charset="0"/>
                <a:ea typeface="Cambria" pitchFamily="34" charset="-122"/>
                <a:cs typeface="Cambria" pitchFamily="34" charset="-120"/>
              </a:rPr>
              <a:t>Sequential where it must be, parallel where it can be</a:t>
            </a:r>
            <a:endParaRPr lang="en-US" sz="3200" dirty="0"/>
          </a:p>
        </p:txBody>
      </p:sp>
      <p:pic>
        <p:nvPicPr>
          <p:cNvPr id="4" name="Image 0" descr="preencoded.png">    </p:cNvPr>
          <p:cNvPicPr>
            <a:picLocks noChangeAspect="1"/>
          </p:cNvPicPr>
          <p:nvPr/>
        </p:nvPicPr>
        <p:blipFill>
          <a:blip r:embed="rId1"/>
          <a:stretch>
            <a:fillRect/>
          </a:stretch>
        </p:blipFill>
        <p:spPr>
          <a:xfrm>
            <a:off x="502920" y="1481328"/>
            <a:ext cx="7498080" cy="4197096"/>
          </a:xfrm>
          <a:prstGeom prst="rect">
            <a:avLst/>
          </a:prstGeom>
        </p:spPr>
      </p:pic>
      <p:sp>
        <p:nvSpPr>
          <p:cNvPr id="5" name="Shape 2"/>
          <p:cNvSpPr/>
          <p:nvPr/>
        </p:nvSpPr>
        <p:spPr>
          <a:xfrm>
            <a:off x="8275320" y="1481328"/>
            <a:ext cx="3291840" cy="3703320"/>
          </a:xfrm>
          <a:prstGeom prst="roundRect">
            <a:avLst>
              <a:gd name="adj" fmla="val 2500"/>
            </a:avLst>
          </a:prstGeom>
          <a:solidFill>
            <a:srgbClr val="F4F1FB"/>
          </a:solidFill>
          <a:ln w="12700">
            <a:solidFill>
              <a:srgbClr val="F4F1FB"/>
            </a:solidFill>
            <a:prstDash val="solid"/>
          </a:ln>
          <a:effectLst>
            <a:outerShdw sx="100000" sy="100000" kx="0" ky="0" algn="bl" rotWithShape="0" blurRad="101600" dist="25400" dir="5400000">
              <a:srgbClr val="B9B2CE">
                <a:alpha val="35000"/>
              </a:srgbClr>
            </a:outerShdw>
          </a:effectLst>
        </p:spPr>
      </p:sp>
      <p:sp>
        <p:nvSpPr>
          <p:cNvPr id="6" name="Text 3"/>
          <p:cNvSpPr txBox="1"/>
          <p:nvPr/>
        </p:nvSpPr>
        <p:spPr>
          <a:xfrm>
            <a:off x="8549640" y="1600200"/>
            <a:ext cx="2743200" cy="320040"/>
          </a:xfrm>
          <a:prstGeom prst="rect">
            <a:avLst/>
          </a:prstGeom>
          <a:noFill/>
          <a:ln/>
        </p:spPr>
        <p:txBody>
          <a:bodyPr wrap="square" lIns="0" tIns="0" rIns="0" bIns="0" rtlCol="0" anchor="ctr"/>
          <a:lstStyle/>
          <a:p>
            <a:pPr indent="0" marL="0">
              <a:buNone/>
            </a:pPr>
            <a:r>
              <a:rPr lang="en-US" sz="1600" b="1" dirty="0">
                <a:solidFill>
                  <a:srgbClr val="2A1B4D"/>
                </a:solidFill>
                <a:latin typeface="Calibri" pitchFamily="34" charset="0"/>
                <a:ea typeface="Calibri" pitchFamily="34" charset="-122"/>
                <a:cs typeface="Calibri" pitchFamily="34" charset="-120"/>
              </a:rPr>
              <a:t>Why a graph?</a:t>
            </a:r>
            <a:endParaRPr lang="en-US" sz="1600" dirty="0"/>
          </a:p>
        </p:txBody>
      </p:sp>
      <p:sp>
        <p:nvSpPr>
          <p:cNvPr id="7" name="Text 4"/>
          <p:cNvSpPr txBox="1"/>
          <p:nvPr/>
        </p:nvSpPr>
        <p:spPr>
          <a:xfrm>
            <a:off x="8549640" y="2011680"/>
            <a:ext cx="2743200" cy="3840480"/>
          </a:xfrm>
          <a:prstGeom prst="rect">
            <a:avLst/>
          </a:prstGeom>
          <a:noFill/>
          <a:ln/>
        </p:spPr>
        <p:txBody>
          <a:bodyPr wrap="square" lIns="0" tIns="0" rIns="0" bIns="0" rtlCol="0" anchor="t"/>
          <a:lstStyle/>
          <a:p>
            <a:pPr marL="342900" indent="-342900">
              <a:lnSpc>
                <a:spcPts val="1700"/>
              </a:lnSpc>
              <a:spcAft>
                <a:spcPts val="1000"/>
              </a:spcAft>
              <a:buSzPct val="100000"/>
              <a:buChar char="•"/>
            </a:pPr>
            <a:r>
              <a:rPr lang="en-US" sz="1250" dirty="0">
                <a:solidFill>
                  <a:srgbClr val="241F31"/>
                </a:solidFill>
                <a:latin typeface="Calibri" pitchFamily="34" charset="0"/>
                <a:ea typeface="Calibri" pitchFamily="34" charset="-122"/>
                <a:cs typeface="Calibri" pitchFamily="34" charset="-120"/>
              </a:rPr>
              <a:t>Extraction must run first — both other tasks consume its output.</a:t>
            </a:r>
            <a:endParaRPr lang="en-US" sz="1250" dirty="0"/>
          </a:p>
          <a:p>
            <a:pPr marL="342900" indent="-342900">
              <a:lnSpc>
                <a:spcPts val="1700"/>
              </a:lnSpc>
              <a:spcAft>
                <a:spcPts val="1000"/>
              </a:spcAft>
              <a:buSzPct val="100000"/>
              <a:buChar char="•"/>
            </a:pPr>
            <a:r>
              <a:rPr lang="en-US" sz="1250" dirty="0">
                <a:solidFill>
                  <a:srgbClr val="241F31"/>
                </a:solidFill>
                <a:latin typeface="Calibri" pitchFamily="34" charset="0"/>
                <a:ea typeface="Calibri" pitchFamily="34" charset="-122"/>
                <a:cs typeface="Calibri" pitchFamily="34" charset="-120"/>
              </a:rPr>
              <a:t>The email and the summary depend only on that output, not on each other.</a:t>
            </a:r>
            <a:endParaRPr lang="en-US" sz="1250" dirty="0"/>
          </a:p>
          <a:p>
            <a:pPr marL="342900" indent="-342900">
              <a:lnSpc>
                <a:spcPts val="1700"/>
              </a:lnSpc>
              <a:spcAft>
                <a:spcPts val="1000"/>
              </a:spcAft>
              <a:buSzPct val="100000"/>
              <a:buChar char="•"/>
            </a:pPr>
            <a:r>
              <a:rPr lang="en-US" sz="1250" dirty="0">
                <a:solidFill>
                  <a:srgbClr val="241F31"/>
                </a:solidFill>
                <a:latin typeface="Calibri" pitchFamily="34" charset="0"/>
                <a:ea typeface="Calibri" pitchFamily="34" charset="-122"/>
                <a:cs typeface="Calibri" pitchFamily="34" charset="-120"/>
              </a:rPr>
              <a:t>Two edges out of one node, so LangGraph runs them in the same superstep.</a:t>
            </a:r>
            <a:endParaRPr lang="en-US" sz="1250" dirty="0"/>
          </a:p>
          <a:p>
            <a:pPr marL="342900" indent="-342900">
              <a:lnSpc>
                <a:spcPts val="1700"/>
              </a:lnSpc>
              <a:spcAft>
                <a:spcPts val="1000"/>
              </a:spcAft>
              <a:buSzPct val="100000"/>
              <a:buChar char="•"/>
            </a:pPr>
            <a:r>
              <a:rPr lang="en-US" sz="1250" dirty="0">
                <a:solidFill>
                  <a:srgbClr val="241F31"/>
                </a:solidFill>
                <a:latin typeface="Calibri" pitchFamily="34" charset="0"/>
                <a:ea typeface="Calibri" pitchFamily="34" charset="-122"/>
                <a:cs typeface="Calibri" pitchFamily="34" charset="-120"/>
              </a:rPr>
              <a:t>A fourth task is one node and one edge — the other three do not change.</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56032"/>
          </a:xfrm>
          <a:prstGeom prst="rect">
            <a:avLst/>
          </a:prstGeom>
          <a:noFill/>
          <a:ln/>
        </p:spPr>
        <p:txBody>
          <a:bodyPr wrap="square" lIns="0" tIns="0" rIns="0" bIns="0" rtlCol="0" anchor="ctr"/>
          <a:lstStyle/>
          <a:p>
            <a:pPr indent="0" marL="0">
              <a:buNone/>
            </a:pPr>
            <a:r>
              <a:rPr lang="en-US" sz="1100" b="1" spc="200" kern="0" dirty="0">
                <a:solidFill>
                  <a:srgbClr val="6B46C1"/>
                </a:solidFill>
                <a:latin typeface="Calibri" pitchFamily="34" charset="0"/>
                <a:ea typeface="Calibri" pitchFamily="34" charset="-122"/>
                <a:cs typeface="Calibri" pitchFamily="34" charset="-120"/>
              </a:rPr>
              <a:t>THE CORE IDEA</a:t>
            </a:r>
            <a:endParaRPr lang="en-US" sz="1100" dirty="0"/>
          </a:p>
        </p:txBody>
      </p:sp>
      <p:sp>
        <p:nvSpPr>
          <p:cNvPr id="3" name="Text 1"/>
          <p:cNvSpPr txBox="1"/>
          <p:nvPr/>
        </p:nvSpPr>
        <p:spPr>
          <a:xfrm>
            <a:off x="640080" y="658368"/>
            <a:ext cx="10881360" cy="685800"/>
          </a:xfrm>
          <a:prstGeom prst="rect">
            <a:avLst/>
          </a:prstGeom>
          <a:noFill/>
          <a:ln/>
        </p:spPr>
        <p:txBody>
          <a:bodyPr wrap="square" lIns="0" tIns="0" rIns="0" bIns="0" rtlCol="0" anchor="ctr"/>
          <a:lstStyle/>
          <a:p>
            <a:pPr indent="0" marL="0">
              <a:buNone/>
            </a:pPr>
            <a:r>
              <a:rPr lang="en-US" sz="3200" b="1" dirty="0">
                <a:solidFill>
                  <a:srgbClr val="2A1B4D"/>
                </a:solidFill>
                <a:latin typeface="Cambria" pitchFamily="34" charset="0"/>
                <a:ea typeface="Cambria" pitchFamily="34" charset="-122"/>
                <a:cs typeface="Cambria" pitchFamily="34" charset="-120"/>
              </a:rPr>
              <a:t>The model fills in a schema — we never parse text</a:t>
            </a:r>
            <a:endParaRPr lang="en-US" sz="3200" dirty="0"/>
          </a:p>
        </p:txBody>
      </p:sp>
      <p:sp>
        <p:nvSpPr>
          <p:cNvPr id="4" name="Text 2"/>
          <p:cNvSpPr txBox="1"/>
          <p:nvPr/>
        </p:nvSpPr>
        <p:spPr>
          <a:xfrm>
            <a:off x="640080" y="1463040"/>
            <a:ext cx="10881360" cy="1371600"/>
          </a:xfrm>
          <a:prstGeom prst="rect">
            <a:avLst/>
          </a:prstGeom>
          <a:solidFill>
            <a:srgbClr val="2A1B4D"/>
          </a:solidFill>
          <a:ln/>
        </p:spPr>
        <p:txBody>
          <a:bodyPr wrap="square" lIns="152400" tIns="152400" rIns="152400" bIns="152400" rtlCol="0" anchor="t"/>
          <a:lstStyle/>
          <a:p>
            <a:pPr indent="0" marL="0">
              <a:lnSpc>
                <a:spcPts val="2000"/>
              </a:lnSpc>
              <a:buNone/>
            </a:pPr>
            <a:r>
              <a:rPr lang="en-US" sz="1350" dirty="0">
                <a:solidFill>
                  <a:srgbClr val="FFFFFF"/>
                </a:solidFill>
                <a:latin typeface="Courier New" pitchFamily="34" charset="0"/>
                <a:ea typeface="Courier New" pitchFamily="34" charset="-122"/>
                <a:cs typeface="Courier New" pitchFamily="34" charset="-120"/>
              </a:rPr>
              <a:t>chain  = EXTRACTION_PROMPT | llm.with_structured_output(ComplaintData)</a:t>
            </a:r>
            <a:endParaRPr lang="en-US" sz="1350" dirty="0"/>
          </a:p>
          <a:p>
            <a:pPr indent="0" marL="0">
              <a:lnSpc>
                <a:spcPts val="2000"/>
              </a:lnSpc>
              <a:buNone/>
            </a:pPr>
            <a:r>
              <a:rPr lang="en-US" sz="1350" dirty="0">
                <a:solidFill>
                  <a:srgbClr val="FFFFFF"/>
                </a:solidFill>
                <a:latin typeface="Courier New" pitchFamily="34" charset="0"/>
                <a:ea typeface="Courier New" pitchFamily="34" charset="-122"/>
                <a:cs typeface="Courier New" pitchFamily="34" charset="-120"/>
              </a:rPr>
              <a:t>result = chain.invoke({"document_text": text})</a:t>
            </a:r>
            <a:endParaRPr lang="en-US" sz="1350" dirty="0"/>
          </a:p>
          <a:p>
            <a:pPr indent="0" marL="0">
              <a:lnSpc>
                <a:spcPts val="2000"/>
              </a:lnSpc>
              <a:buNone/>
            </a:pPr>
            <a:endParaRPr lang="en-US" sz="1350" dirty="0"/>
          </a:p>
          <a:p>
            <a:pPr indent="0" marL="0">
              <a:lnSpc>
                <a:spcPts val="2000"/>
              </a:lnSpc>
              <a:buNone/>
            </a:pPr>
            <a:r>
              <a:rPr lang="en-US" sz="1350" dirty="0">
                <a:solidFill>
                  <a:srgbClr val="8B85A3"/>
                </a:solidFill>
                <a:latin typeface="Courier New" pitchFamily="34" charset="0"/>
                <a:ea typeface="Courier New" pitchFamily="34" charset="-122"/>
                <a:cs typeface="Courier New" pitchFamily="34" charset="-120"/>
              </a:rPr>
              <a:t># result is a validated ComplaintData object, not a string</a:t>
            </a:r>
            <a:endParaRPr lang="en-US" sz="1350" dirty="0"/>
          </a:p>
        </p:txBody>
      </p:sp>
      <p:sp>
        <p:nvSpPr>
          <p:cNvPr id="5" name="Shape 3"/>
          <p:cNvSpPr/>
          <p:nvPr/>
        </p:nvSpPr>
        <p:spPr>
          <a:xfrm>
            <a:off x="640080" y="3154680"/>
            <a:ext cx="420624" cy="420624"/>
          </a:xfrm>
          <a:prstGeom prst="ellipse">
            <a:avLst/>
          </a:prstGeom>
          <a:solidFill>
            <a:srgbClr val="6B46C1"/>
          </a:solidFill>
          <a:ln/>
        </p:spPr>
      </p:sp>
      <p:sp>
        <p:nvSpPr>
          <p:cNvPr id="6" name="Text 4"/>
          <p:cNvSpPr txBox="1"/>
          <p:nvPr/>
        </p:nvSpPr>
        <p:spPr>
          <a:xfrm>
            <a:off x="640080" y="315468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7" name="Text 5"/>
          <p:cNvSpPr txBox="1"/>
          <p:nvPr/>
        </p:nvSpPr>
        <p:spPr>
          <a:xfrm>
            <a:off x="1234440" y="3127248"/>
            <a:ext cx="4754880" cy="292608"/>
          </a:xfrm>
          <a:prstGeom prst="rect">
            <a:avLst/>
          </a:prstGeom>
          <a:noFill/>
          <a:ln/>
        </p:spPr>
        <p:txBody>
          <a:bodyPr wrap="square" lIns="0" tIns="0" rIns="0" bIns="0" rtlCol="0" anchor="ctr"/>
          <a:lstStyle/>
          <a:p>
            <a:pPr indent="0" marL="0">
              <a:buNone/>
            </a:pPr>
            <a:r>
              <a:rPr lang="en-US" sz="1600" b="1" dirty="0">
                <a:solidFill>
                  <a:srgbClr val="241F31"/>
                </a:solidFill>
                <a:latin typeface="Calibri" pitchFamily="34" charset="0"/>
                <a:ea typeface="Calibri" pitchFamily="34" charset="-122"/>
                <a:cs typeface="Calibri" pitchFamily="34" charset="-120"/>
              </a:rPr>
              <a:t>The schema is the prompt</a:t>
            </a:r>
            <a:endParaRPr lang="en-US" sz="1600" dirty="0"/>
          </a:p>
        </p:txBody>
      </p:sp>
      <p:sp>
        <p:nvSpPr>
          <p:cNvPr id="8" name="Text 6"/>
          <p:cNvSpPr txBox="1"/>
          <p:nvPr/>
        </p:nvSpPr>
        <p:spPr>
          <a:xfrm>
            <a:off x="1234440" y="3429000"/>
            <a:ext cx="4754880" cy="713232"/>
          </a:xfrm>
          <a:prstGeom prst="rect">
            <a:avLst/>
          </a:prstGeom>
          <a:noFill/>
          <a:ln/>
        </p:spPr>
        <p:txBody>
          <a:bodyPr wrap="square" lIns="0" tIns="0" rIns="0" bIns="0" rtlCol="0" anchor="t"/>
          <a:lstStyle/>
          <a:p>
            <a:pPr indent="0" marL="0">
              <a:lnSpc>
                <a:spcPts val="1700"/>
              </a:lnSpc>
              <a:buNone/>
            </a:pPr>
            <a:r>
              <a:rPr lang="en-US" sz="1300" dirty="0">
                <a:solidFill>
                  <a:srgbClr val="5B5670"/>
                </a:solidFill>
                <a:latin typeface="Calibri" pitchFamily="34" charset="0"/>
                <a:ea typeface="Calibri" pitchFamily="34" charset="-122"/>
                <a:cs typeface="Calibri" pitchFamily="34" charset="-120"/>
              </a:rPr>
              <a:t>Each Field(description=...) in models.py is sent to the model as part of the instruction.</a:t>
            </a:r>
            <a:endParaRPr lang="en-US" sz="1300" dirty="0"/>
          </a:p>
        </p:txBody>
      </p:sp>
      <p:sp>
        <p:nvSpPr>
          <p:cNvPr id="9" name="Shape 7"/>
          <p:cNvSpPr/>
          <p:nvPr/>
        </p:nvSpPr>
        <p:spPr>
          <a:xfrm>
            <a:off x="6355080" y="3154680"/>
            <a:ext cx="420624" cy="420624"/>
          </a:xfrm>
          <a:prstGeom prst="ellipse">
            <a:avLst/>
          </a:prstGeom>
          <a:solidFill>
            <a:srgbClr val="6B46C1"/>
          </a:solidFill>
          <a:ln/>
        </p:spPr>
      </p:sp>
      <p:sp>
        <p:nvSpPr>
          <p:cNvPr id="10" name="Text 8"/>
          <p:cNvSpPr txBox="1"/>
          <p:nvPr/>
        </p:nvSpPr>
        <p:spPr>
          <a:xfrm>
            <a:off x="6355080" y="315468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1" name="Text 9"/>
          <p:cNvSpPr txBox="1"/>
          <p:nvPr/>
        </p:nvSpPr>
        <p:spPr>
          <a:xfrm>
            <a:off x="6949440" y="3127248"/>
            <a:ext cx="4754880" cy="292608"/>
          </a:xfrm>
          <a:prstGeom prst="rect">
            <a:avLst/>
          </a:prstGeom>
          <a:noFill/>
          <a:ln/>
        </p:spPr>
        <p:txBody>
          <a:bodyPr wrap="square" lIns="0" tIns="0" rIns="0" bIns="0" rtlCol="0" anchor="ctr"/>
          <a:lstStyle/>
          <a:p>
            <a:pPr indent="0" marL="0">
              <a:buNone/>
            </a:pPr>
            <a:r>
              <a:rPr lang="en-US" sz="1600" b="1" dirty="0">
                <a:solidFill>
                  <a:srgbClr val="241F31"/>
                </a:solidFill>
                <a:latin typeface="Calibri" pitchFamily="34" charset="0"/>
                <a:ea typeface="Calibri" pitchFamily="34" charset="-122"/>
                <a:cs typeface="Calibri" pitchFamily="34" charset="-120"/>
              </a:rPr>
              <a:t>Invalid answers cannot pass</a:t>
            </a:r>
            <a:endParaRPr lang="en-US" sz="1600" dirty="0"/>
          </a:p>
        </p:txBody>
      </p:sp>
      <p:sp>
        <p:nvSpPr>
          <p:cNvPr id="12" name="Text 10"/>
          <p:cNvSpPr txBox="1"/>
          <p:nvPr/>
        </p:nvSpPr>
        <p:spPr>
          <a:xfrm>
            <a:off x="6949440" y="3429000"/>
            <a:ext cx="4754880" cy="713232"/>
          </a:xfrm>
          <a:prstGeom prst="rect">
            <a:avLst/>
          </a:prstGeom>
          <a:noFill/>
          <a:ln/>
        </p:spPr>
        <p:txBody>
          <a:bodyPr wrap="square" lIns="0" tIns="0" rIns="0" bIns="0" rtlCol="0" anchor="t"/>
          <a:lstStyle/>
          <a:p>
            <a:pPr indent="0" marL="0">
              <a:lnSpc>
                <a:spcPts val="1700"/>
              </a:lnSpc>
              <a:buNone/>
            </a:pPr>
            <a:r>
              <a:rPr lang="en-US" sz="1300" dirty="0">
                <a:solidFill>
                  <a:srgbClr val="5B5670"/>
                </a:solidFill>
                <a:latin typeface="Calibri" pitchFamily="34" charset="0"/>
                <a:ea typeface="Calibri" pitchFamily="34" charset="-122"/>
                <a:cs typeface="Calibri" pitchFamily="34" charset="-120"/>
              </a:rPr>
              <a:t>complaint_category is a Literal of nine values. An invented category fails validation.</a:t>
            </a:r>
            <a:endParaRPr lang="en-US" sz="1300" dirty="0"/>
          </a:p>
        </p:txBody>
      </p:sp>
      <p:sp>
        <p:nvSpPr>
          <p:cNvPr id="13" name="Shape 11"/>
          <p:cNvSpPr/>
          <p:nvPr/>
        </p:nvSpPr>
        <p:spPr>
          <a:xfrm>
            <a:off x="640080" y="4754880"/>
            <a:ext cx="420624" cy="420624"/>
          </a:xfrm>
          <a:prstGeom prst="ellipse">
            <a:avLst/>
          </a:prstGeom>
          <a:solidFill>
            <a:srgbClr val="6B46C1"/>
          </a:solidFill>
          <a:ln/>
        </p:spPr>
      </p:sp>
      <p:sp>
        <p:nvSpPr>
          <p:cNvPr id="14" name="Text 12"/>
          <p:cNvSpPr txBox="1"/>
          <p:nvPr/>
        </p:nvSpPr>
        <p:spPr>
          <a:xfrm>
            <a:off x="640080" y="475488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5" name="Text 13"/>
          <p:cNvSpPr txBox="1"/>
          <p:nvPr/>
        </p:nvSpPr>
        <p:spPr>
          <a:xfrm>
            <a:off x="1234440" y="4727448"/>
            <a:ext cx="4754880" cy="292608"/>
          </a:xfrm>
          <a:prstGeom prst="rect">
            <a:avLst/>
          </a:prstGeom>
          <a:noFill/>
          <a:ln/>
        </p:spPr>
        <p:txBody>
          <a:bodyPr wrap="square" lIns="0" tIns="0" rIns="0" bIns="0" rtlCol="0" anchor="ctr"/>
          <a:lstStyle/>
          <a:p>
            <a:pPr indent="0" marL="0">
              <a:buNone/>
            </a:pPr>
            <a:r>
              <a:rPr lang="en-US" sz="1600" b="1" dirty="0">
                <a:solidFill>
                  <a:srgbClr val="241F31"/>
                </a:solidFill>
                <a:latin typeface="Calibri" pitchFamily="34" charset="0"/>
                <a:ea typeface="Calibri" pitchFamily="34" charset="-122"/>
                <a:cs typeface="Calibri" pitchFamily="34" charset="-120"/>
              </a:rPr>
              <a:t>Absence is recordable</a:t>
            </a:r>
            <a:endParaRPr lang="en-US" sz="1600" dirty="0"/>
          </a:p>
        </p:txBody>
      </p:sp>
      <p:sp>
        <p:nvSpPr>
          <p:cNvPr id="16" name="Text 14"/>
          <p:cNvSpPr txBox="1"/>
          <p:nvPr/>
        </p:nvSpPr>
        <p:spPr>
          <a:xfrm>
            <a:off x="1234440" y="5029200"/>
            <a:ext cx="4754880" cy="713232"/>
          </a:xfrm>
          <a:prstGeom prst="rect">
            <a:avLst/>
          </a:prstGeom>
          <a:noFill/>
          <a:ln/>
        </p:spPr>
        <p:txBody>
          <a:bodyPr wrap="square" lIns="0" tIns="0" rIns="0" bIns="0" rtlCol="0" anchor="t"/>
          <a:lstStyle/>
          <a:p>
            <a:pPr indent="0" marL="0">
              <a:lnSpc>
                <a:spcPts val="1700"/>
              </a:lnSpc>
              <a:buNone/>
            </a:pPr>
            <a:r>
              <a:rPr lang="en-US" sz="1300" dirty="0">
                <a:solidFill>
                  <a:srgbClr val="5B5670"/>
                </a:solidFill>
                <a:latin typeface="Calibri" pitchFamily="34" charset="0"/>
                <a:ea typeface="Calibri" pitchFamily="34" charset="-122"/>
                <a:cs typeface="Calibri" pitchFamily="34" charset="-120"/>
              </a:rPr>
              <a:t>Optional fields default to None, so the model can say a detail is missing instead of inventing one.</a:t>
            </a:r>
            <a:endParaRPr lang="en-US" sz="1300" dirty="0"/>
          </a:p>
        </p:txBody>
      </p:sp>
      <p:sp>
        <p:nvSpPr>
          <p:cNvPr id="17" name="Shape 15"/>
          <p:cNvSpPr/>
          <p:nvPr/>
        </p:nvSpPr>
        <p:spPr>
          <a:xfrm>
            <a:off x="6355080" y="4754880"/>
            <a:ext cx="420624" cy="420624"/>
          </a:xfrm>
          <a:prstGeom prst="ellipse">
            <a:avLst/>
          </a:prstGeom>
          <a:solidFill>
            <a:srgbClr val="6B46C1"/>
          </a:solidFill>
          <a:ln/>
        </p:spPr>
      </p:sp>
      <p:sp>
        <p:nvSpPr>
          <p:cNvPr id="18" name="Text 16"/>
          <p:cNvSpPr txBox="1"/>
          <p:nvPr/>
        </p:nvSpPr>
        <p:spPr>
          <a:xfrm>
            <a:off x="6355080" y="475488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9" name="Text 17"/>
          <p:cNvSpPr txBox="1"/>
          <p:nvPr/>
        </p:nvSpPr>
        <p:spPr>
          <a:xfrm>
            <a:off x="6949440" y="4727448"/>
            <a:ext cx="4754880" cy="292608"/>
          </a:xfrm>
          <a:prstGeom prst="rect">
            <a:avLst/>
          </a:prstGeom>
          <a:noFill/>
          <a:ln/>
        </p:spPr>
        <p:txBody>
          <a:bodyPr wrap="square" lIns="0" tIns="0" rIns="0" bIns="0" rtlCol="0" anchor="ctr"/>
          <a:lstStyle/>
          <a:p>
            <a:pPr indent="0" marL="0">
              <a:buNone/>
            </a:pPr>
            <a:r>
              <a:rPr lang="en-US" sz="1600" b="1" dirty="0">
                <a:solidFill>
                  <a:srgbClr val="241F31"/>
                </a:solidFill>
                <a:latin typeface="Calibri" pitchFamily="34" charset="0"/>
                <a:ea typeface="Calibri" pitchFamily="34" charset="-122"/>
                <a:cs typeface="Calibri" pitchFamily="34" charset="-120"/>
              </a:rPr>
              <a:t>The report is always clean</a:t>
            </a:r>
            <a:endParaRPr lang="en-US" sz="1600" dirty="0"/>
          </a:p>
        </p:txBody>
      </p:sp>
      <p:sp>
        <p:nvSpPr>
          <p:cNvPr id="20" name="Text 18"/>
          <p:cNvSpPr txBox="1"/>
          <p:nvPr/>
        </p:nvSpPr>
        <p:spPr>
          <a:xfrm>
            <a:off x="6949440" y="5029200"/>
            <a:ext cx="4754880" cy="713232"/>
          </a:xfrm>
          <a:prstGeom prst="rect">
            <a:avLst/>
          </a:prstGeom>
          <a:noFill/>
          <a:ln/>
        </p:spPr>
        <p:txBody>
          <a:bodyPr wrap="square" lIns="0" tIns="0" rIns="0" bIns="0" rtlCol="0" anchor="t"/>
          <a:lstStyle/>
          <a:p>
            <a:pPr indent="0" marL="0">
              <a:lnSpc>
                <a:spcPts val="1700"/>
              </a:lnSpc>
              <a:buNone/>
            </a:pPr>
            <a:r>
              <a:rPr lang="en-US" sz="1300" dirty="0">
                <a:solidFill>
                  <a:srgbClr val="5B5670"/>
                </a:solidFill>
                <a:latin typeface="Calibri" pitchFamily="34" charset="0"/>
                <a:ea typeface="Calibri" pitchFamily="34" charset="-122"/>
                <a:cs typeface="Calibri" pitchFamily="34" charset="-120"/>
              </a:rPr>
              <a:t>No text parsing anywhere in the project, so the CSV cannot be corrupted by odd wording.</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56032"/>
          </a:xfrm>
          <a:prstGeom prst="rect">
            <a:avLst/>
          </a:prstGeom>
          <a:noFill/>
          <a:ln/>
        </p:spPr>
        <p:txBody>
          <a:bodyPr wrap="square" lIns="0" tIns="0" rIns="0" bIns="0" rtlCol="0" anchor="ctr"/>
          <a:lstStyle/>
          <a:p>
            <a:pPr indent="0" marL="0">
              <a:buNone/>
            </a:pPr>
            <a:r>
              <a:rPr lang="en-US" sz="1100" b="1" spc="200" kern="0" dirty="0">
                <a:solidFill>
                  <a:srgbClr val="6B46C1"/>
                </a:solidFill>
                <a:latin typeface="Calibri" pitchFamily="34" charset="0"/>
                <a:ea typeface="Calibri" pitchFamily="34" charset="-122"/>
                <a:cs typeface="Calibri" pitchFamily="34" charset="-120"/>
              </a:rPr>
              <a:t>PROMPT ENGINEERING</a:t>
            </a:r>
            <a:endParaRPr lang="en-US" sz="1100" dirty="0"/>
          </a:p>
        </p:txBody>
      </p:sp>
      <p:sp>
        <p:nvSpPr>
          <p:cNvPr id="3" name="Text 1"/>
          <p:cNvSpPr txBox="1"/>
          <p:nvPr/>
        </p:nvSpPr>
        <p:spPr>
          <a:xfrm>
            <a:off x="640080" y="658368"/>
            <a:ext cx="10881360" cy="685800"/>
          </a:xfrm>
          <a:prstGeom prst="rect">
            <a:avLst/>
          </a:prstGeom>
          <a:noFill/>
          <a:ln/>
        </p:spPr>
        <p:txBody>
          <a:bodyPr wrap="square" lIns="0" tIns="0" rIns="0" bIns="0" rtlCol="0" anchor="ctr"/>
          <a:lstStyle/>
          <a:p>
            <a:pPr indent="0" marL="0">
              <a:buNone/>
            </a:pPr>
            <a:r>
              <a:rPr lang="en-US" sz="3200" b="1" dirty="0">
                <a:solidFill>
                  <a:srgbClr val="2A1B4D"/>
                </a:solidFill>
                <a:latin typeface="Cambria" pitchFamily="34" charset="0"/>
                <a:ea typeface="Cambria" pitchFamily="34" charset="-122"/>
                <a:cs typeface="Cambria" pitchFamily="34" charset="-120"/>
              </a:rPr>
              <a:t>Four measures that stop the model inventing facts</a:t>
            </a:r>
            <a:endParaRPr lang="en-US" sz="3200" dirty="0"/>
          </a:p>
        </p:txBody>
      </p:sp>
      <p:sp>
        <p:nvSpPr>
          <p:cNvPr id="4" name="Shape 2"/>
          <p:cNvSpPr/>
          <p:nvPr/>
        </p:nvSpPr>
        <p:spPr>
          <a:xfrm>
            <a:off x="640080" y="1554480"/>
            <a:ext cx="5257800" cy="1828800"/>
          </a:xfrm>
          <a:prstGeom prst="roundRect">
            <a:avLst>
              <a:gd name="adj" fmla="val 4500"/>
            </a:avLst>
          </a:prstGeom>
          <a:solidFill>
            <a:srgbClr val="2A1B4D"/>
          </a:solidFill>
          <a:ln w="12700">
            <a:solidFill>
              <a:srgbClr val="2A1B4D"/>
            </a:solidFill>
            <a:prstDash val="solid"/>
          </a:ln>
          <a:effectLst>
            <a:outerShdw sx="100000" sy="100000" kx="0" ky="0" algn="bl" rotWithShape="0" blurRad="101600" dist="25400" dir="5400000">
              <a:srgbClr val="B9B2CE">
                <a:alpha val="35000"/>
              </a:srgbClr>
            </a:outerShdw>
          </a:effectLst>
        </p:spPr>
      </p:sp>
      <p:sp>
        <p:nvSpPr>
          <p:cNvPr id="5" name="Text 3"/>
          <p:cNvSpPr txBox="1"/>
          <p:nvPr/>
        </p:nvSpPr>
        <p:spPr>
          <a:xfrm>
            <a:off x="914400" y="1755648"/>
            <a:ext cx="4709160" cy="274320"/>
          </a:xfrm>
          <a:prstGeom prst="rect">
            <a:avLst/>
          </a:prstGeom>
          <a:noFill/>
          <a:ln/>
        </p:spPr>
        <p:txBody>
          <a:bodyPr wrap="square" lIns="0" tIns="0" rIns="0" bIns="0" rtlCol="0" anchor="ctr"/>
          <a:lstStyle/>
          <a:p>
            <a:pPr indent="0" marL="0">
              <a:buNone/>
            </a:pPr>
            <a:r>
              <a:rPr lang="en-US" sz="1200" b="1" dirty="0">
                <a:solidFill>
                  <a:srgbClr val="CFC4EE"/>
                </a:solidFill>
                <a:latin typeface="Calibri" pitchFamily="34" charset="0"/>
                <a:ea typeface="Calibri" pitchFamily="34" charset="-122"/>
                <a:cs typeface="Calibri" pitchFamily="34" charset="-120"/>
              </a:rPr>
              <a:t>The shared rule, included in all three prompts</a:t>
            </a:r>
            <a:endParaRPr lang="en-US" sz="1200" dirty="0"/>
          </a:p>
        </p:txBody>
      </p:sp>
      <p:sp>
        <p:nvSpPr>
          <p:cNvPr id="6" name="Text 4"/>
          <p:cNvSpPr txBox="1"/>
          <p:nvPr/>
        </p:nvSpPr>
        <p:spPr>
          <a:xfrm>
            <a:off x="914400" y="2084832"/>
            <a:ext cx="4709160" cy="1143000"/>
          </a:xfrm>
          <a:prstGeom prst="rect">
            <a:avLst/>
          </a:prstGeom>
          <a:noFill/>
          <a:ln/>
        </p:spPr>
        <p:txBody>
          <a:bodyPr wrap="square" lIns="0" tIns="0" rIns="0" bIns="0" rtlCol="0" anchor="t"/>
          <a:lstStyle/>
          <a:p>
            <a:pPr indent="0" marL="0">
              <a:lnSpc>
                <a:spcPts val="1900"/>
              </a:lnSpc>
              <a:buNone/>
            </a:pPr>
            <a:r>
              <a:rPr lang="en-US" sz="1300" i="1" dirty="0">
                <a:solidFill>
                  <a:srgbClr val="FFFFFF"/>
                </a:solidFill>
                <a:latin typeface="Calibri" pitchFamily="34" charset="0"/>
                <a:ea typeface="Calibri" pitchFamily="34" charset="-122"/>
                <a:cs typeface="Calibri" pitchFamily="34" charset="-120"/>
              </a:rPr>
              <a:t>“Use ONLY information that is present in the text you are given. If something is not mentioned, leave it empty or false. Never invent names, phone numbers, dates, amounts or promises.”</a:t>
            </a:r>
            <a:endParaRPr lang="en-US" sz="1300" dirty="0"/>
          </a:p>
        </p:txBody>
      </p:sp>
      <p:sp>
        <p:nvSpPr>
          <p:cNvPr id="7" name="Text 5"/>
          <p:cNvSpPr txBox="1"/>
          <p:nvPr/>
        </p:nvSpPr>
        <p:spPr>
          <a:xfrm>
            <a:off x="640080" y="3611880"/>
            <a:ext cx="5257800" cy="292608"/>
          </a:xfrm>
          <a:prstGeom prst="rect">
            <a:avLst/>
          </a:prstGeom>
          <a:noFill/>
          <a:ln/>
        </p:spPr>
        <p:txBody>
          <a:bodyPr wrap="square" lIns="0" tIns="0" rIns="0" bIns="0" rtlCol="0" anchor="ctr"/>
          <a:lstStyle/>
          <a:p>
            <a:pPr indent="0" marL="0">
              <a:buNone/>
            </a:pPr>
            <a:r>
              <a:rPr lang="en-US" sz="1600" b="1" dirty="0">
                <a:solidFill>
                  <a:srgbClr val="2A1B4D"/>
                </a:solidFill>
                <a:latin typeface="Calibri" pitchFamily="34" charset="0"/>
                <a:ea typeface="Calibri" pitchFamily="34" charset="-122"/>
                <a:cs typeface="Calibri" pitchFamily="34" charset="-120"/>
              </a:rPr>
              <a:t>Why it matters</a:t>
            </a:r>
            <a:endParaRPr lang="en-US" sz="1600" dirty="0"/>
          </a:p>
        </p:txBody>
      </p:sp>
      <p:sp>
        <p:nvSpPr>
          <p:cNvPr id="8" name="Text 6"/>
          <p:cNvSpPr txBox="1"/>
          <p:nvPr/>
        </p:nvSpPr>
        <p:spPr>
          <a:xfrm>
            <a:off x="640080" y="3977640"/>
            <a:ext cx="5257800" cy="1554480"/>
          </a:xfrm>
          <a:prstGeom prst="rect">
            <a:avLst/>
          </a:prstGeom>
          <a:noFill/>
          <a:ln/>
        </p:spPr>
        <p:txBody>
          <a:bodyPr wrap="square" lIns="0" tIns="0" rIns="0" bIns="0" rtlCol="0" anchor="t"/>
          <a:lstStyle/>
          <a:p>
            <a:pPr indent="0" marL="0">
              <a:lnSpc>
                <a:spcPts val="1900"/>
              </a:lnSpc>
              <a:buNone/>
            </a:pPr>
            <a:r>
              <a:rPr lang="en-US" sz="1350" dirty="0">
                <a:solidFill>
                  <a:srgbClr val="241F31"/>
                </a:solidFill>
                <a:latin typeface="Calibri" pitchFamily="34" charset="0"/>
                <a:ea typeface="Calibri" pitchFamily="34" charset="-122"/>
                <a:cs typeface="Calibri" pitchFamily="34" charset="-120"/>
              </a:rPr>
              <a:t>An email that promises a refund the company never agreed to is worse than no email at all. So the email prompt adds: if no resolution is recorded, say the case is under review and give the next step — do not promise a refund or a date.</a:t>
            </a:r>
            <a:endParaRPr lang="en-US" sz="1350" dirty="0"/>
          </a:p>
        </p:txBody>
      </p:sp>
      <p:sp>
        <p:nvSpPr>
          <p:cNvPr id="9" name="Shape 7"/>
          <p:cNvSpPr/>
          <p:nvPr/>
        </p:nvSpPr>
        <p:spPr>
          <a:xfrm>
            <a:off x="6263640" y="1600200"/>
            <a:ext cx="420624" cy="420624"/>
          </a:xfrm>
          <a:prstGeom prst="ellipse">
            <a:avLst/>
          </a:prstGeom>
          <a:solidFill>
            <a:srgbClr val="6B46C1"/>
          </a:solidFill>
          <a:ln/>
        </p:spPr>
      </p:sp>
      <p:sp>
        <p:nvSpPr>
          <p:cNvPr id="10" name="Text 8"/>
          <p:cNvSpPr txBox="1"/>
          <p:nvPr/>
        </p:nvSpPr>
        <p:spPr>
          <a:xfrm>
            <a:off x="6263640" y="16002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11" name="Text 9"/>
          <p:cNvSpPr txBox="1"/>
          <p:nvPr/>
        </p:nvSpPr>
        <p:spPr>
          <a:xfrm>
            <a:off x="6858000" y="1572768"/>
            <a:ext cx="4709160" cy="292608"/>
          </a:xfrm>
          <a:prstGeom prst="rect">
            <a:avLst/>
          </a:prstGeom>
          <a:noFill/>
          <a:ln/>
        </p:spPr>
        <p:txBody>
          <a:bodyPr wrap="square" lIns="0" tIns="0" rIns="0" bIns="0" rtlCol="0" anchor="ctr"/>
          <a:lstStyle/>
          <a:p>
            <a:pPr indent="0" marL="0">
              <a:buNone/>
            </a:pPr>
            <a:r>
              <a:rPr lang="en-US" sz="1600" b="1" dirty="0">
                <a:solidFill>
                  <a:srgbClr val="241F31"/>
                </a:solidFill>
                <a:latin typeface="Calibri" pitchFamily="34" charset="0"/>
                <a:ea typeface="Calibri" pitchFamily="34" charset="-122"/>
                <a:cs typeface="Calibri" pitchFamily="34" charset="-120"/>
              </a:rPr>
              <a:t>A rule in every prompt</a:t>
            </a:r>
            <a:endParaRPr lang="en-US" sz="1600" dirty="0"/>
          </a:p>
        </p:txBody>
      </p:sp>
      <p:sp>
        <p:nvSpPr>
          <p:cNvPr id="12" name="Text 10"/>
          <p:cNvSpPr txBox="1"/>
          <p:nvPr/>
        </p:nvSpPr>
        <p:spPr>
          <a:xfrm>
            <a:off x="6858000" y="1874520"/>
            <a:ext cx="4709160" cy="713232"/>
          </a:xfrm>
          <a:prstGeom prst="rect">
            <a:avLst/>
          </a:prstGeom>
          <a:noFill/>
          <a:ln/>
        </p:spPr>
        <p:txBody>
          <a:bodyPr wrap="square" lIns="0" tIns="0" rIns="0" bIns="0" rtlCol="0" anchor="t"/>
          <a:lstStyle/>
          <a:p>
            <a:pPr indent="0" marL="0">
              <a:lnSpc>
                <a:spcPts val="1700"/>
              </a:lnSpc>
              <a:buNone/>
            </a:pPr>
            <a:r>
              <a:rPr lang="en-US" sz="1300" dirty="0">
                <a:solidFill>
                  <a:srgbClr val="5B5670"/>
                </a:solidFill>
                <a:latin typeface="Calibri" pitchFamily="34" charset="0"/>
                <a:ea typeface="Calibri" pitchFamily="34" charset="-122"/>
                <a:cs typeface="Calibri" pitchFamily="34" charset="-120"/>
              </a:rPr>
              <a:t>Defined once as a constant and included in all three system messages.</a:t>
            </a:r>
            <a:endParaRPr lang="en-US" sz="1300" dirty="0"/>
          </a:p>
        </p:txBody>
      </p:sp>
      <p:sp>
        <p:nvSpPr>
          <p:cNvPr id="13" name="Shape 11"/>
          <p:cNvSpPr/>
          <p:nvPr/>
        </p:nvSpPr>
        <p:spPr>
          <a:xfrm>
            <a:off x="6263640" y="2770632"/>
            <a:ext cx="420624" cy="420624"/>
          </a:xfrm>
          <a:prstGeom prst="ellipse">
            <a:avLst/>
          </a:prstGeom>
          <a:solidFill>
            <a:srgbClr val="6B46C1"/>
          </a:solidFill>
          <a:ln/>
        </p:spPr>
      </p:sp>
      <p:sp>
        <p:nvSpPr>
          <p:cNvPr id="14" name="Text 12"/>
          <p:cNvSpPr txBox="1"/>
          <p:nvPr/>
        </p:nvSpPr>
        <p:spPr>
          <a:xfrm>
            <a:off x="6263640" y="2770632"/>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5" name="Text 13"/>
          <p:cNvSpPr txBox="1"/>
          <p:nvPr/>
        </p:nvSpPr>
        <p:spPr>
          <a:xfrm>
            <a:off x="6858000" y="2743200"/>
            <a:ext cx="4709160" cy="292608"/>
          </a:xfrm>
          <a:prstGeom prst="rect">
            <a:avLst/>
          </a:prstGeom>
          <a:noFill/>
          <a:ln/>
        </p:spPr>
        <p:txBody>
          <a:bodyPr wrap="square" lIns="0" tIns="0" rIns="0" bIns="0" rtlCol="0" anchor="ctr"/>
          <a:lstStyle/>
          <a:p>
            <a:pPr indent="0" marL="0">
              <a:buNone/>
            </a:pPr>
            <a:r>
              <a:rPr lang="en-US" sz="1600" b="1" dirty="0">
                <a:solidFill>
                  <a:srgbClr val="241F31"/>
                </a:solidFill>
                <a:latin typeface="Calibri" pitchFamily="34" charset="0"/>
                <a:ea typeface="Calibri" pitchFamily="34" charset="-122"/>
                <a:cs typeface="Calibri" pitchFamily="34" charset="-120"/>
              </a:rPr>
              <a:t>Structured output</a:t>
            </a:r>
            <a:endParaRPr lang="en-US" sz="1600" dirty="0"/>
          </a:p>
        </p:txBody>
      </p:sp>
      <p:sp>
        <p:nvSpPr>
          <p:cNvPr id="16" name="Text 14"/>
          <p:cNvSpPr txBox="1"/>
          <p:nvPr/>
        </p:nvSpPr>
        <p:spPr>
          <a:xfrm>
            <a:off x="6858000" y="3044952"/>
            <a:ext cx="4709160" cy="713232"/>
          </a:xfrm>
          <a:prstGeom prst="rect">
            <a:avLst/>
          </a:prstGeom>
          <a:noFill/>
          <a:ln/>
        </p:spPr>
        <p:txBody>
          <a:bodyPr wrap="square" lIns="0" tIns="0" rIns="0" bIns="0" rtlCol="0" anchor="t"/>
          <a:lstStyle/>
          <a:p>
            <a:pPr indent="0" marL="0">
              <a:lnSpc>
                <a:spcPts val="1700"/>
              </a:lnSpc>
              <a:buNone/>
            </a:pPr>
            <a:r>
              <a:rPr lang="en-US" sz="1300" dirty="0">
                <a:solidFill>
                  <a:srgbClr val="5B5670"/>
                </a:solidFill>
                <a:latin typeface="Calibri" pitchFamily="34" charset="0"/>
                <a:ea typeface="Calibri" pitchFamily="34" charset="-122"/>
                <a:cs typeface="Calibri" pitchFamily="34" charset="-120"/>
              </a:rPr>
              <a:t>Fixed fields, not free prose in which an invented detail can hide.</a:t>
            </a:r>
            <a:endParaRPr lang="en-US" sz="1300" dirty="0"/>
          </a:p>
        </p:txBody>
      </p:sp>
      <p:sp>
        <p:nvSpPr>
          <p:cNvPr id="17" name="Shape 15"/>
          <p:cNvSpPr/>
          <p:nvPr/>
        </p:nvSpPr>
        <p:spPr>
          <a:xfrm>
            <a:off x="6263640" y="3941064"/>
            <a:ext cx="420624" cy="420624"/>
          </a:xfrm>
          <a:prstGeom prst="ellipse">
            <a:avLst/>
          </a:prstGeom>
          <a:solidFill>
            <a:srgbClr val="6B46C1"/>
          </a:solidFill>
          <a:ln/>
        </p:spPr>
      </p:sp>
      <p:sp>
        <p:nvSpPr>
          <p:cNvPr id="18" name="Text 16"/>
          <p:cNvSpPr txBox="1"/>
          <p:nvPr/>
        </p:nvSpPr>
        <p:spPr>
          <a:xfrm>
            <a:off x="6263640" y="3941064"/>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9" name="Text 17"/>
          <p:cNvSpPr txBox="1"/>
          <p:nvPr/>
        </p:nvSpPr>
        <p:spPr>
          <a:xfrm>
            <a:off x="6858000" y="3913632"/>
            <a:ext cx="4709160" cy="292608"/>
          </a:xfrm>
          <a:prstGeom prst="rect">
            <a:avLst/>
          </a:prstGeom>
          <a:noFill/>
          <a:ln/>
        </p:spPr>
        <p:txBody>
          <a:bodyPr wrap="square" lIns="0" tIns="0" rIns="0" bIns="0" rtlCol="0" anchor="ctr"/>
          <a:lstStyle/>
          <a:p>
            <a:pPr indent="0" marL="0">
              <a:buNone/>
            </a:pPr>
            <a:r>
              <a:rPr lang="en-US" sz="1600" b="1" dirty="0">
                <a:solidFill>
                  <a:srgbClr val="241F31"/>
                </a:solidFill>
                <a:latin typeface="Calibri" pitchFamily="34" charset="0"/>
                <a:ea typeface="Calibri" pitchFamily="34" charset="-122"/>
                <a:cs typeface="Calibri" pitchFamily="34" charset="-120"/>
              </a:rPr>
              <a:t>Optional fields</a:t>
            </a:r>
            <a:endParaRPr lang="en-US" sz="1600" dirty="0"/>
          </a:p>
        </p:txBody>
      </p:sp>
      <p:sp>
        <p:nvSpPr>
          <p:cNvPr id="20" name="Text 18"/>
          <p:cNvSpPr txBox="1"/>
          <p:nvPr/>
        </p:nvSpPr>
        <p:spPr>
          <a:xfrm>
            <a:off x="6858000" y="4215384"/>
            <a:ext cx="4709160" cy="713232"/>
          </a:xfrm>
          <a:prstGeom prst="rect">
            <a:avLst/>
          </a:prstGeom>
          <a:noFill/>
          <a:ln/>
        </p:spPr>
        <p:txBody>
          <a:bodyPr wrap="square" lIns="0" tIns="0" rIns="0" bIns="0" rtlCol="0" anchor="t"/>
          <a:lstStyle/>
          <a:p>
            <a:pPr indent="0" marL="0">
              <a:lnSpc>
                <a:spcPts val="1700"/>
              </a:lnSpc>
              <a:buNone/>
            </a:pPr>
            <a:r>
              <a:rPr lang="en-US" sz="1300" dirty="0">
                <a:solidFill>
                  <a:srgbClr val="5B5670"/>
                </a:solidFill>
                <a:latin typeface="Calibri" pitchFamily="34" charset="0"/>
                <a:ea typeface="Calibri" pitchFamily="34" charset="-122"/>
                <a:cs typeface="Calibri" pitchFamily="34" charset="-120"/>
              </a:rPr>
              <a:t>None is a legitimate answer, so the model has somewhere to put absence.</a:t>
            </a:r>
            <a:endParaRPr lang="en-US" sz="1300" dirty="0"/>
          </a:p>
        </p:txBody>
      </p:sp>
      <p:sp>
        <p:nvSpPr>
          <p:cNvPr id="21" name="Shape 19"/>
          <p:cNvSpPr/>
          <p:nvPr/>
        </p:nvSpPr>
        <p:spPr>
          <a:xfrm>
            <a:off x="6263640" y="5111496"/>
            <a:ext cx="420624" cy="420624"/>
          </a:xfrm>
          <a:prstGeom prst="ellipse">
            <a:avLst/>
          </a:prstGeom>
          <a:solidFill>
            <a:srgbClr val="6B46C1"/>
          </a:solidFill>
          <a:ln/>
        </p:spPr>
      </p:sp>
      <p:sp>
        <p:nvSpPr>
          <p:cNvPr id="22" name="Text 20"/>
          <p:cNvSpPr txBox="1"/>
          <p:nvPr/>
        </p:nvSpPr>
        <p:spPr>
          <a:xfrm>
            <a:off x="6263640" y="5111496"/>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23" name="Text 21"/>
          <p:cNvSpPr txBox="1"/>
          <p:nvPr/>
        </p:nvSpPr>
        <p:spPr>
          <a:xfrm>
            <a:off x="6858000" y="5084064"/>
            <a:ext cx="4709160" cy="292608"/>
          </a:xfrm>
          <a:prstGeom prst="rect">
            <a:avLst/>
          </a:prstGeom>
          <a:noFill/>
          <a:ln/>
        </p:spPr>
        <p:txBody>
          <a:bodyPr wrap="square" lIns="0" tIns="0" rIns="0" bIns="0" rtlCol="0" anchor="ctr"/>
          <a:lstStyle/>
          <a:p>
            <a:pPr indent="0" marL="0">
              <a:buNone/>
            </a:pPr>
            <a:r>
              <a:rPr lang="en-US" sz="1600" b="1" dirty="0">
                <a:solidFill>
                  <a:srgbClr val="241F31"/>
                </a:solidFill>
                <a:latin typeface="Calibri" pitchFamily="34" charset="0"/>
                <a:ea typeface="Calibri" pitchFamily="34" charset="-122"/>
                <a:cs typeface="Calibri" pitchFamily="34" charset="-120"/>
              </a:rPr>
              <a:t>Generation reads the extraction</a:t>
            </a:r>
            <a:endParaRPr lang="en-US" sz="1600" dirty="0"/>
          </a:p>
        </p:txBody>
      </p:sp>
      <p:sp>
        <p:nvSpPr>
          <p:cNvPr id="24" name="Text 22"/>
          <p:cNvSpPr txBox="1"/>
          <p:nvPr/>
        </p:nvSpPr>
        <p:spPr>
          <a:xfrm>
            <a:off x="6858000" y="5385816"/>
            <a:ext cx="4709160" cy="713232"/>
          </a:xfrm>
          <a:prstGeom prst="rect">
            <a:avLst/>
          </a:prstGeom>
          <a:noFill/>
          <a:ln/>
        </p:spPr>
        <p:txBody>
          <a:bodyPr wrap="square" lIns="0" tIns="0" rIns="0" bIns="0" rtlCol="0" anchor="t"/>
          <a:lstStyle/>
          <a:p>
            <a:pPr indent="0" marL="0">
              <a:lnSpc>
                <a:spcPts val="1700"/>
              </a:lnSpc>
              <a:buNone/>
            </a:pPr>
            <a:r>
              <a:rPr lang="en-US" sz="1300" dirty="0">
                <a:solidFill>
                  <a:srgbClr val="5B5670"/>
                </a:solidFill>
                <a:latin typeface="Calibri" pitchFamily="34" charset="0"/>
                <a:ea typeface="Calibri" pitchFamily="34" charset="-122"/>
                <a:cs typeface="Calibri" pitchFamily="34" charset="-120"/>
              </a:rPr>
              <a:t>Not the raw document — so it can only use facts already validated.</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56032"/>
          </a:xfrm>
          <a:prstGeom prst="rect">
            <a:avLst/>
          </a:prstGeom>
          <a:noFill/>
          <a:ln/>
        </p:spPr>
        <p:txBody>
          <a:bodyPr wrap="square" lIns="0" tIns="0" rIns="0" bIns="0" rtlCol="0" anchor="ctr"/>
          <a:lstStyle/>
          <a:p>
            <a:pPr indent="0" marL="0">
              <a:buNone/>
            </a:pPr>
            <a:r>
              <a:rPr lang="en-US" sz="1100" b="1" spc="200" kern="0" dirty="0">
                <a:solidFill>
                  <a:srgbClr val="6B46C1"/>
                </a:solidFill>
                <a:latin typeface="Calibri" pitchFamily="34" charset="0"/>
                <a:ea typeface="Calibri" pitchFamily="34" charset="-122"/>
                <a:cs typeface="Calibri" pitchFamily="34" charset="-120"/>
              </a:rPr>
              <a:t>BATCH PROCESSING &amp; ERROR HANDLING</a:t>
            </a:r>
            <a:endParaRPr lang="en-US" sz="1100" dirty="0"/>
          </a:p>
        </p:txBody>
      </p:sp>
      <p:sp>
        <p:nvSpPr>
          <p:cNvPr id="3" name="Text 1"/>
          <p:cNvSpPr txBox="1"/>
          <p:nvPr/>
        </p:nvSpPr>
        <p:spPr>
          <a:xfrm>
            <a:off x="640080" y="658368"/>
            <a:ext cx="10881360" cy="685800"/>
          </a:xfrm>
          <a:prstGeom prst="rect">
            <a:avLst/>
          </a:prstGeom>
          <a:noFill/>
          <a:ln/>
        </p:spPr>
        <p:txBody>
          <a:bodyPr wrap="square" lIns="0" tIns="0" rIns="0" bIns="0" rtlCol="0" anchor="ctr"/>
          <a:lstStyle/>
          <a:p>
            <a:pPr indent="0" marL="0">
              <a:buNone/>
            </a:pPr>
            <a:r>
              <a:rPr lang="en-US" sz="3200" b="1" dirty="0">
                <a:solidFill>
                  <a:srgbClr val="2A1B4D"/>
                </a:solidFill>
                <a:latin typeface="Cambria" pitchFamily="34" charset="0"/>
                <a:ea typeface="Cambria" pitchFamily="34" charset="-122"/>
                <a:cs typeface="Cambria" pitchFamily="34" charset="-120"/>
              </a:rPr>
              <a:t>One bad document never stops the batch</a:t>
            </a:r>
            <a:endParaRPr lang="en-US" sz="3200" dirty="0"/>
          </a:p>
        </p:txBody>
      </p:sp>
      <p:pic>
        <p:nvPicPr>
          <p:cNvPr id="4" name="Image 0" descr="preencoded.png">    </p:cNvPr>
          <p:cNvPicPr>
            <a:picLocks noChangeAspect="1"/>
          </p:cNvPicPr>
          <p:nvPr/>
        </p:nvPicPr>
        <p:blipFill>
          <a:blip r:embed="rId1"/>
          <a:stretch>
            <a:fillRect/>
          </a:stretch>
        </p:blipFill>
        <p:spPr>
          <a:xfrm>
            <a:off x="640080" y="1325880"/>
            <a:ext cx="10881360" cy="3081528"/>
          </a:xfrm>
          <a:prstGeom prst="rect">
            <a:avLst/>
          </a:prstGeom>
        </p:spPr>
      </p:pic>
      <p:sp>
        <p:nvSpPr>
          <p:cNvPr id="5" name="Shape 2"/>
          <p:cNvSpPr/>
          <p:nvPr/>
        </p:nvSpPr>
        <p:spPr>
          <a:xfrm>
            <a:off x="640080" y="4709160"/>
            <a:ext cx="3502152" cy="1572768"/>
          </a:xfrm>
          <a:prstGeom prst="roundRect">
            <a:avLst>
              <a:gd name="adj" fmla="val 5233"/>
            </a:avLst>
          </a:prstGeom>
          <a:solidFill>
            <a:srgbClr val="F4F1FB"/>
          </a:solidFill>
          <a:ln w="12700">
            <a:solidFill>
              <a:srgbClr val="F4F1FB"/>
            </a:solidFill>
            <a:prstDash val="solid"/>
          </a:ln>
          <a:effectLst>
            <a:outerShdw sx="100000" sy="100000" kx="0" ky="0" algn="bl" rotWithShape="0" blurRad="101600" dist="25400" dir="5400000">
              <a:srgbClr val="B9B2CE">
                <a:alpha val="35000"/>
              </a:srgbClr>
            </a:outerShdw>
          </a:effectLst>
        </p:spPr>
      </p:sp>
      <p:sp>
        <p:nvSpPr>
          <p:cNvPr id="6" name="Shape 3"/>
          <p:cNvSpPr/>
          <p:nvPr/>
        </p:nvSpPr>
        <p:spPr>
          <a:xfrm>
            <a:off x="914400" y="4901184"/>
            <a:ext cx="365760" cy="365760"/>
          </a:xfrm>
          <a:prstGeom prst="ellipse">
            <a:avLst/>
          </a:prstGeom>
          <a:solidFill>
            <a:srgbClr val="C53030"/>
          </a:solidFill>
          <a:ln/>
        </p:spPr>
      </p:sp>
      <p:sp>
        <p:nvSpPr>
          <p:cNvPr id="7" name="Text 4"/>
          <p:cNvSpPr txBox="1"/>
          <p:nvPr/>
        </p:nvSpPr>
        <p:spPr>
          <a:xfrm>
            <a:off x="914400" y="490118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5"/>
          <p:cNvSpPr txBox="1"/>
          <p:nvPr/>
        </p:nvSpPr>
        <p:spPr>
          <a:xfrm>
            <a:off x="1389888" y="4901184"/>
            <a:ext cx="2560320" cy="365760"/>
          </a:xfrm>
          <a:prstGeom prst="rect">
            <a:avLst/>
          </a:prstGeom>
          <a:noFill/>
          <a:ln/>
        </p:spPr>
        <p:txBody>
          <a:bodyPr wrap="square" lIns="0" tIns="0" rIns="0" bIns="0" rtlCol="0" anchor="ctr"/>
          <a:lstStyle/>
          <a:p>
            <a:pPr indent="0" marL="0">
              <a:buNone/>
            </a:pPr>
            <a:r>
              <a:rPr lang="en-US" sz="1500" b="1" dirty="0">
                <a:solidFill>
                  <a:srgbClr val="2A1B4D"/>
                </a:solidFill>
                <a:latin typeface="Calibri" pitchFamily="34" charset="0"/>
                <a:ea typeface="Calibri" pitchFamily="34" charset="-122"/>
                <a:cs typeface="Calibri" pitchFamily="34" charset="-120"/>
              </a:rPr>
              <a:t>The API call</a:t>
            </a:r>
            <a:endParaRPr lang="en-US" sz="1500" dirty="0"/>
          </a:p>
        </p:txBody>
      </p:sp>
      <p:sp>
        <p:nvSpPr>
          <p:cNvPr id="9" name="Text 6"/>
          <p:cNvSpPr txBox="1"/>
          <p:nvPr/>
        </p:nvSpPr>
        <p:spPr>
          <a:xfrm>
            <a:off x="914400" y="5358384"/>
            <a:ext cx="2971800" cy="777240"/>
          </a:xfrm>
          <a:prstGeom prst="rect">
            <a:avLst/>
          </a:prstGeom>
          <a:noFill/>
          <a:ln/>
        </p:spPr>
        <p:txBody>
          <a:bodyPr wrap="square" lIns="0" tIns="0" rIns="0" bIns="0" rtlCol="0" anchor="t"/>
          <a:lstStyle/>
          <a:p>
            <a:pPr indent="0" marL="0">
              <a:lnSpc>
                <a:spcPts val="1500"/>
              </a:lnSpc>
              <a:buNone/>
            </a:pPr>
            <a:r>
              <a:rPr lang="en-US" sz="1150" dirty="0">
                <a:solidFill>
                  <a:srgbClr val="5B5670"/>
                </a:solidFill>
                <a:latin typeface="Calibri" pitchFamily="34" charset="0"/>
                <a:ea typeface="Calibri" pitchFamily="34" charset="-122"/>
                <a:cs typeface="Calibri" pitchFamily="34" charset="-120"/>
              </a:rPr>
              <a:t>call_with_retry() makes up to three attempts, waiting 2 seconds and then 4. Recovers from dropped connections and rate limits.</a:t>
            </a:r>
            <a:endParaRPr lang="en-US" sz="1150" dirty="0"/>
          </a:p>
        </p:txBody>
      </p:sp>
      <p:sp>
        <p:nvSpPr>
          <p:cNvPr id="10" name="Shape 7"/>
          <p:cNvSpPr/>
          <p:nvPr/>
        </p:nvSpPr>
        <p:spPr>
          <a:xfrm>
            <a:off x="4416552" y="4709160"/>
            <a:ext cx="3502152" cy="1572768"/>
          </a:xfrm>
          <a:prstGeom prst="roundRect">
            <a:avLst>
              <a:gd name="adj" fmla="val 5233"/>
            </a:avLst>
          </a:prstGeom>
          <a:solidFill>
            <a:srgbClr val="F4F1FB"/>
          </a:solidFill>
          <a:ln w="12700">
            <a:solidFill>
              <a:srgbClr val="F4F1FB"/>
            </a:solidFill>
            <a:prstDash val="solid"/>
          </a:ln>
          <a:effectLst>
            <a:outerShdw sx="100000" sy="100000" kx="0" ky="0" algn="bl" rotWithShape="0" blurRad="101600" dist="25400" dir="5400000">
              <a:srgbClr val="B9B2CE">
                <a:alpha val="35000"/>
              </a:srgbClr>
            </a:outerShdw>
          </a:effectLst>
        </p:spPr>
      </p:sp>
      <p:sp>
        <p:nvSpPr>
          <p:cNvPr id="11" name="Shape 8"/>
          <p:cNvSpPr/>
          <p:nvPr/>
        </p:nvSpPr>
        <p:spPr>
          <a:xfrm>
            <a:off x="4690872" y="4901184"/>
            <a:ext cx="365760" cy="365760"/>
          </a:xfrm>
          <a:prstGeom prst="ellipse">
            <a:avLst/>
          </a:prstGeom>
          <a:solidFill>
            <a:srgbClr val="C53030"/>
          </a:solidFill>
          <a:ln/>
        </p:spPr>
      </p:sp>
      <p:sp>
        <p:nvSpPr>
          <p:cNvPr id="12" name="Text 9"/>
          <p:cNvSpPr txBox="1"/>
          <p:nvPr/>
        </p:nvSpPr>
        <p:spPr>
          <a:xfrm>
            <a:off x="4690872" y="490118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3" name="Text 10"/>
          <p:cNvSpPr txBox="1"/>
          <p:nvPr/>
        </p:nvSpPr>
        <p:spPr>
          <a:xfrm>
            <a:off x="5166360" y="4901184"/>
            <a:ext cx="2560320" cy="365760"/>
          </a:xfrm>
          <a:prstGeom prst="rect">
            <a:avLst/>
          </a:prstGeom>
          <a:noFill/>
          <a:ln/>
        </p:spPr>
        <p:txBody>
          <a:bodyPr wrap="square" lIns="0" tIns="0" rIns="0" bIns="0" rtlCol="0" anchor="ctr"/>
          <a:lstStyle/>
          <a:p>
            <a:pPr indent="0" marL="0">
              <a:buNone/>
            </a:pPr>
            <a:r>
              <a:rPr lang="en-US" sz="1500" b="1" dirty="0">
                <a:solidFill>
                  <a:srgbClr val="2A1B4D"/>
                </a:solidFill>
                <a:latin typeface="Calibri" pitchFamily="34" charset="0"/>
                <a:ea typeface="Calibri" pitchFamily="34" charset="-122"/>
                <a:cs typeface="Calibri" pitchFamily="34" charset="-120"/>
              </a:rPr>
              <a:t>The file</a:t>
            </a:r>
            <a:endParaRPr lang="en-US" sz="1500" dirty="0"/>
          </a:p>
        </p:txBody>
      </p:sp>
      <p:sp>
        <p:nvSpPr>
          <p:cNvPr id="14" name="Text 11"/>
          <p:cNvSpPr txBox="1"/>
          <p:nvPr/>
        </p:nvSpPr>
        <p:spPr>
          <a:xfrm>
            <a:off x="4690872" y="5358384"/>
            <a:ext cx="2971800" cy="777240"/>
          </a:xfrm>
          <a:prstGeom prst="rect">
            <a:avLst/>
          </a:prstGeom>
          <a:noFill/>
          <a:ln/>
        </p:spPr>
        <p:txBody>
          <a:bodyPr wrap="square" lIns="0" tIns="0" rIns="0" bIns="0" rtlCol="0" anchor="t"/>
          <a:lstStyle/>
          <a:p>
            <a:pPr indent="0" marL="0">
              <a:lnSpc>
                <a:spcPts val="1500"/>
              </a:lnSpc>
              <a:buNone/>
            </a:pPr>
            <a:r>
              <a:rPr lang="en-US" sz="1150" dirty="0">
                <a:solidFill>
                  <a:srgbClr val="5B5670"/>
                </a:solidFill>
                <a:latin typeface="Calibri" pitchFamily="34" charset="0"/>
                <a:ea typeface="Calibri" pitchFamily="34" charset="-122"/>
                <a:cs typeface="Calibri" pitchFamily="34" charset="-120"/>
              </a:rPr>
              <a:t>A corrupt PDF, a scanned image with no text layer, or an almost-empty file is rejected with a message the user can act on.</a:t>
            </a:r>
            <a:endParaRPr lang="en-US" sz="1150" dirty="0"/>
          </a:p>
        </p:txBody>
      </p:sp>
      <p:sp>
        <p:nvSpPr>
          <p:cNvPr id="15" name="Shape 12"/>
          <p:cNvSpPr/>
          <p:nvPr/>
        </p:nvSpPr>
        <p:spPr>
          <a:xfrm>
            <a:off x="8193024" y="4709160"/>
            <a:ext cx="3502152" cy="1572768"/>
          </a:xfrm>
          <a:prstGeom prst="roundRect">
            <a:avLst>
              <a:gd name="adj" fmla="val 5233"/>
            </a:avLst>
          </a:prstGeom>
          <a:solidFill>
            <a:srgbClr val="F4F1FB"/>
          </a:solidFill>
          <a:ln w="12700">
            <a:solidFill>
              <a:srgbClr val="F4F1FB"/>
            </a:solidFill>
            <a:prstDash val="solid"/>
          </a:ln>
          <a:effectLst>
            <a:outerShdw sx="100000" sy="100000" kx="0" ky="0" algn="bl" rotWithShape="0" blurRad="101600" dist="25400" dir="5400000">
              <a:srgbClr val="B9B2CE">
                <a:alpha val="35000"/>
              </a:srgbClr>
            </a:outerShdw>
          </a:effectLst>
        </p:spPr>
      </p:sp>
      <p:sp>
        <p:nvSpPr>
          <p:cNvPr id="16" name="Shape 13"/>
          <p:cNvSpPr/>
          <p:nvPr/>
        </p:nvSpPr>
        <p:spPr>
          <a:xfrm>
            <a:off x="8467344" y="4901184"/>
            <a:ext cx="365760" cy="365760"/>
          </a:xfrm>
          <a:prstGeom prst="ellipse">
            <a:avLst/>
          </a:prstGeom>
          <a:solidFill>
            <a:srgbClr val="C53030"/>
          </a:solidFill>
          <a:ln/>
        </p:spPr>
      </p:sp>
      <p:sp>
        <p:nvSpPr>
          <p:cNvPr id="17" name="Text 14"/>
          <p:cNvSpPr txBox="1"/>
          <p:nvPr/>
        </p:nvSpPr>
        <p:spPr>
          <a:xfrm>
            <a:off x="8467344" y="490118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8" name="Text 15"/>
          <p:cNvSpPr txBox="1"/>
          <p:nvPr/>
        </p:nvSpPr>
        <p:spPr>
          <a:xfrm>
            <a:off x="8942832" y="4901184"/>
            <a:ext cx="2560320" cy="365760"/>
          </a:xfrm>
          <a:prstGeom prst="rect">
            <a:avLst/>
          </a:prstGeom>
          <a:noFill/>
          <a:ln/>
        </p:spPr>
        <p:txBody>
          <a:bodyPr wrap="square" lIns="0" tIns="0" rIns="0" bIns="0" rtlCol="0" anchor="ctr"/>
          <a:lstStyle/>
          <a:p>
            <a:pPr indent="0" marL="0">
              <a:buNone/>
            </a:pPr>
            <a:r>
              <a:rPr lang="en-US" sz="1500" b="1" dirty="0">
                <a:solidFill>
                  <a:srgbClr val="2A1B4D"/>
                </a:solidFill>
                <a:latin typeface="Calibri" pitchFamily="34" charset="0"/>
                <a:ea typeface="Calibri" pitchFamily="34" charset="-122"/>
                <a:cs typeface="Calibri" pitchFamily="34" charset="-120"/>
              </a:rPr>
              <a:t>The document</a:t>
            </a:r>
            <a:endParaRPr lang="en-US" sz="1500" dirty="0"/>
          </a:p>
        </p:txBody>
      </p:sp>
      <p:sp>
        <p:nvSpPr>
          <p:cNvPr id="19" name="Text 16"/>
          <p:cNvSpPr txBox="1"/>
          <p:nvPr/>
        </p:nvSpPr>
        <p:spPr>
          <a:xfrm>
            <a:off x="8467344" y="5358384"/>
            <a:ext cx="2971800" cy="777240"/>
          </a:xfrm>
          <a:prstGeom prst="rect">
            <a:avLst/>
          </a:prstGeom>
          <a:noFill/>
          <a:ln/>
        </p:spPr>
        <p:txBody>
          <a:bodyPr wrap="square" lIns="0" tIns="0" rIns="0" bIns="0" rtlCol="0" anchor="t"/>
          <a:lstStyle/>
          <a:p>
            <a:pPr indent="0" marL="0">
              <a:lnSpc>
                <a:spcPts val="1500"/>
              </a:lnSpc>
              <a:buNone/>
            </a:pPr>
            <a:r>
              <a:rPr lang="en-US" sz="1150" dirty="0">
                <a:solidFill>
                  <a:srgbClr val="5B5670"/>
                </a:solidFill>
                <a:latin typeface="Calibri" pitchFamily="34" charset="0"/>
                <a:ea typeface="Calibri" pitchFamily="34" charset="-122"/>
                <a:cs typeface="Calibri" pitchFamily="34" charset="-120"/>
              </a:rPr>
              <a:t>A try/except per document. The failure is logged, the batch continues, and the document still gets a CSV row marked ‘failed’.</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56032"/>
          </a:xfrm>
          <a:prstGeom prst="rect">
            <a:avLst/>
          </a:prstGeom>
          <a:noFill/>
          <a:ln/>
        </p:spPr>
        <p:txBody>
          <a:bodyPr wrap="square" lIns="0" tIns="0" rIns="0" bIns="0" rtlCol="0" anchor="ctr"/>
          <a:lstStyle/>
          <a:p>
            <a:pPr indent="0" marL="0">
              <a:buNone/>
            </a:pPr>
            <a:r>
              <a:rPr lang="en-US" sz="1100" b="1" spc="200" kern="0" dirty="0">
                <a:solidFill>
                  <a:srgbClr val="6B46C1"/>
                </a:solidFill>
                <a:latin typeface="Calibri" pitchFamily="34" charset="0"/>
                <a:ea typeface="Calibri" pitchFamily="34" charset="-122"/>
                <a:cs typeface="Calibri" pitchFamily="34" charset="-120"/>
              </a:rPr>
              <a:t>STACK</a:t>
            </a:r>
            <a:endParaRPr lang="en-US" sz="1100" dirty="0"/>
          </a:p>
        </p:txBody>
      </p:sp>
      <p:sp>
        <p:nvSpPr>
          <p:cNvPr id="3" name="Text 1"/>
          <p:cNvSpPr txBox="1"/>
          <p:nvPr/>
        </p:nvSpPr>
        <p:spPr>
          <a:xfrm>
            <a:off x="640080" y="658368"/>
            <a:ext cx="10881360" cy="685800"/>
          </a:xfrm>
          <a:prstGeom prst="rect">
            <a:avLst/>
          </a:prstGeom>
          <a:noFill/>
          <a:ln/>
        </p:spPr>
        <p:txBody>
          <a:bodyPr wrap="square" lIns="0" tIns="0" rIns="0" bIns="0" rtlCol="0" anchor="ctr"/>
          <a:lstStyle/>
          <a:p>
            <a:pPr indent="0" marL="0">
              <a:buNone/>
            </a:pPr>
            <a:r>
              <a:rPr lang="en-US" sz="3200" b="1" dirty="0">
                <a:solidFill>
                  <a:srgbClr val="2A1B4D"/>
                </a:solidFill>
                <a:latin typeface="Cambria" pitchFamily="34" charset="0"/>
                <a:ea typeface="Cambria" pitchFamily="34" charset="-122"/>
                <a:cs typeface="Cambria" pitchFamily="34" charset="-120"/>
              </a:rPr>
              <a:t>Technology choices and why</a:t>
            </a:r>
            <a:endParaRPr lang="en-US" sz="3200" dirty="0"/>
          </a:p>
        </p:txBody>
      </p:sp>
      <p:sp>
        <p:nvSpPr>
          <p:cNvPr id="4" name="Shape 2"/>
          <p:cNvSpPr/>
          <p:nvPr/>
        </p:nvSpPr>
        <p:spPr>
          <a:xfrm>
            <a:off x="640080" y="1481328"/>
            <a:ext cx="10881360" cy="640080"/>
          </a:xfrm>
          <a:prstGeom prst="roundRect">
            <a:avLst>
              <a:gd name="adj" fmla="val 12857"/>
            </a:avLst>
          </a:prstGeom>
          <a:solidFill>
            <a:srgbClr val="F4F1FB"/>
          </a:solidFill>
          <a:ln w="12700">
            <a:solidFill>
              <a:srgbClr val="F4F1FB"/>
            </a:solidFill>
            <a:prstDash val="solid"/>
          </a:ln>
          <a:effectLst>
            <a:outerShdw sx="100000" sy="100000" kx="0" ky="0" algn="bl" rotWithShape="0" blurRad="101600" dist="25400" dir="5400000">
              <a:srgbClr val="B9B2CE">
                <a:alpha val="35000"/>
              </a:srgbClr>
            </a:outerShdw>
          </a:effectLst>
        </p:spPr>
      </p:sp>
      <p:sp>
        <p:nvSpPr>
          <p:cNvPr id="5" name="Text 3"/>
          <p:cNvSpPr txBox="1"/>
          <p:nvPr/>
        </p:nvSpPr>
        <p:spPr>
          <a:xfrm>
            <a:off x="914400" y="1655064"/>
            <a:ext cx="3108960" cy="347472"/>
          </a:xfrm>
          <a:prstGeom prst="rect">
            <a:avLst/>
          </a:prstGeom>
          <a:noFill/>
          <a:ln/>
        </p:spPr>
        <p:txBody>
          <a:bodyPr wrap="square" lIns="0" tIns="0" rIns="0" bIns="0" rtlCol="0" anchor="ctr"/>
          <a:lstStyle/>
          <a:p>
            <a:pPr indent="0" marL="0">
              <a:buNone/>
            </a:pPr>
            <a:r>
              <a:rPr lang="en-US" sz="1450" b="1" dirty="0">
                <a:solidFill>
                  <a:srgbClr val="6B46C1"/>
                </a:solidFill>
                <a:latin typeface="Calibri" pitchFamily="34" charset="0"/>
                <a:ea typeface="Calibri" pitchFamily="34" charset="-122"/>
                <a:cs typeface="Calibri" pitchFamily="34" charset="-120"/>
              </a:rPr>
              <a:t>OpenAI gpt-4o-mini</a:t>
            </a:r>
            <a:endParaRPr lang="en-US" sz="1450" dirty="0"/>
          </a:p>
        </p:txBody>
      </p:sp>
      <p:sp>
        <p:nvSpPr>
          <p:cNvPr id="6" name="Text 4"/>
          <p:cNvSpPr txBox="1"/>
          <p:nvPr/>
        </p:nvSpPr>
        <p:spPr>
          <a:xfrm>
            <a:off x="4114800" y="1655064"/>
            <a:ext cx="7132320" cy="347472"/>
          </a:xfrm>
          <a:prstGeom prst="rect">
            <a:avLst/>
          </a:prstGeom>
          <a:noFill/>
          <a:ln/>
        </p:spPr>
        <p:txBody>
          <a:bodyPr wrap="square" lIns="0" tIns="0" rIns="0" bIns="0" rtlCol="0" anchor="ctr"/>
          <a:lstStyle/>
          <a:p>
            <a:pPr indent="0" marL="0">
              <a:buNone/>
            </a:pPr>
            <a:r>
              <a:rPr lang="en-US" sz="1300" dirty="0">
                <a:solidFill>
                  <a:srgbClr val="241F31"/>
                </a:solidFill>
                <a:latin typeface="Calibri" pitchFamily="34" charset="0"/>
                <a:ea typeface="Calibri" pitchFamily="34" charset="-122"/>
                <a:cs typeface="Calibri" pitchFamily="34" charset="-120"/>
              </a:rPr>
              <a:t>Strong structured-output support at low cost — about $0.03 for the whole sample batch.</a:t>
            </a:r>
            <a:endParaRPr lang="en-US" sz="1300" dirty="0"/>
          </a:p>
        </p:txBody>
      </p:sp>
      <p:sp>
        <p:nvSpPr>
          <p:cNvPr id="7" name="Shape 5"/>
          <p:cNvSpPr/>
          <p:nvPr/>
        </p:nvSpPr>
        <p:spPr>
          <a:xfrm>
            <a:off x="640080" y="2304288"/>
            <a:ext cx="10881360" cy="640080"/>
          </a:xfrm>
          <a:prstGeom prst="roundRect">
            <a:avLst>
              <a:gd name="adj" fmla="val 12857"/>
            </a:avLst>
          </a:prstGeom>
          <a:solidFill>
            <a:srgbClr val="FFFFFF"/>
          </a:solidFill>
          <a:ln w="12700">
            <a:solidFill>
              <a:srgbClr val="FFFFFF"/>
            </a:solidFill>
            <a:prstDash val="solid"/>
          </a:ln>
          <a:effectLst>
            <a:outerShdw sx="100000" sy="100000" kx="0" ky="0" algn="bl" rotWithShape="0" blurRad="101600" dist="25400" dir="5400000">
              <a:srgbClr val="B9B2CE">
                <a:alpha val="35000"/>
              </a:srgbClr>
            </a:outerShdw>
          </a:effectLst>
        </p:spPr>
      </p:sp>
      <p:sp>
        <p:nvSpPr>
          <p:cNvPr id="8" name="Text 6"/>
          <p:cNvSpPr txBox="1"/>
          <p:nvPr/>
        </p:nvSpPr>
        <p:spPr>
          <a:xfrm>
            <a:off x="914400" y="2478024"/>
            <a:ext cx="3108960" cy="347472"/>
          </a:xfrm>
          <a:prstGeom prst="rect">
            <a:avLst/>
          </a:prstGeom>
          <a:noFill/>
          <a:ln/>
        </p:spPr>
        <p:txBody>
          <a:bodyPr wrap="square" lIns="0" tIns="0" rIns="0" bIns="0" rtlCol="0" anchor="ctr"/>
          <a:lstStyle/>
          <a:p>
            <a:pPr indent="0" marL="0">
              <a:buNone/>
            </a:pPr>
            <a:r>
              <a:rPr lang="en-US" sz="1450" b="1" dirty="0">
                <a:solidFill>
                  <a:srgbClr val="6B46C1"/>
                </a:solidFill>
                <a:latin typeface="Calibri" pitchFamily="34" charset="0"/>
                <a:ea typeface="Calibri" pitchFamily="34" charset="-122"/>
                <a:cs typeface="Calibri" pitchFamily="34" charset="-120"/>
              </a:rPr>
              <a:t>LangChain</a:t>
            </a:r>
            <a:endParaRPr lang="en-US" sz="1450" dirty="0"/>
          </a:p>
        </p:txBody>
      </p:sp>
      <p:sp>
        <p:nvSpPr>
          <p:cNvPr id="9" name="Text 7"/>
          <p:cNvSpPr txBox="1"/>
          <p:nvPr/>
        </p:nvSpPr>
        <p:spPr>
          <a:xfrm>
            <a:off x="4114800" y="2478024"/>
            <a:ext cx="7132320" cy="347472"/>
          </a:xfrm>
          <a:prstGeom prst="rect">
            <a:avLst/>
          </a:prstGeom>
          <a:noFill/>
          <a:ln/>
        </p:spPr>
        <p:txBody>
          <a:bodyPr wrap="square" lIns="0" tIns="0" rIns="0" bIns="0" rtlCol="0" anchor="ctr"/>
          <a:lstStyle/>
          <a:p>
            <a:pPr indent="0" marL="0">
              <a:buNone/>
            </a:pPr>
            <a:r>
              <a:rPr lang="en-US" sz="1300" dirty="0">
                <a:solidFill>
                  <a:srgbClr val="241F31"/>
                </a:solidFill>
                <a:latin typeface="Calibri" pitchFamily="34" charset="0"/>
                <a:ea typeface="Calibri" pitchFamily="34" charset="-122"/>
                <a:cs typeface="Calibri" pitchFamily="34" charset="-120"/>
              </a:rPr>
              <a:t>Prompt templates and with_structured_output, which binds a Pydantic schema to the model.</a:t>
            </a:r>
            <a:endParaRPr lang="en-US" sz="1300" dirty="0"/>
          </a:p>
        </p:txBody>
      </p:sp>
      <p:sp>
        <p:nvSpPr>
          <p:cNvPr id="10" name="Shape 8"/>
          <p:cNvSpPr/>
          <p:nvPr/>
        </p:nvSpPr>
        <p:spPr>
          <a:xfrm>
            <a:off x="640080" y="3127248"/>
            <a:ext cx="10881360" cy="640080"/>
          </a:xfrm>
          <a:prstGeom prst="roundRect">
            <a:avLst>
              <a:gd name="adj" fmla="val 12857"/>
            </a:avLst>
          </a:prstGeom>
          <a:solidFill>
            <a:srgbClr val="F4F1FB"/>
          </a:solidFill>
          <a:ln w="12700">
            <a:solidFill>
              <a:srgbClr val="F4F1FB"/>
            </a:solidFill>
            <a:prstDash val="solid"/>
          </a:ln>
          <a:effectLst>
            <a:outerShdw sx="100000" sy="100000" kx="0" ky="0" algn="bl" rotWithShape="0" blurRad="101600" dist="25400" dir="5400000">
              <a:srgbClr val="B9B2CE">
                <a:alpha val="35000"/>
              </a:srgbClr>
            </a:outerShdw>
          </a:effectLst>
        </p:spPr>
      </p:sp>
      <p:sp>
        <p:nvSpPr>
          <p:cNvPr id="11" name="Text 9"/>
          <p:cNvSpPr txBox="1"/>
          <p:nvPr/>
        </p:nvSpPr>
        <p:spPr>
          <a:xfrm>
            <a:off x="914400" y="3300984"/>
            <a:ext cx="3108960" cy="347472"/>
          </a:xfrm>
          <a:prstGeom prst="rect">
            <a:avLst/>
          </a:prstGeom>
          <a:noFill/>
          <a:ln/>
        </p:spPr>
        <p:txBody>
          <a:bodyPr wrap="square" lIns="0" tIns="0" rIns="0" bIns="0" rtlCol="0" anchor="ctr"/>
          <a:lstStyle/>
          <a:p>
            <a:pPr indent="0" marL="0">
              <a:buNone/>
            </a:pPr>
            <a:r>
              <a:rPr lang="en-US" sz="1450" b="1" dirty="0">
                <a:solidFill>
                  <a:srgbClr val="6B46C1"/>
                </a:solidFill>
                <a:latin typeface="Calibri" pitchFamily="34" charset="0"/>
                <a:ea typeface="Calibri" pitchFamily="34" charset="-122"/>
                <a:cs typeface="Calibri" pitchFamily="34" charset="-120"/>
              </a:rPr>
              <a:t>LangGraph</a:t>
            </a:r>
            <a:endParaRPr lang="en-US" sz="1450" dirty="0"/>
          </a:p>
        </p:txBody>
      </p:sp>
      <p:sp>
        <p:nvSpPr>
          <p:cNvPr id="12" name="Text 10"/>
          <p:cNvSpPr txBox="1"/>
          <p:nvPr/>
        </p:nvSpPr>
        <p:spPr>
          <a:xfrm>
            <a:off x="4114800" y="3300984"/>
            <a:ext cx="7132320" cy="347472"/>
          </a:xfrm>
          <a:prstGeom prst="rect">
            <a:avLst/>
          </a:prstGeom>
          <a:noFill/>
          <a:ln/>
        </p:spPr>
        <p:txBody>
          <a:bodyPr wrap="square" lIns="0" tIns="0" rIns="0" bIns="0" rtlCol="0" anchor="ctr"/>
          <a:lstStyle/>
          <a:p>
            <a:pPr indent="0" marL="0">
              <a:buNone/>
            </a:pPr>
            <a:r>
              <a:rPr lang="en-US" sz="1300" dirty="0">
                <a:solidFill>
                  <a:srgbClr val="241F31"/>
                </a:solidFill>
                <a:latin typeface="Calibri" pitchFamily="34" charset="0"/>
                <a:ea typeface="Calibri" pitchFamily="34" charset="-122"/>
                <a:cs typeface="Calibri" pitchFamily="34" charset="-120"/>
              </a:rPr>
              <a:t>Expresses the three tasks as a graph, giving real parallel execution of the two independent tasks.</a:t>
            </a:r>
            <a:endParaRPr lang="en-US" sz="1300" dirty="0"/>
          </a:p>
        </p:txBody>
      </p:sp>
      <p:sp>
        <p:nvSpPr>
          <p:cNvPr id="13" name="Shape 11"/>
          <p:cNvSpPr/>
          <p:nvPr/>
        </p:nvSpPr>
        <p:spPr>
          <a:xfrm>
            <a:off x="640080" y="3950208"/>
            <a:ext cx="10881360" cy="640080"/>
          </a:xfrm>
          <a:prstGeom prst="roundRect">
            <a:avLst>
              <a:gd name="adj" fmla="val 12857"/>
            </a:avLst>
          </a:prstGeom>
          <a:solidFill>
            <a:srgbClr val="FFFFFF"/>
          </a:solidFill>
          <a:ln w="12700">
            <a:solidFill>
              <a:srgbClr val="FFFFFF"/>
            </a:solidFill>
            <a:prstDash val="solid"/>
          </a:ln>
          <a:effectLst>
            <a:outerShdw sx="100000" sy="100000" kx="0" ky="0" algn="bl" rotWithShape="0" blurRad="101600" dist="25400" dir="5400000">
              <a:srgbClr val="B9B2CE">
                <a:alpha val="35000"/>
              </a:srgbClr>
            </a:outerShdw>
          </a:effectLst>
        </p:spPr>
      </p:sp>
      <p:sp>
        <p:nvSpPr>
          <p:cNvPr id="14" name="Text 12"/>
          <p:cNvSpPr txBox="1"/>
          <p:nvPr/>
        </p:nvSpPr>
        <p:spPr>
          <a:xfrm>
            <a:off x="914400" y="4123944"/>
            <a:ext cx="3108960" cy="347472"/>
          </a:xfrm>
          <a:prstGeom prst="rect">
            <a:avLst/>
          </a:prstGeom>
          <a:noFill/>
          <a:ln/>
        </p:spPr>
        <p:txBody>
          <a:bodyPr wrap="square" lIns="0" tIns="0" rIns="0" bIns="0" rtlCol="0" anchor="ctr"/>
          <a:lstStyle/>
          <a:p>
            <a:pPr indent="0" marL="0">
              <a:buNone/>
            </a:pPr>
            <a:r>
              <a:rPr lang="en-US" sz="1450" b="1" dirty="0">
                <a:solidFill>
                  <a:srgbClr val="6B46C1"/>
                </a:solidFill>
                <a:latin typeface="Calibri" pitchFamily="34" charset="0"/>
                <a:ea typeface="Calibri" pitchFamily="34" charset="-122"/>
                <a:cs typeface="Calibri" pitchFamily="34" charset="-120"/>
              </a:rPr>
              <a:t>Pydantic v2</a:t>
            </a:r>
            <a:endParaRPr lang="en-US" sz="1450" dirty="0"/>
          </a:p>
        </p:txBody>
      </p:sp>
      <p:sp>
        <p:nvSpPr>
          <p:cNvPr id="15" name="Text 13"/>
          <p:cNvSpPr txBox="1"/>
          <p:nvPr/>
        </p:nvSpPr>
        <p:spPr>
          <a:xfrm>
            <a:off x="4114800" y="4123944"/>
            <a:ext cx="7132320" cy="347472"/>
          </a:xfrm>
          <a:prstGeom prst="rect">
            <a:avLst/>
          </a:prstGeom>
          <a:noFill/>
          <a:ln/>
        </p:spPr>
        <p:txBody>
          <a:bodyPr wrap="square" lIns="0" tIns="0" rIns="0" bIns="0" rtlCol="0" anchor="ctr"/>
          <a:lstStyle/>
          <a:p>
            <a:pPr indent="0" marL="0">
              <a:buNone/>
            </a:pPr>
            <a:r>
              <a:rPr lang="en-US" sz="1300" dirty="0">
                <a:solidFill>
                  <a:srgbClr val="241F31"/>
                </a:solidFill>
                <a:latin typeface="Calibri" pitchFamily="34" charset="0"/>
                <a:ea typeface="Calibri" pitchFamily="34" charset="-122"/>
                <a:cs typeface="Calibri" pitchFamily="34" charset="-120"/>
              </a:rPr>
              <a:t>Defines the required output shape and validates the reply before the application uses it.</a:t>
            </a:r>
            <a:endParaRPr lang="en-US" sz="1300" dirty="0"/>
          </a:p>
        </p:txBody>
      </p:sp>
      <p:sp>
        <p:nvSpPr>
          <p:cNvPr id="16" name="Shape 14"/>
          <p:cNvSpPr/>
          <p:nvPr/>
        </p:nvSpPr>
        <p:spPr>
          <a:xfrm>
            <a:off x="640080" y="4773168"/>
            <a:ext cx="10881360" cy="640080"/>
          </a:xfrm>
          <a:prstGeom prst="roundRect">
            <a:avLst>
              <a:gd name="adj" fmla="val 12857"/>
            </a:avLst>
          </a:prstGeom>
          <a:solidFill>
            <a:srgbClr val="F4F1FB"/>
          </a:solidFill>
          <a:ln w="12700">
            <a:solidFill>
              <a:srgbClr val="F4F1FB"/>
            </a:solidFill>
            <a:prstDash val="solid"/>
          </a:ln>
          <a:effectLst>
            <a:outerShdw sx="100000" sy="100000" kx="0" ky="0" algn="bl" rotWithShape="0" blurRad="101600" dist="25400" dir="5400000">
              <a:srgbClr val="B9B2CE">
                <a:alpha val="35000"/>
              </a:srgbClr>
            </a:outerShdw>
          </a:effectLst>
        </p:spPr>
      </p:sp>
      <p:sp>
        <p:nvSpPr>
          <p:cNvPr id="17" name="Text 15"/>
          <p:cNvSpPr txBox="1"/>
          <p:nvPr/>
        </p:nvSpPr>
        <p:spPr>
          <a:xfrm>
            <a:off x="914400" y="4946904"/>
            <a:ext cx="3108960" cy="347472"/>
          </a:xfrm>
          <a:prstGeom prst="rect">
            <a:avLst/>
          </a:prstGeom>
          <a:noFill/>
          <a:ln/>
        </p:spPr>
        <p:txBody>
          <a:bodyPr wrap="square" lIns="0" tIns="0" rIns="0" bIns="0" rtlCol="0" anchor="ctr"/>
          <a:lstStyle/>
          <a:p>
            <a:pPr indent="0" marL="0">
              <a:buNone/>
            </a:pPr>
            <a:r>
              <a:rPr lang="en-US" sz="1450" b="1" dirty="0">
                <a:solidFill>
                  <a:srgbClr val="6B46C1"/>
                </a:solidFill>
                <a:latin typeface="Calibri" pitchFamily="34" charset="0"/>
                <a:ea typeface="Calibri" pitchFamily="34" charset="-122"/>
                <a:cs typeface="Calibri" pitchFamily="34" charset="-120"/>
              </a:rPr>
              <a:t>pypdf · python-docx</a:t>
            </a:r>
            <a:endParaRPr lang="en-US" sz="1450" dirty="0"/>
          </a:p>
        </p:txBody>
      </p:sp>
      <p:sp>
        <p:nvSpPr>
          <p:cNvPr id="18" name="Text 16"/>
          <p:cNvSpPr txBox="1"/>
          <p:nvPr/>
        </p:nvSpPr>
        <p:spPr>
          <a:xfrm>
            <a:off x="4114800" y="4946904"/>
            <a:ext cx="7132320" cy="347472"/>
          </a:xfrm>
          <a:prstGeom prst="rect">
            <a:avLst/>
          </a:prstGeom>
          <a:noFill/>
          <a:ln/>
        </p:spPr>
        <p:txBody>
          <a:bodyPr wrap="square" lIns="0" tIns="0" rIns="0" bIns="0" rtlCol="0" anchor="ctr"/>
          <a:lstStyle/>
          <a:p>
            <a:pPr indent="0" marL="0">
              <a:buNone/>
            </a:pPr>
            <a:r>
              <a:rPr lang="en-US" sz="1300" dirty="0">
                <a:solidFill>
                  <a:srgbClr val="241F31"/>
                </a:solidFill>
                <a:latin typeface="Calibri" pitchFamily="34" charset="0"/>
                <a:ea typeface="Calibri" pitchFamily="34" charset="-122"/>
                <a:cs typeface="Calibri" pitchFamily="34" charset="-120"/>
              </a:rPr>
              <a:t>Mature pure-Python readers, one per format, behind a single read_document() function.</a:t>
            </a:r>
            <a:endParaRPr lang="en-US" sz="1300" dirty="0"/>
          </a:p>
        </p:txBody>
      </p:sp>
      <p:sp>
        <p:nvSpPr>
          <p:cNvPr id="19" name="Shape 17"/>
          <p:cNvSpPr/>
          <p:nvPr/>
        </p:nvSpPr>
        <p:spPr>
          <a:xfrm>
            <a:off x="640080" y="5596128"/>
            <a:ext cx="10881360" cy="640080"/>
          </a:xfrm>
          <a:prstGeom prst="roundRect">
            <a:avLst>
              <a:gd name="adj" fmla="val 12857"/>
            </a:avLst>
          </a:prstGeom>
          <a:solidFill>
            <a:srgbClr val="FFFFFF"/>
          </a:solidFill>
          <a:ln w="12700">
            <a:solidFill>
              <a:srgbClr val="FFFFFF"/>
            </a:solidFill>
            <a:prstDash val="solid"/>
          </a:ln>
          <a:effectLst>
            <a:outerShdw sx="100000" sy="100000" kx="0" ky="0" algn="bl" rotWithShape="0" blurRad="101600" dist="25400" dir="5400000">
              <a:srgbClr val="B9B2CE">
                <a:alpha val="35000"/>
              </a:srgbClr>
            </a:outerShdw>
          </a:effectLst>
        </p:spPr>
      </p:sp>
      <p:sp>
        <p:nvSpPr>
          <p:cNvPr id="20" name="Text 18"/>
          <p:cNvSpPr txBox="1"/>
          <p:nvPr/>
        </p:nvSpPr>
        <p:spPr>
          <a:xfrm>
            <a:off x="914400" y="5769864"/>
            <a:ext cx="3108960" cy="347472"/>
          </a:xfrm>
          <a:prstGeom prst="rect">
            <a:avLst/>
          </a:prstGeom>
          <a:noFill/>
          <a:ln/>
        </p:spPr>
        <p:txBody>
          <a:bodyPr wrap="square" lIns="0" tIns="0" rIns="0" bIns="0" rtlCol="0" anchor="ctr"/>
          <a:lstStyle/>
          <a:p>
            <a:pPr indent="0" marL="0">
              <a:buNone/>
            </a:pPr>
            <a:r>
              <a:rPr lang="en-US" sz="1450" b="1" dirty="0">
                <a:solidFill>
                  <a:srgbClr val="6B46C1"/>
                </a:solidFill>
                <a:latin typeface="Calibri" pitchFamily="34" charset="0"/>
                <a:ea typeface="Calibri" pitchFamily="34" charset="-122"/>
                <a:cs typeface="Calibri" pitchFamily="34" charset="-120"/>
              </a:rPr>
              <a:t>pytest · GitHub Actions</a:t>
            </a:r>
            <a:endParaRPr lang="en-US" sz="1450" dirty="0"/>
          </a:p>
        </p:txBody>
      </p:sp>
      <p:sp>
        <p:nvSpPr>
          <p:cNvPr id="21" name="Text 19"/>
          <p:cNvSpPr txBox="1"/>
          <p:nvPr/>
        </p:nvSpPr>
        <p:spPr>
          <a:xfrm>
            <a:off x="4114800" y="5769864"/>
            <a:ext cx="7132320" cy="347472"/>
          </a:xfrm>
          <a:prstGeom prst="rect">
            <a:avLst/>
          </a:prstGeom>
          <a:noFill/>
          <a:ln/>
        </p:spPr>
        <p:txBody>
          <a:bodyPr wrap="square" lIns="0" tIns="0" rIns="0" bIns="0" rtlCol="0" anchor="ctr"/>
          <a:lstStyle/>
          <a:p>
            <a:pPr indent="0" marL="0">
              <a:buNone/>
            </a:pPr>
            <a:r>
              <a:rPr lang="en-US" sz="1300" dirty="0">
                <a:solidFill>
                  <a:srgbClr val="241F31"/>
                </a:solidFill>
                <a:latin typeface="Calibri" pitchFamily="34" charset="0"/>
                <a:ea typeface="Calibri" pitchFamily="34" charset="-122"/>
                <a:cs typeface="Calibri" pitchFamily="34" charset="-120"/>
              </a:rPr>
              <a:t>15 tests that need no API key, run automatically on every push.</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56032"/>
          </a:xfrm>
          <a:prstGeom prst="rect">
            <a:avLst/>
          </a:prstGeom>
          <a:noFill/>
          <a:ln/>
        </p:spPr>
        <p:txBody>
          <a:bodyPr wrap="square" lIns="0" tIns="0" rIns="0" bIns="0" rtlCol="0" anchor="ctr"/>
          <a:lstStyle/>
          <a:p>
            <a:pPr indent="0" marL="0">
              <a:buNone/>
            </a:pPr>
            <a:r>
              <a:rPr lang="en-US" sz="1100" b="1" spc="200" kern="0" dirty="0">
                <a:solidFill>
                  <a:srgbClr val="6B46C1"/>
                </a:solidFill>
                <a:latin typeface="Calibri" pitchFamily="34" charset="0"/>
                <a:ea typeface="Calibri" pitchFamily="34" charset="-122"/>
                <a:cs typeface="Calibri" pitchFamily="34" charset="-120"/>
              </a:rPr>
              <a:t>RESULTS</a:t>
            </a:r>
            <a:endParaRPr lang="en-US" sz="1100" dirty="0"/>
          </a:p>
        </p:txBody>
      </p:sp>
      <p:sp>
        <p:nvSpPr>
          <p:cNvPr id="3" name="Text 1"/>
          <p:cNvSpPr txBox="1"/>
          <p:nvPr/>
        </p:nvSpPr>
        <p:spPr>
          <a:xfrm>
            <a:off x="640080" y="658368"/>
            <a:ext cx="10881360" cy="685800"/>
          </a:xfrm>
          <a:prstGeom prst="rect">
            <a:avLst/>
          </a:prstGeom>
          <a:noFill/>
          <a:ln/>
        </p:spPr>
        <p:txBody>
          <a:bodyPr wrap="square" lIns="0" tIns="0" rIns="0" bIns="0" rtlCol="0" anchor="ctr"/>
          <a:lstStyle/>
          <a:p>
            <a:pPr indent="0" marL="0">
              <a:buNone/>
            </a:pPr>
            <a:r>
              <a:rPr lang="en-US" sz="3200" b="1" dirty="0">
                <a:solidFill>
                  <a:srgbClr val="2A1B4D"/>
                </a:solidFill>
                <a:latin typeface="Cambria" pitchFamily="34" charset="0"/>
                <a:ea typeface="Cambria" pitchFamily="34" charset="-122"/>
                <a:cs typeface="Cambria" pitchFamily="34" charset="-120"/>
              </a:rPr>
              <a:t>Six documents, three formats, one run</a:t>
            </a:r>
            <a:endParaRPr lang="en-US" sz="3200" dirty="0"/>
          </a:p>
        </p:txBody>
      </p:sp>
      <p:sp>
        <p:nvSpPr>
          <p:cNvPr id="4" name="Shape 2"/>
          <p:cNvSpPr/>
          <p:nvPr/>
        </p:nvSpPr>
        <p:spPr>
          <a:xfrm>
            <a:off x="640080" y="1463040"/>
            <a:ext cx="2560320" cy="1737360"/>
          </a:xfrm>
          <a:prstGeom prst="roundRect">
            <a:avLst>
              <a:gd name="adj" fmla="val 4737"/>
            </a:avLst>
          </a:prstGeom>
          <a:solidFill>
            <a:srgbClr val="F4F1FB"/>
          </a:solidFill>
          <a:ln w="12700">
            <a:solidFill>
              <a:srgbClr val="F4F1FB"/>
            </a:solidFill>
            <a:prstDash val="solid"/>
          </a:ln>
          <a:effectLst>
            <a:outerShdw sx="100000" sy="100000" kx="0" ky="0" algn="bl" rotWithShape="0" blurRad="101600" dist="25400" dir="5400000">
              <a:srgbClr val="B9B2CE">
                <a:alpha val="35000"/>
              </a:srgbClr>
            </a:outerShdw>
          </a:effectLst>
        </p:spPr>
      </p:sp>
      <p:sp>
        <p:nvSpPr>
          <p:cNvPr id="5" name="Text 3"/>
          <p:cNvSpPr txBox="1"/>
          <p:nvPr/>
        </p:nvSpPr>
        <p:spPr>
          <a:xfrm>
            <a:off x="640080" y="1664208"/>
            <a:ext cx="2560320" cy="777240"/>
          </a:xfrm>
          <a:prstGeom prst="rect">
            <a:avLst/>
          </a:prstGeom>
          <a:noFill/>
          <a:ln/>
        </p:spPr>
        <p:txBody>
          <a:bodyPr wrap="square" lIns="0" tIns="0" rIns="0" bIns="0" rtlCol="0" anchor="ctr"/>
          <a:lstStyle/>
          <a:p>
            <a:pPr algn="ctr" indent="0" marL="0">
              <a:buNone/>
            </a:pPr>
            <a:r>
              <a:rPr lang="en-US" sz="4000" b="1" dirty="0">
                <a:solidFill>
                  <a:srgbClr val="6B46C1"/>
                </a:solidFill>
                <a:latin typeface="Cambria" pitchFamily="34" charset="0"/>
                <a:ea typeface="Cambria" pitchFamily="34" charset="-122"/>
                <a:cs typeface="Cambria" pitchFamily="34" charset="-120"/>
              </a:rPr>
              <a:t>6</a:t>
            </a:r>
            <a:endParaRPr lang="en-US" sz="4000" dirty="0"/>
          </a:p>
        </p:txBody>
      </p:sp>
      <p:sp>
        <p:nvSpPr>
          <p:cNvPr id="6" name="Text 4"/>
          <p:cNvSpPr txBox="1"/>
          <p:nvPr/>
        </p:nvSpPr>
        <p:spPr>
          <a:xfrm>
            <a:off x="640080" y="2414016"/>
            <a:ext cx="2560320" cy="457200"/>
          </a:xfrm>
          <a:prstGeom prst="rect">
            <a:avLst/>
          </a:prstGeom>
          <a:noFill/>
          <a:ln/>
        </p:spPr>
        <p:txBody>
          <a:bodyPr wrap="square" lIns="0" tIns="0" rIns="0" bIns="0" rtlCol="0" anchor="ctr"/>
          <a:lstStyle/>
          <a:p>
            <a:pPr algn="ctr" indent="0" marL="0">
              <a:lnSpc>
                <a:spcPts val="1500"/>
              </a:lnSpc>
              <a:buNone/>
            </a:pPr>
            <a:r>
              <a:rPr lang="en-US" sz="1200" dirty="0">
                <a:solidFill>
                  <a:srgbClr val="5B5670"/>
                </a:solidFill>
                <a:latin typeface="Calibri" pitchFamily="34" charset="0"/>
                <a:ea typeface="Calibri" pitchFamily="34" charset="-122"/>
                <a:cs typeface="Calibri" pitchFamily="34" charset="-120"/>
              </a:rPr>
              <a:t>documents processed</a:t>
            </a:r>
            <a:endParaRPr lang="en-US" sz="1200" dirty="0"/>
          </a:p>
          <a:p>
            <a:pPr algn="ctr" indent="0" marL="0">
              <a:lnSpc>
                <a:spcPts val="1500"/>
              </a:lnSpc>
              <a:buNone/>
            </a:pPr>
            <a:r>
              <a:rPr lang="en-US" sz="1200" dirty="0">
                <a:solidFill>
                  <a:srgbClr val="5B5670"/>
                </a:solidFill>
                <a:latin typeface="Calibri" pitchFamily="34" charset="0"/>
                <a:ea typeface="Calibri" pitchFamily="34" charset="-122"/>
                <a:cs typeface="Calibri" pitchFamily="34" charset="-120"/>
              </a:rPr>
              <a:t>from 3 file formats</a:t>
            </a:r>
            <a:endParaRPr lang="en-US" sz="1200" dirty="0"/>
          </a:p>
        </p:txBody>
      </p:sp>
      <p:sp>
        <p:nvSpPr>
          <p:cNvPr id="7" name="Shape 5"/>
          <p:cNvSpPr/>
          <p:nvPr/>
        </p:nvSpPr>
        <p:spPr>
          <a:xfrm>
            <a:off x="3429000" y="1463040"/>
            <a:ext cx="2560320" cy="1737360"/>
          </a:xfrm>
          <a:prstGeom prst="roundRect">
            <a:avLst>
              <a:gd name="adj" fmla="val 4737"/>
            </a:avLst>
          </a:prstGeom>
          <a:solidFill>
            <a:srgbClr val="F4F1FB"/>
          </a:solidFill>
          <a:ln w="12700">
            <a:solidFill>
              <a:srgbClr val="F4F1FB"/>
            </a:solidFill>
            <a:prstDash val="solid"/>
          </a:ln>
          <a:effectLst>
            <a:outerShdw sx="100000" sy="100000" kx="0" ky="0" algn="bl" rotWithShape="0" blurRad="101600" dist="25400" dir="5400000">
              <a:srgbClr val="B9B2CE">
                <a:alpha val="35000"/>
              </a:srgbClr>
            </a:outerShdw>
          </a:effectLst>
        </p:spPr>
      </p:sp>
      <p:sp>
        <p:nvSpPr>
          <p:cNvPr id="8" name="Text 6"/>
          <p:cNvSpPr txBox="1"/>
          <p:nvPr/>
        </p:nvSpPr>
        <p:spPr>
          <a:xfrm>
            <a:off x="3429000" y="1664208"/>
            <a:ext cx="2560320" cy="777240"/>
          </a:xfrm>
          <a:prstGeom prst="rect">
            <a:avLst/>
          </a:prstGeom>
          <a:noFill/>
          <a:ln/>
        </p:spPr>
        <p:txBody>
          <a:bodyPr wrap="square" lIns="0" tIns="0" rIns="0" bIns="0" rtlCol="0" anchor="ctr"/>
          <a:lstStyle/>
          <a:p>
            <a:pPr algn="ctr" indent="0" marL="0">
              <a:buNone/>
            </a:pPr>
            <a:r>
              <a:rPr lang="en-US" sz="4000" b="1" dirty="0">
                <a:solidFill>
                  <a:srgbClr val="6B46C1"/>
                </a:solidFill>
                <a:latin typeface="Cambria" pitchFamily="34" charset="0"/>
                <a:ea typeface="Cambria" pitchFamily="34" charset="-122"/>
                <a:cs typeface="Cambria" pitchFamily="34" charset="-120"/>
              </a:rPr>
              <a:t>18</a:t>
            </a:r>
            <a:endParaRPr lang="en-US" sz="4000" dirty="0"/>
          </a:p>
        </p:txBody>
      </p:sp>
      <p:sp>
        <p:nvSpPr>
          <p:cNvPr id="9" name="Text 7"/>
          <p:cNvSpPr txBox="1"/>
          <p:nvPr/>
        </p:nvSpPr>
        <p:spPr>
          <a:xfrm>
            <a:off x="3429000" y="2414016"/>
            <a:ext cx="2560320" cy="457200"/>
          </a:xfrm>
          <a:prstGeom prst="rect">
            <a:avLst/>
          </a:prstGeom>
          <a:noFill/>
          <a:ln/>
        </p:spPr>
        <p:txBody>
          <a:bodyPr wrap="square" lIns="0" tIns="0" rIns="0" bIns="0" rtlCol="0" anchor="ctr"/>
          <a:lstStyle/>
          <a:p>
            <a:pPr algn="ctr" indent="0" marL="0">
              <a:lnSpc>
                <a:spcPts val="1500"/>
              </a:lnSpc>
              <a:buNone/>
            </a:pPr>
            <a:r>
              <a:rPr lang="en-US" sz="1200" dirty="0">
                <a:solidFill>
                  <a:srgbClr val="5B5670"/>
                </a:solidFill>
                <a:latin typeface="Calibri" pitchFamily="34" charset="0"/>
                <a:ea typeface="Calibri" pitchFamily="34" charset="-122"/>
                <a:cs typeface="Calibri" pitchFamily="34" charset="-120"/>
              </a:rPr>
              <a:t>API calls</a:t>
            </a:r>
            <a:endParaRPr lang="en-US" sz="1200" dirty="0"/>
          </a:p>
          <a:p>
            <a:pPr algn="ctr" indent="0" marL="0">
              <a:lnSpc>
                <a:spcPts val="1500"/>
              </a:lnSpc>
              <a:buNone/>
            </a:pPr>
            <a:r>
              <a:rPr lang="en-US" sz="1200" dirty="0">
                <a:solidFill>
                  <a:srgbClr val="5B5670"/>
                </a:solidFill>
                <a:latin typeface="Calibri" pitchFamily="34" charset="0"/>
                <a:ea typeface="Calibri" pitchFamily="34" charset="-122"/>
                <a:cs typeface="Calibri" pitchFamily="34" charset="-120"/>
              </a:rPr>
              <a:t>(3 per document)</a:t>
            </a:r>
            <a:endParaRPr lang="en-US" sz="1200" dirty="0"/>
          </a:p>
        </p:txBody>
      </p:sp>
      <p:sp>
        <p:nvSpPr>
          <p:cNvPr id="10" name="Shape 8"/>
          <p:cNvSpPr/>
          <p:nvPr/>
        </p:nvSpPr>
        <p:spPr>
          <a:xfrm>
            <a:off x="6217920" y="1463040"/>
            <a:ext cx="2560320" cy="1737360"/>
          </a:xfrm>
          <a:prstGeom prst="roundRect">
            <a:avLst>
              <a:gd name="adj" fmla="val 4737"/>
            </a:avLst>
          </a:prstGeom>
          <a:solidFill>
            <a:srgbClr val="F4F1FB"/>
          </a:solidFill>
          <a:ln w="12700">
            <a:solidFill>
              <a:srgbClr val="F4F1FB"/>
            </a:solidFill>
            <a:prstDash val="solid"/>
          </a:ln>
          <a:effectLst>
            <a:outerShdw sx="100000" sy="100000" kx="0" ky="0" algn="bl" rotWithShape="0" blurRad="101600" dist="25400" dir="5400000">
              <a:srgbClr val="B9B2CE">
                <a:alpha val="35000"/>
              </a:srgbClr>
            </a:outerShdw>
          </a:effectLst>
        </p:spPr>
      </p:sp>
      <p:sp>
        <p:nvSpPr>
          <p:cNvPr id="11" name="Text 9"/>
          <p:cNvSpPr txBox="1"/>
          <p:nvPr/>
        </p:nvSpPr>
        <p:spPr>
          <a:xfrm>
            <a:off x="6217920" y="1664208"/>
            <a:ext cx="2560320" cy="777240"/>
          </a:xfrm>
          <a:prstGeom prst="rect">
            <a:avLst/>
          </a:prstGeom>
          <a:noFill/>
          <a:ln/>
        </p:spPr>
        <p:txBody>
          <a:bodyPr wrap="square" lIns="0" tIns="0" rIns="0" bIns="0" rtlCol="0" anchor="ctr"/>
          <a:lstStyle/>
          <a:p>
            <a:pPr algn="ctr" indent="0" marL="0">
              <a:buNone/>
            </a:pPr>
            <a:r>
              <a:rPr lang="en-US" sz="4000" b="1" dirty="0">
                <a:solidFill>
                  <a:srgbClr val="6B46C1"/>
                </a:solidFill>
                <a:latin typeface="Cambria" pitchFamily="34" charset="0"/>
                <a:ea typeface="Cambria" pitchFamily="34" charset="-122"/>
                <a:cs typeface="Cambria" pitchFamily="34" charset="-120"/>
              </a:rPr>
              <a:t>~$0.03</a:t>
            </a:r>
            <a:endParaRPr lang="en-US" sz="4000" dirty="0"/>
          </a:p>
        </p:txBody>
      </p:sp>
      <p:sp>
        <p:nvSpPr>
          <p:cNvPr id="12" name="Text 10"/>
          <p:cNvSpPr txBox="1"/>
          <p:nvPr/>
        </p:nvSpPr>
        <p:spPr>
          <a:xfrm>
            <a:off x="6217920" y="2414016"/>
            <a:ext cx="2560320" cy="457200"/>
          </a:xfrm>
          <a:prstGeom prst="rect">
            <a:avLst/>
          </a:prstGeom>
          <a:noFill/>
          <a:ln/>
        </p:spPr>
        <p:txBody>
          <a:bodyPr wrap="square" lIns="0" tIns="0" rIns="0" bIns="0" rtlCol="0" anchor="ctr"/>
          <a:lstStyle/>
          <a:p>
            <a:pPr algn="ctr" indent="0" marL="0">
              <a:lnSpc>
                <a:spcPts val="1500"/>
              </a:lnSpc>
              <a:buNone/>
            </a:pPr>
            <a:r>
              <a:rPr lang="en-US" sz="1200" dirty="0">
                <a:solidFill>
                  <a:srgbClr val="5B5670"/>
                </a:solidFill>
                <a:latin typeface="Calibri" pitchFamily="34" charset="0"/>
                <a:ea typeface="Calibri" pitchFamily="34" charset="-122"/>
                <a:cs typeface="Calibri" pitchFamily="34" charset="-120"/>
              </a:rPr>
              <a:t>cost of a complete</a:t>
            </a:r>
            <a:endParaRPr lang="en-US" sz="1200" dirty="0"/>
          </a:p>
          <a:p>
            <a:pPr algn="ctr" indent="0" marL="0">
              <a:lnSpc>
                <a:spcPts val="1500"/>
              </a:lnSpc>
              <a:buNone/>
            </a:pPr>
            <a:r>
              <a:rPr lang="en-US" sz="1200" dirty="0">
                <a:solidFill>
                  <a:srgbClr val="5B5670"/>
                </a:solidFill>
                <a:latin typeface="Calibri" pitchFamily="34" charset="0"/>
                <a:ea typeface="Calibri" pitchFamily="34" charset="-122"/>
                <a:cs typeface="Calibri" pitchFamily="34" charset="-120"/>
              </a:rPr>
              <a:t>run on gpt-4o-mini</a:t>
            </a:r>
            <a:endParaRPr lang="en-US" sz="1200" dirty="0"/>
          </a:p>
        </p:txBody>
      </p:sp>
      <p:sp>
        <p:nvSpPr>
          <p:cNvPr id="13" name="Shape 11"/>
          <p:cNvSpPr/>
          <p:nvPr/>
        </p:nvSpPr>
        <p:spPr>
          <a:xfrm>
            <a:off x="9006840" y="1463040"/>
            <a:ext cx="2560320" cy="1737360"/>
          </a:xfrm>
          <a:prstGeom prst="roundRect">
            <a:avLst>
              <a:gd name="adj" fmla="val 4737"/>
            </a:avLst>
          </a:prstGeom>
          <a:solidFill>
            <a:srgbClr val="F4F1FB"/>
          </a:solidFill>
          <a:ln w="12700">
            <a:solidFill>
              <a:srgbClr val="F4F1FB"/>
            </a:solidFill>
            <a:prstDash val="solid"/>
          </a:ln>
          <a:effectLst>
            <a:outerShdw sx="100000" sy="100000" kx="0" ky="0" algn="bl" rotWithShape="0" blurRad="101600" dist="25400" dir="5400000">
              <a:srgbClr val="B9B2CE">
                <a:alpha val="35000"/>
              </a:srgbClr>
            </a:outerShdw>
          </a:effectLst>
        </p:spPr>
      </p:sp>
      <p:sp>
        <p:nvSpPr>
          <p:cNvPr id="14" name="Text 12"/>
          <p:cNvSpPr txBox="1"/>
          <p:nvPr/>
        </p:nvSpPr>
        <p:spPr>
          <a:xfrm>
            <a:off x="9006840" y="1664208"/>
            <a:ext cx="2560320" cy="777240"/>
          </a:xfrm>
          <a:prstGeom prst="rect">
            <a:avLst/>
          </a:prstGeom>
          <a:noFill/>
          <a:ln/>
        </p:spPr>
        <p:txBody>
          <a:bodyPr wrap="square" lIns="0" tIns="0" rIns="0" bIns="0" rtlCol="0" anchor="ctr"/>
          <a:lstStyle/>
          <a:p>
            <a:pPr algn="ctr" indent="0" marL="0">
              <a:buNone/>
            </a:pPr>
            <a:r>
              <a:rPr lang="en-US" sz="4000" b="1" dirty="0">
                <a:solidFill>
                  <a:srgbClr val="6B46C1"/>
                </a:solidFill>
                <a:latin typeface="Cambria" pitchFamily="34" charset="0"/>
                <a:ea typeface="Cambria" pitchFamily="34" charset="-122"/>
                <a:cs typeface="Cambria" pitchFamily="34" charset="-120"/>
              </a:rPr>
              <a:t>15</a:t>
            </a:r>
            <a:endParaRPr lang="en-US" sz="4000" dirty="0"/>
          </a:p>
        </p:txBody>
      </p:sp>
      <p:sp>
        <p:nvSpPr>
          <p:cNvPr id="15" name="Text 13"/>
          <p:cNvSpPr txBox="1"/>
          <p:nvPr/>
        </p:nvSpPr>
        <p:spPr>
          <a:xfrm>
            <a:off x="9006840" y="2414016"/>
            <a:ext cx="2560320" cy="457200"/>
          </a:xfrm>
          <a:prstGeom prst="rect">
            <a:avLst/>
          </a:prstGeom>
          <a:noFill/>
          <a:ln/>
        </p:spPr>
        <p:txBody>
          <a:bodyPr wrap="square" lIns="0" tIns="0" rIns="0" bIns="0" rtlCol="0" anchor="ctr"/>
          <a:lstStyle/>
          <a:p>
            <a:pPr algn="ctr" indent="0" marL="0">
              <a:lnSpc>
                <a:spcPts val="1500"/>
              </a:lnSpc>
              <a:buNone/>
            </a:pPr>
            <a:r>
              <a:rPr lang="en-US" sz="1200" dirty="0">
                <a:solidFill>
                  <a:srgbClr val="5B5670"/>
                </a:solidFill>
                <a:latin typeface="Calibri" pitchFamily="34" charset="0"/>
                <a:ea typeface="Calibri" pitchFamily="34" charset="-122"/>
                <a:cs typeface="Calibri" pitchFamily="34" charset="-120"/>
              </a:rPr>
              <a:t>automated tests,</a:t>
            </a:r>
            <a:endParaRPr lang="en-US" sz="1200" dirty="0"/>
          </a:p>
          <a:p>
            <a:pPr algn="ctr" indent="0" marL="0">
              <a:lnSpc>
                <a:spcPts val="1500"/>
              </a:lnSpc>
              <a:buNone/>
            </a:pPr>
            <a:r>
              <a:rPr lang="en-US" sz="1200" dirty="0">
                <a:solidFill>
                  <a:srgbClr val="5B5670"/>
                </a:solidFill>
                <a:latin typeface="Calibri" pitchFamily="34" charset="0"/>
                <a:ea typeface="Calibri" pitchFamily="34" charset="-122"/>
                <a:cs typeface="Calibri" pitchFamily="34" charset="-120"/>
              </a:rPr>
              <a:t>no API key needed</a:t>
            </a:r>
            <a:endParaRPr lang="en-US" sz="1200" dirty="0"/>
          </a:p>
        </p:txBody>
      </p:sp>
      <p:sp>
        <p:nvSpPr>
          <p:cNvPr id="16" name="Text 14"/>
          <p:cNvSpPr txBox="1"/>
          <p:nvPr/>
        </p:nvSpPr>
        <p:spPr>
          <a:xfrm>
            <a:off x="640080" y="3429000"/>
            <a:ext cx="6858000" cy="2148840"/>
          </a:xfrm>
          <a:prstGeom prst="rect">
            <a:avLst/>
          </a:prstGeom>
          <a:solidFill>
            <a:srgbClr val="2A1B4D"/>
          </a:solidFill>
          <a:ln/>
        </p:spPr>
        <p:txBody>
          <a:bodyPr wrap="square" lIns="152400" tIns="152400" rIns="152400" bIns="152400" rtlCol="0" anchor="ctr"/>
          <a:lstStyle/>
          <a:p>
            <a:pPr indent="0" marL="0">
              <a:lnSpc>
                <a:spcPts val="1600"/>
              </a:lnSpc>
              <a:buNone/>
            </a:pPr>
            <a:r>
              <a:rPr lang="en-US" sz="1100" dirty="0">
                <a:solidFill>
                  <a:srgbClr val="B9B2CE"/>
                </a:solidFill>
                <a:latin typeface="Courier New" pitchFamily="34" charset="0"/>
                <a:ea typeface="Courier New" pitchFamily="34" charset="-122"/>
                <a:cs typeface="Courier New" pitchFamily="34" charset="-120"/>
              </a:rPr>
              <a:t>DOCUMENT              STATUS    CATEGORY          ESCALATE  CASE STATUS</a:t>
            </a:r>
            <a:endParaRPr lang="en-US" sz="1100" dirty="0"/>
          </a:p>
          <a:p>
            <a:pPr indent="0" marL="0">
              <a:lnSpc>
                <a:spcPts val="1600"/>
              </a:lnSpc>
              <a:buNone/>
            </a:pPr>
            <a:r>
              <a:rPr lang="en-US" sz="1100" dirty="0">
                <a:solidFill>
                  <a:srgbClr val="FFFFFF"/>
                </a:solidFill>
                <a:latin typeface="Courier New" pitchFamily="34" charset="0"/>
                <a:ea typeface="Courier New" pitchFamily="34" charset="-122"/>
                <a:cs typeface="Courier New" pitchFamily="34" charset="-120"/>
              </a:rPr>
              <a:t>complaint_001.pdf     success   Billing           No        Resolved</a:t>
            </a:r>
            <a:endParaRPr lang="en-US" sz="1100" dirty="0"/>
          </a:p>
          <a:p>
            <a:pPr indent="0" marL="0">
              <a:lnSpc>
                <a:spcPts val="1600"/>
              </a:lnSpc>
              <a:buNone/>
            </a:pPr>
            <a:r>
              <a:rPr lang="en-US" sz="1100" dirty="0">
                <a:solidFill>
                  <a:srgbClr val="FFFFFF"/>
                </a:solidFill>
                <a:latin typeface="Courier New" pitchFamily="34" charset="0"/>
                <a:ea typeface="Courier New" pitchFamily="34" charset="-122"/>
                <a:cs typeface="Courier New" pitchFamily="34" charset="-120"/>
              </a:rPr>
              <a:t>complaint_002.pdf     success   Delivery          Yes       Escalated</a:t>
            </a:r>
            <a:endParaRPr lang="en-US" sz="1100" dirty="0"/>
          </a:p>
          <a:p>
            <a:pPr indent="0" marL="0">
              <a:lnSpc>
                <a:spcPts val="1600"/>
              </a:lnSpc>
              <a:buNone/>
            </a:pPr>
            <a:r>
              <a:rPr lang="en-US" sz="1100" dirty="0">
                <a:solidFill>
                  <a:srgbClr val="FFFFFF"/>
                </a:solidFill>
                <a:latin typeface="Courier New" pitchFamily="34" charset="0"/>
                <a:ea typeface="Courier New" pitchFamily="34" charset="-122"/>
                <a:cs typeface="Courier New" pitchFamily="34" charset="-120"/>
              </a:rPr>
              <a:t>complaint_003.txt     success   Warranty          Yes       Escalated</a:t>
            </a:r>
            <a:endParaRPr lang="en-US" sz="1100" dirty="0"/>
          </a:p>
          <a:p>
            <a:pPr indent="0" marL="0">
              <a:lnSpc>
                <a:spcPts val="1600"/>
              </a:lnSpc>
              <a:buNone/>
            </a:pPr>
            <a:r>
              <a:rPr lang="en-US" sz="1100" dirty="0">
                <a:solidFill>
                  <a:srgbClr val="FFFFFF"/>
                </a:solidFill>
                <a:latin typeface="Courier New" pitchFamily="34" charset="0"/>
                <a:ea typeface="Courier New" pitchFamily="34" charset="-122"/>
                <a:cs typeface="Courier New" pitchFamily="34" charset="-120"/>
              </a:rPr>
              <a:t>complaint_004.docx    success   Account Access    Yes       Escalated</a:t>
            </a:r>
            <a:endParaRPr lang="en-US" sz="1100" dirty="0"/>
          </a:p>
          <a:p>
            <a:pPr indent="0" marL="0">
              <a:lnSpc>
                <a:spcPts val="1600"/>
              </a:lnSpc>
              <a:buNone/>
            </a:pPr>
            <a:r>
              <a:rPr lang="en-US" sz="1100" dirty="0">
                <a:solidFill>
                  <a:srgbClr val="FFFFFF"/>
                </a:solidFill>
                <a:latin typeface="Courier New" pitchFamily="34" charset="0"/>
                <a:ea typeface="Courier New" pitchFamily="34" charset="-122"/>
                <a:cs typeface="Courier New" pitchFamily="34" charset="-120"/>
              </a:rPr>
              <a:t>complaint_005.docx    success   Service Quality   No        Resolved</a:t>
            </a:r>
            <a:endParaRPr lang="en-US" sz="1100" dirty="0"/>
          </a:p>
          <a:p>
            <a:pPr indent="0" marL="0">
              <a:lnSpc>
                <a:spcPts val="1600"/>
              </a:lnSpc>
              <a:buNone/>
            </a:pPr>
            <a:r>
              <a:rPr lang="en-US" sz="1100" dirty="0">
                <a:solidFill>
                  <a:srgbClr val="FFFFFF"/>
                </a:solidFill>
                <a:latin typeface="Courier New" pitchFamily="34" charset="0"/>
                <a:ea typeface="Courier New" pitchFamily="34" charset="-122"/>
                <a:cs typeface="Courier New" pitchFamily="34" charset="-120"/>
              </a:rPr>
              <a:t>enquiry_006.txt       success   Other             No        Closed</a:t>
            </a:r>
            <a:endParaRPr lang="en-US" sz="1100" dirty="0"/>
          </a:p>
        </p:txBody>
      </p:sp>
      <p:sp>
        <p:nvSpPr>
          <p:cNvPr id="17" name="Text 15"/>
          <p:cNvSpPr txBox="1"/>
          <p:nvPr/>
        </p:nvSpPr>
        <p:spPr>
          <a:xfrm>
            <a:off x="7818120" y="3438144"/>
            <a:ext cx="3703320" cy="292608"/>
          </a:xfrm>
          <a:prstGeom prst="rect">
            <a:avLst/>
          </a:prstGeom>
          <a:noFill/>
          <a:ln/>
        </p:spPr>
        <p:txBody>
          <a:bodyPr wrap="square" lIns="0" tIns="0" rIns="0" bIns="0" rtlCol="0" anchor="ctr"/>
          <a:lstStyle/>
          <a:p>
            <a:pPr indent="0" marL="0">
              <a:buNone/>
            </a:pPr>
            <a:r>
              <a:rPr lang="en-US" sz="1500" b="1" dirty="0">
                <a:solidFill>
                  <a:srgbClr val="2A1B4D"/>
                </a:solidFill>
                <a:latin typeface="Calibri" pitchFamily="34" charset="0"/>
                <a:ea typeface="Calibri" pitchFamily="34" charset="-122"/>
                <a:cs typeface="Calibri" pitchFamily="34" charset="-120"/>
              </a:rPr>
              <a:t>What to notice</a:t>
            </a:r>
            <a:endParaRPr lang="en-US" sz="1500" dirty="0"/>
          </a:p>
        </p:txBody>
      </p:sp>
      <p:sp>
        <p:nvSpPr>
          <p:cNvPr id="18" name="Text 16"/>
          <p:cNvSpPr txBox="1"/>
          <p:nvPr/>
        </p:nvSpPr>
        <p:spPr>
          <a:xfrm>
            <a:off x="7818120" y="3803904"/>
            <a:ext cx="3703320" cy="1828800"/>
          </a:xfrm>
          <a:prstGeom prst="rect">
            <a:avLst/>
          </a:prstGeom>
          <a:noFill/>
          <a:ln/>
        </p:spPr>
        <p:txBody>
          <a:bodyPr wrap="square" lIns="0" tIns="0" rIns="0" bIns="0" rtlCol="0" anchor="t"/>
          <a:lstStyle/>
          <a:p>
            <a:pPr marL="342900" indent="-342900">
              <a:lnSpc>
                <a:spcPts val="1600"/>
              </a:lnSpc>
              <a:spcAft>
                <a:spcPts val="800"/>
              </a:spcAft>
              <a:buSzPct val="100000"/>
              <a:buChar char="•"/>
            </a:pPr>
            <a:r>
              <a:rPr lang="en-US" sz="1200" dirty="0">
                <a:solidFill>
                  <a:srgbClr val="241F31"/>
                </a:solidFill>
                <a:latin typeface="Calibri" pitchFamily="34" charset="0"/>
                <a:ea typeface="Calibri" pitchFamily="34" charset="-122"/>
                <a:cs typeface="Calibri" pitchFamily="34" charset="-120"/>
              </a:rPr>
              <a:t>The last row is an enquiry, not a complaint — the system sets is_complaint to No.</a:t>
            </a:r>
            <a:endParaRPr lang="en-US" sz="1200" dirty="0"/>
          </a:p>
          <a:p>
            <a:pPr marL="342900" indent="-342900">
              <a:lnSpc>
                <a:spcPts val="1600"/>
              </a:lnSpc>
              <a:spcAft>
                <a:spcPts val="800"/>
              </a:spcAft>
              <a:buSzPct val="100000"/>
              <a:buChar char="•"/>
            </a:pPr>
            <a:r>
              <a:rPr lang="en-US" sz="1200" dirty="0">
                <a:solidFill>
                  <a:srgbClr val="241F31"/>
                </a:solidFill>
                <a:latin typeface="Calibri" pitchFamily="34" charset="0"/>
                <a:ea typeface="Calibri" pitchFamily="34" charset="-122"/>
                <a:cs typeface="Calibri" pitchFamily="34" charset="-120"/>
              </a:rPr>
              <a:t>Escalation comes from meaning, not keywords: one document mentions a manager but is resolved.</a:t>
            </a:r>
            <a:endParaRPr lang="en-US" sz="1200" dirty="0"/>
          </a:p>
          <a:p>
            <a:pPr marL="342900" indent="-342900">
              <a:lnSpc>
                <a:spcPts val="1600"/>
              </a:lnSpc>
              <a:spcAft>
                <a:spcPts val="800"/>
              </a:spcAft>
              <a:buSzPct val="100000"/>
              <a:buChar char="•"/>
            </a:pPr>
            <a:r>
              <a:rPr lang="en-US" sz="1200" dirty="0">
                <a:solidFill>
                  <a:srgbClr val="241F31"/>
                </a:solidFill>
                <a:latin typeface="Calibri" pitchFamily="34" charset="0"/>
                <a:ea typeface="Calibri" pitchFamily="34" charset="-122"/>
                <a:cs typeface="Calibri" pitchFamily="34" charset="-120"/>
              </a:rPr>
              <a:t>An unsupported .csv in the folder is skipped without error.</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56032"/>
          </a:xfrm>
          <a:prstGeom prst="rect">
            <a:avLst/>
          </a:prstGeom>
          <a:noFill/>
          <a:ln/>
        </p:spPr>
        <p:txBody>
          <a:bodyPr wrap="square" lIns="0" tIns="0" rIns="0" bIns="0" rtlCol="0" anchor="ctr"/>
          <a:lstStyle/>
          <a:p>
            <a:pPr indent="0" marL="0">
              <a:buNone/>
            </a:pPr>
            <a:r>
              <a:rPr lang="en-US" sz="1100" b="1" spc="200" kern="0" dirty="0">
                <a:solidFill>
                  <a:srgbClr val="6B46C1"/>
                </a:solidFill>
                <a:latin typeface="Calibri" pitchFamily="34" charset="0"/>
                <a:ea typeface="Calibri" pitchFamily="34" charset="-122"/>
                <a:cs typeface="Calibri" pitchFamily="34" charset="-120"/>
              </a:rPr>
              <a:t>ENGINEERING PRACTICE</a:t>
            </a:r>
            <a:endParaRPr lang="en-US" sz="1100" dirty="0"/>
          </a:p>
        </p:txBody>
      </p:sp>
      <p:sp>
        <p:nvSpPr>
          <p:cNvPr id="3" name="Text 1"/>
          <p:cNvSpPr txBox="1"/>
          <p:nvPr/>
        </p:nvSpPr>
        <p:spPr>
          <a:xfrm>
            <a:off x="640080" y="658368"/>
            <a:ext cx="10881360" cy="685800"/>
          </a:xfrm>
          <a:prstGeom prst="rect">
            <a:avLst/>
          </a:prstGeom>
          <a:noFill/>
          <a:ln/>
        </p:spPr>
        <p:txBody>
          <a:bodyPr wrap="square" lIns="0" tIns="0" rIns="0" bIns="0" rtlCol="0" anchor="ctr"/>
          <a:lstStyle/>
          <a:p>
            <a:pPr indent="0" marL="0">
              <a:buNone/>
            </a:pPr>
            <a:r>
              <a:rPr lang="en-US" sz="3200" b="1" dirty="0">
                <a:solidFill>
                  <a:srgbClr val="2A1B4D"/>
                </a:solidFill>
                <a:latin typeface="Cambria" pitchFamily="34" charset="0"/>
                <a:ea typeface="Cambria" pitchFamily="34" charset="-122"/>
                <a:cs typeface="Cambria" pitchFamily="34" charset="-120"/>
              </a:rPr>
              <a:t>Tested, versioned and reproducible</a:t>
            </a:r>
            <a:endParaRPr lang="en-US" sz="3200" dirty="0"/>
          </a:p>
        </p:txBody>
      </p:sp>
      <p:sp>
        <p:nvSpPr>
          <p:cNvPr id="4" name="Shape 2"/>
          <p:cNvSpPr/>
          <p:nvPr/>
        </p:nvSpPr>
        <p:spPr>
          <a:xfrm>
            <a:off x="640080" y="1554480"/>
            <a:ext cx="3502152" cy="3063240"/>
          </a:xfrm>
          <a:prstGeom prst="roundRect">
            <a:avLst>
              <a:gd name="adj" fmla="val 2687"/>
            </a:avLst>
          </a:prstGeom>
          <a:solidFill>
            <a:srgbClr val="F4F1FB"/>
          </a:solidFill>
          <a:ln w="12700">
            <a:solidFill>
              <a:srgbClr val="F4F1FB"/>
            </a:solidFill>
            <a:prstDash val="solid"/>
          </a:ln>
          <a:effectLst>
            <a:outerShdw sx="100000" sy="100000" kx="0" ky="0" algn="bl" rotWithShape="0" blurRad="101600" dist="25400" dir="5400000">
              <a:srgbClr val="B9B2CE">
                <a:alpha val="35000"/>
              </a:srgbClr>
            </a:outerShdw>
          </a:effectLst>
        </p:spPr>
      </p:sp>
      <p:sp>
        <p:nvSpPr>
          <p:cNvPr id="5" name="Shape 3"/>
          <p:cNvSpPr/>
          <p:nvPr/>
        </p:nvSpPr>
        <p:spPr>
          <a:xfrm>
            <a:off x="932688" y="1810512"/>
            <a:ext cx="365760" cy="365760"/>
          </a:xfrm>
          <a:prstGeom prst="ellipse">
            <a:avLst/>
          </a:prstGeom>
          <a:solidFill>
            <a:srgbClr val="2F855A"/>
          </a:solidFill>
          <a:ln/>
        </p:spPr>
      </p:sp>
      <p:sp>
        <p:nvSpPr>
          <p:cNvPr id="6" name="Text 4"/>
          <p:cNvSpPr txBox="1"/>
          <p:nvPr/>
        </p:nvSpPr>
        <p:spPr>
          <a:xfrm>
            <a:off x="1417320" y="1810512"/>
            <a:ext cx="2560320" cy="365760"/>
          </a:xfrm>
          <a:prstGeom prst="rect">
            <a:avLst/>
          </a:prstGeom>
          <a:noFill/>
          <a:ln/>
        </p:spPr>
        <p:txBody>
          <a:bodyPr wrap="square" lIns="0" tIns="0" rIns="0" bIns="0" rtlCol="0" anchor="ctr"/>
          <a:lstStyle/>
          <a:p>
            <a:pPr indent="0" marL="0">
              <a:buNone/>
            </a:pPr>
            <a:r>
              <a:rPr lang="en-US" sz="1600" b="1" dirty="0">
                <a:solidFill>
                  <a:srgbClr val="2A1B4D"/>
                </a:solidFill>
                <a:latin typeface="Calibri" pitchFamily="34" charset="0"/>
                <a:ea typeface="Calibri" pitchFamily="34" charset="-122"/>
                <a:cs typeface="Calibri" pitchFamily="34" charset="-120"/>
              </a:rPr>
              <a:t>Testing</a:t>
            </a:r>
            <a:endParaRPr lang="en-US" sz="1600" dirty="0"/>
          </a:p>
        </p:txBody>
      </p:sp>
      <p:sp>
        <p:nvSpPr>
          <p:cNvPr id="7" name="Text 5"/>
          <p:cNvSpPr txBox="1"/>
          <p:nvPr/>
        </p:nvSpPr>
        <p:spPr>
          <a:xfrm>
            <a:off x="932688" y="2359152"/>
            <a:ext cx="2926080" cy="3108960"/>
          </a:xfrm>
          <a:prstGeom prst="rect">
            <a:avLst/>
          </a:prstGeom>
          <a:noFill/>
          <a:ln/>
        </p:spPr>
        <p:txBody>
          <a:bodyPr wrap="square" lIns="0" tIns="0" rIns="0" bIns="0" rtlCol="0" anchor="t"/>
          <a:lstStyle/>
          <a:p>
            <a:pPr marL="342900" indent="-342900">
              <a:lnSpc>
                <a:spcPts val="1700"/>
              </a:lnSpc>
              <a:spcAft>
                <a:spcPts val="1000"/>
              </a:spcAft>
              <a:buSzPct val="100000"/>
              <a:buChar char="•"/>
            </a:pPr>
            <a:r>
              <a:rPr lang="en-US" sz="1250" dirty="0">
                <a:solidFill>
                  <a:srgbClr val="241F31"/>
                </a:solidFill>
                <a:latin typeface="Calibri" pitchFamily="34" charset="0"/>
                <a:ea typeface="Calibri" pitchFamily="34" charset="-122"/>
                <a:cs typeface="Calibri" pitchFamily="34" charset="-120"/>
              </a:rPr>
              <a:t>15 tests in test_basic.py</a:t>
            </a:r>
            <a:endParaRPr lang="en-US" sz="1250" dirty="0"/>
          </a:p>
          <a:p>
            <a:pPr marL="342900" indent="-342900">
              <a:lnSpc>
                <a:spcPts val="1700"/>
              </a:lnSpc>
              <a:spcAft>
                <a:spcPts val="1000"/>
              </a:spcAft>
              <a:buSzPct val="100000"/>
              <a:buChar char="•"/>
            </a:pPr>
            <a:r>
              <a:rPr lang="en-US" sz="1250" dirty="0">
                <a:solidFill>
                  <a:srgbClr val="241F31"/>
                </a:solidFill>
                <a:latin typeface="Calibri" pitchFamily="34" charset="0"/>
                <a:ea typeface="Calibri" pitchFamily="34" charset="-122"/>
                <a:cs typeface="Calibri" pitchFamily="34" charset="-120"/>
              </a:rPr>
              <a:t>None of them calls the API — free, and under a second</a:t>
            </a:r>
            <a:endParaRPr lang="en-US" sz="1250" dirty="0"/>
          </a:p>
          <a:p>
            <a:pPr marL="342900" indent="-342900">
              <a:lnSpc>
                <a:spcPts val="1700"/>
              </a:lnSpc>
              <a:spcAft>
                <a:spcPts val="1000"/>
              </a:spcAft>
              <a:buSzPct val="100000"/>
              <a:buChar char="•"/>
            </a:pPr>
            <a:r>
              <a:rPr lang="en-US" sz="1250" dirty="0">
                <a:solidFill>
                  <a:srgbClr val="241F31"/>
                </a:solidFill>
                <a:latin typeface="Calibri" pitchFamily="34" charset="0"/>
                <a:ea typeface="Calibri" pitchFamily="34" charset="-122"/>
                <a:cs typeface="Calibri" pitchFamily="34" charset="-120"/>
              </a:rPr>
              <a:t>Covers file reading, Pydantic validation and CSV building</a:t>
            </a:r>
            <a:endParaRPr lang="en-US" sz="1250" dirty="0"/>
          </a:p>
          <a:p>
            <a:pPr marL="342900" indent="-342900">
              <a:lnSpc>
                <a:spcPts val="1700"/>
              </a:lnSpc>
              <a:spcAft>
                <a:spcPts val="1000"/>
              </a:spcAft>
              <a:buSzPct val="100000"/>
              <a:buChar char="•"/>
            </a:pPr>
            <a:r>
              <a:rPr lang="en-US" sz="1250" dirty="0">
                <a:solidFill>
                  <a:srgbClr val="241F31"/>
                </a:solidFill>
                <a:latin typeface="Calibri" pitchFamily="34" charset="0"/>
                <a:ea typeface="Calibri" pitchFamily="34" charset="-122"/>
                <a:cs typeface="Calibri" pitchFamily="34" charset="-120"/>
              </a:rPr>
              <a:t>A test proves an invented category is rejected</a:t>
            </a:r>
            <a:endParaRPr lang="en-US" sz="1250" dirty="0"/>
          </a:p>
        </p:txBody>
      </p:sp>
      <p:sp>
        <p:nvSpPr>
          <p:cNvPr id="8" name="Shape 6"/>
          <p:cNvSpPr/>
          <p:nvPr/>
        </p:nvSpPr>
        <p:spPr>
          <a:xfrm>
            <a:off x="4416552" y="1554480"/>
            <a:ext cx="3502152" cy="3063240"/>
          </a:xfrm>
          <a:prstGeom prst="roundRect">
            <a:avLst>
              <a:gd name="adj" fmla="val 2687"/>
            </a:avLst>
          </a:prstGeom>
          <a:solidFill>
            <a:srgbClr val="F4F1FB"/>
          </a:solidFill>
          <a:ln w="12700">
            <a:solidFill>
              <a:srgbClr val="F4F1FB"/>
            </a:solidFill>
            <a:prstDash val="solid"/>
          </a:ln>
          <a:effectLst>
            <a:outerShdw sx="100000" sy="100000" kx="0" ky="0" algn="bl" rotWithShape="0" blurRad="101600" dist="25400" dir="5400000">
              <a:srgbClr val="B9B2CE">
                <a:alpha val="35000"/>
              </a:srgbClr>
            </a:outerShdw>
          </a:effectLst>
        </p:spPr>
      </p:sp>
      <p:sp>
        <p:nvSpPr>
          <p:cNvPr id="9" name="Shape 7"/>
          <p:cNvSpPr/>
          <p:nvPr/>
        </p:nvSpPr>
        <p:spPr>
          <a:xfrm>
            <a:off x="4709160" y="1810512"/>
            <a:ext cx="365760" cy="365760"/>
          </a:xfrm>
          <a:prstGeom prst="ellipse">
            <a:avLst/>
          </a:prstGeom>
          <a:solidFill>
            <a:srgbClr val="6B46C1"/>
          </a:solidFill>
          <a:ln/>
        </p:spPr>
      </p:sp>
      <p:sp>
        <p:nvSpPr>
          <p:cNvPr id="10" name="Text 8"/>
          <p:cNvSpPr txBox="1"/>
          <p:nvPr/>
        </p:nvSpPr>
        <p:spPr>
          <a:xfrm>
            <a:off x="5193792" y="1810512"/>
            <a:ext cx="2560320" cy="365760"/>
          </a:xfrm>
          <a:prstGeom prst="rect">
            <a:avLst/>
          </a:prstGeom>
          <a:noFill/>
          <a:ln/>
        </p:spPr>
        <p:txBody>
          <a:bodyPr wrap="square" lIns="0" tIns="0" rIns="0" bIns="0" rtlCol="0" anchor="ctr"/>
          <a:lstStyle/>
          <a:p>
            <a:pPr indent="0" marL="0">
              <a:buNone/>
            </a:pPr>
            <a:r>
              <a:rPr lang="en-US" sz="1600" b="1" dirty="0">
                <a:solidFill>
                  <a:srgbClr val="2A1B4D"/>
                </a:solidFill>
                <a:latin typeface="Calibri" pitchFamily="34" charset="0"/>
                <a:ea typeface="Calibri" pitchFamily="34" charset="-122"/>
                <a:cs typeface="Calibri" pitchFamily="34" charset="-120"/>
              </a:rPr>
              <a:t>Version control</a:t>
            </a:r>
            <a:endParaRPr lang="en-US" sz="1600" dirty="0"/>
          </a:p>
        </p:txBody>
      </p:sp>
      <p:sp>
        <p:nvSpPr>
          <p:cNvPr id="11" name="Text 9"/>
          <p:cNvSpPr txBox="1"/>
          <p:nvPr/>
        </p:nvSpPr>
        <p:spPr>
          <a:xfrm>
            <a:off x="4709160" y="2359152"/>
            <a:ext cx="2926080" cy="3108960"/>
          </a:xfrm>
          <a:prstGeom prst="rect">
            <a:avLst/>
          </a:prstGeom>
          <a:noFill/>
          <a:ln/>
        </p:spPr>
        <p:txBody>
          <a:bodyPr wrap="square" lIns="0" tIns="0" rIns="0" bIns="0" rtlCol="0" anchor="t"/>
          <a:lstStyle/>
          <a:p>
            <a:pPr marL="342900" indent="-342900">
              <a:lnSpc>
                <a:spcPts val="1700"/>
              </a:lnSpc>
              <a:spcAft>
                <a:spcPts val="1000"/>
              </a:spcAft>
              <a:buSzPct val="100000"/>
              <a:buChar char="•"/>
            </a:pPr>
            <a:r>
              <a:rPr lang="en-US" sz="1250" dirty="0">
                <a:solidFill>
                  <a:srgbClr val="241F31"/>
                </a:solidFill>
                <a:latin typeface="Calibri" pitchFamily="34" charset="0"/>
                <a:ea typeface="Calibri" pitchFamily="34" charset="-122"/>
                <a:cs typeface="Calibri" pitchFamily="34" charset="-120"/>
              </a:rPr>
              <a:t>.gitignore excludes .env and output/</a:t>
            </a:r>
            <a:endParaRPr lang="en-US" sz="1250" dirty="0"/>
          </a:p>
          <a:p>
            <a:pPr marL="342900" indent="-342900">
              <a:lnSpc>
                <a:spcPts val="1700"/>
              </a:lnSpc>
              <a:spcAft>
                <a:spcPts val="1000"/>
              </a:spcAft>
              <a:buSzPct val="100000"/>
              <a:buChar char="•"/>
            </a:pPr>
            <a:r>
              <a:rPr lang="en-US" sz="1250" dirty="0">
                <a:solidFill>
                  <a:srgbClr val="241F31"/>
                </a:solidFill>
                <a:latin typeface="Calibri" pitchFamily="34" charset="0"/>
                <a:ea typeface="Calibri" pitchFamily="34" charset="-122"/>
                <a:cs typeface="Calibri" pitchFamily="34" charset="-120"/>
              </a:rPr>
              <a:t>The API key can never reach GitHub</a:t>
            </a:r>
            <a:endParaRPr lang="en-US" sz="1250" dirty="0"/>
          </a:p>
          <a:p>
            <a:pPr marL="342900" indent="-342900">
              <a:lnSpc>
                <a:spcPts val="1700"/>
              </a:lnSpc>
              <a:spcAft>
                <a:spcPts val="1000"/>
              </a:spcAft>
              <a:buSzPct val="100000"/>
              <a:buChar char="•"/>
            </a:pPr>
            <a:r>
              <a:rPr lang="en-US" sz="1250" dirty="0">
                <a:solidFill>
                  <a:srgbClr val="241F31"/>
                </a:solidFill>
                <a:latin typeface="Calibri" pitchFamily="34" charset="0"/>
                <a:ea typeface="Calibri" pitchFamily="34" charset="-122"/>
                <a:cs typeface="Calibri" pitchFamily="34" charset="-120"/>
              </a:rPr>
              <a:t>A commit-by-commit history, not one bulk commit</a:t>
            </a:r>
            <a:endParaRPr lang="en-US" sz="1250" dirty="0"/>
          </a:p>
          <a:p>
            <a:pPr marL="342900" indent="-342900">
              <a:lnSpc>
                <a:spcPts val="1700"/>
              </a:lnSpc>
              <a:spcAft>
                <a:spcPts val="1000"/>
              </a:spcAft>
              <a:buSzPct val="100000"/>
              <a:buChar char="•"/>
            </a:pPr>
            <a:r>
              <a:rPr lang="en-US" sz="1250" dirty="0">
                <a:solidFill>
                  <a:srgbClr val="241F31"/>
                </a:solidFill>
                <a:latin typeface="Calibri" pitchFamily="34" charset="0"/>
                <a:ea typeface="Calibri" pitchFamily="34" charset="-122"/>
                <a:cs typeface="Calibri" pitchFamily="34" charset="-120"/>
              </a:rPr>
              <a:t>.env.example is committed in its place</a:t>
            </a:r>
            <a:endParaRPr lang="en-US" sz="1250" dirty="0"/>
          </a:p>
        </p:txBody>
      </p:sp>
      <p:sp>
        <p:nvSpPr>
          <p:cNvPr id="12" name="Shape 10"/>
          <p:cNvSpPr/>
          <p:nvPr/>
        </p:nvSpPr>
        <p:spPr>
          <a:xfrm>
            <a:off x="8193024" y="1554480"/>
            <a:ext cx="3502152" cy="3063240"/>
          </a:xfrm>
          <a:prstGeom prst="roundRect">
            <a:avLst>
              <a:gd name="adj" fmla="val 2687"/>
            </a:avLst>
          </a:prstGeom>
          <a:solidFill>
            <a:srgbClr val="F4F1FB"/>
          </a:solidFill>
          <a:ln w="12700">
            <a:solidFill>
              <a:srgbClr val="F4F1FB"/>
            </a:solidFill>
            <a:prstDash val="solid"/>
          </a:ln>
          <a:effectLst>
            <a:outerShdw sx="100000" sy="100000" kx="0" ky="0" algn="bl" rotWithShape="0" blurRad="101600" dist="25400" dir="5400000">
              <a:srgbClr val="B9B2CE">
                <a:alpha val="35000"/>
              </a:srgbClr>
            </a:outerShdw>
          </a:effectLst>
        </p:spPr>
      </p:sp>
      <p:sp>
        <p:nvSpPr>
          <p:cNvPr id="13" name="Shape 11"/>
          <p:cNvSpPr/>
          <p:nvPr/>
        </p:nvSpPr>
        <p:spPr>
          <a:xfrm>
            <a:off x="8485632" y="1810512"/>
            <a:ext cx="365760" cy="365760"/>
          </a:xfrm>
          <a:prstGeom prst="ellipse">
            <a:avLst/>
          </a:prstGeom>
          <a:solidFill>
            <a:srgbClr val="2A1B4D"/>
          </a:solidFill>
          <a:ln/>
        </p:spPr>
      </p:sp>
      <p:sp>
        <p:nvSpPr>
          <p:cNvPr id="14" name="Text 12"/>
          <p:cNvSpPr txBox="1"/>
          <p:nvPr/>
        </p:nvSpPr>
        <p:spPr>
          <a:xfrm>
            <a:off x="8970264" y="1810512"/>
            <a:ext cx="2560320" cy="365760"/>
          </a:xfrm>
          <a:prstGeom prst="rect">
            <a:avLst/>
          </a:prstGeom>
          <a:noFill/>
          <a:ln/>
        </p:spPr>
        <p:txBody>
          <a:bodyPr wrap="square" lIns="0" tIns="0" rIns="0" bIns="0" rtlCol="0" anchor="ctr"/>
          <a:lstStyle/>
          <a:p>
            <a:pPr indent="0" marL="0">
              <a:buNone/>
            </a:pPr>
            <a:r>
              <a:rPr lang="en-US" sz="1600" b="1" dirty="0">
                <a:solidFill>
                  <a:srgbClr val="2A1B4D"/>
                </a:solidFill>
                <a:latin typeface="Calibri" pitchFamily="34" charset="0"/>
                <a:ea typeface="Calibri" pitchFamily="34" charset="-122"/>
                <a:cs typeface="Calibri" pitchFamily="34" charset="-120"/>
              </a:rPr>
              <a:t>Continuous integration</a:t>
            </a:r>
            <a:endParaRPr lang="en-US" sz="1600" dirty="0"/>
          </a:p>
        </p:txBody>
      </p:sp>
      <p:sp>
        <p:nvSpPr>
          <p:cNvPr id="15" name="Text 13"/>
          <p:cNvSpPr txBox="1"/>
          <p:nvPr/>
        </p:nvSpPr>
        <p:spPr>
          <a:xfrm>
            <a:off x="8485632" y="2359152"/>
            <a:ext cx="2926080" cy="3108960"/>
          </a:xfrm>
          <a:prstGeom prst="rect">
            <a:avLst/>
          </a:prstGeom>
          <a:noFill/>
          <a:ln/>
        </p:spPr>
        <p:txBody>
          <a:bodyPr wrap="square" lIns="0" tIns="0" rIns="0" bIns="0" rtlCol="0" anchor="t"/>
          <a:lstStyle/>
          <a:p>
            <a:pPr marL="342900" indent="-342900">
              <a:lnSpc>
                <a:spcPts val="1700"/>
              </a:lnSpc>
              <a:spcAft>
                <a:spcPts val="1000"/>
              </a:spcAft>
              <a:buSzPct val="100000"/>
              <a:buChar char="•"/>
            </a:pPr>
            <a:r>
              <a:rPr lang="en-US" sz="1250" dirty="0">
                <a:solidFill>
                  <a:srgbClr val="241F31"/>
                </a:solidFill>
                <a:latin typeface="Calibri" pitchFamily="34" charset="0"/>
                <a:ea typeface="Calibri" pitchFamily="34" charset="-122"/>
                <a:cs typeface="Calibri" pitchFamily="34" charset="-120"/>
              </a:rPr>
              <a:t>GitHub Actions runs pytest on every push</a:t>
            </a:r>
            <a:endParaRPr lang="en-US" sz="1250" dirty="0"/>
          </a:p>
          <a:p>
            <a:pPr marL="342900" indent="-342900">
              <a:lnSpc>
                <a:spcPts val="1700"/>
              </a:lnSpc>
              <a:spcAft>
                <a:spcPts val="1000"/>
              </a:spcAft>
              <a:buSzPct val="100000"/>
              <a:buChar char="•"/>
            </a:pPr>
            <a:r>
              <a:rPr lang="en-US" sz="1250" dirty="0">
                <a:solidFill>
                  <a:srgbClr val="241F31"/>
                </a:solidFill>
                <a:latin typeface="Calibri" pitchFamily="34" charset="0"/>
                <a:ea typeface="Calibri" pitchFamily="34" charset="-122"/>
                <a:cs typeface="Calibri" pitchFamily="34" charset="-120"/>
              </a:rPr>
              <a:t>No secret needs configuring, because the tests need no key</a:t>
            </a:r>
            <a:endParaRPr lang="en-US" sz="1250" dirty="0"/>
          </a:p>
          <a:p>
            <a:pPr marL="342900" indent="-342900">
              <a:lnSpc>
                <a:spcPts val="1700"/>
              </a:lnSpc>
              <a:spcAft>
                <a:spcPts val="1000"/>
              </a:spcAft>
              <a:buSzPct val="100000"/>
              <a:buChar char="•"/>
            </a:pPr>
            <a:r>
              <a:rPr lang="en-US" sz="1250" dirty="0">
                <a:solidFill>
                  <a:srgbClr val="241F31"/>
                </a:solidFill>
                <a:latin typeface="Calibri" pitchFamily="34" charset="0"/>
                <a:ea typeface="Calibri" pitchFamily="34" charset="-122"/>
                <a:cs typeface="Calibri" pitchFamily="34" charset="-120"/>
              </a:rPr>
              <a:t>A green tick on every commit</a:t>
            </a:r>
            <a:endParaRPr lang="en-US" sz="1250" dirty="0"/>
          </a:p>
          <a:p>
            <a:pPr marL="342900" indent="-342900">
              <a:lnSpc>
                <a:spcPts val="1700"/>
              </a:lnSpc>
              <a:spcAft>
                <a:spcPts val="1000"/>
              </a:spcAft>
              <a:buSzPct val="100000"/>
              <a:buChar char="•"/>
            </a:pPr>
            <a:r>
              <a:rPr lang="en-US" sz="1250" dirty="0">
                <a:solidFill>
                  <a:srgbClr val="241F31"/>
                </a:solidFill>
                <a:latin typeface="Calibri" pitchFamily="34" charset="0"/>
                <a:ea typeface="Calibri" pitchFamily="34" charset="-122"/>
                <a:cs typeface="Calibri" pitchFamily="34" charset="-120"/>
              </a:rPr>
              <a:t>Defined in .github/workflows/tests.yml</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56032"/>
          </a:xfrm>
          <a:prstGeom prst="rect">
            <a:avLst/>
          </a:prstGeom>
          <a:noFill/>
          <a:ln/>
        </p:spPr>
        <p:txBody>
          <a:bodyPr wrap="square" lIns="0" tIns="0" rIns="0" bIns="0" rtlCol="0" anchor="ctr"/>
          <a:lstStyle/>
          <a:p>
            <a:pPr indent="0" marL="0">
              <a:buNone/>
            </a:pPr>
            <a:r>
              <a:rPr lang="en-US" sz="1100" b="1" spc="200" kern="0" dirty="0">
                <a:solidFill>
                  <a:srgbClr val="6B46C1"/>
                </a:solidFill>
                <a:latin typeface="Calibri" pitchFamily="34" charset="0"/>
                <a:ea typeface="Calibri" pitchFamily="34" charset="-122"/>
                <a:cs typeface="Calibri" pitchFamily="34" charset="-120"/>
              </a:rPr>
              <a:t>SKILLS DEMONSTRATED</a:t>
            </a:r>
            <a:endParaRPr lang="en-US" sz="1100" dirty="0"/>
          </a:p>
        </p:txBody>
      </p:sp>
      <p:sp>
        <p:nvSpPr>
          <p:cNvPr id="3" name="Text 1"/>
          <p:cNvSpPr txBox="1"/>
          <p:nvPr/>
        </p:nvSpPr>
        <p:spPr>
          <a:xfrm>
            <a:off x="640080" y="658368"/>
            <a:ext cx="10881360" cy="685800"/>
          </a:xfrm>
          <a:prstGeom prst="rect">
            <a:avLst/>
          </a:prstGeom>
          <a:noFill/>
          <a:ln/>
        </p:spPr>
        <p:txBody>
          <a:bodyPr wrap="square" lIns="0" tIns="0" rIns="0" bIns="0" rtlCol="0" anchor="ctr"/>
          <a:lstStyle/>
          <a:p>
            <a:pPr indent="0" marL="0">
              <a:buNone/>
            </a:pPr>
            <a:r>
              <a:rPr lang="en-US" sz="3200" b="1" dirty="0">
                <a:solidFill>
                  <a:srgbClr val="2A1B4D"/>
                </a:solidFill>
                <a:latin typeface="Cambria" pitchFamily="34" charset="0"/>
                <a:ea typeface="Cambria" pitchFamily="34" charset="-122"/>
                <a:cs typeface="Cambria" pitchFamily="34" charset="-120"/>
              </a:rPr>
              <a:t>Where each assessed skill lives in the code</a:t>
            </a:r>
            <a:endParaRPr lang="en-US" sz="3200" dirty="0"/>
          </a:p>
        </p:txBody>
      </p:sp>
      <p:sp>
        <p:nvSpPr>
          <p:cNvPr id="4" name="Shape 2"/>
          <p:cNvSpPr/>
          <p:nvPr/>
        </p:nvSpPr>
        <p:spPr>
          <a:xfrm>
            <a:off x="640080" y="1517904"/>
            <a:ext cx="3502152" cy="969264"/>
          </a:xfrm>
          <a:prstGeom prst="roundRect">
            <a:avLst>
              <a:gd name="adj" fmla="val 8491"/>
            </a:avLst>
          </a:prstGeom>
          <a:solidFill>
            <a:srgbClr val="F4F1FB"/>
          </a:solidFill>
          <a:ln w="12700">
            <a:solidFill>
              <a:srgbClr val="F4F1FB"/>
            </a:solidFill>
            <a:prstDash val="solid"/>
          </a:ln>
          <a:effectLst>
            <a:outerShdw sx="100000" sy="100000" kx="0" ky="0" algn="bl" rotWithShape="0" blurRad="101600" dist="25400" dir="5400000">
              <a:srgbClr val="B9B2CE">
                <a:alpha val="35000"/>
              </a:srgbClr>
            </a:outerShdw>
          </a:effectLst>
        </p:spPr>
      </p:sp>
      <p:sp>
        <p:nvSpPr>
          <p:cNvPr id="5" name="Text 3"/>
          <p:cNvSpPr txBox="1"/>
          <p:nvPr/>
        </p:nvSpPr>
        <p:spPr>
          <a:xfrm>
            <a:off x="896112" y="1655064"/>
            <a:ext cx="3017520" cy="310896"/>
          </a:xfrm>
          <a:prstGeom prst="rect">
            <a:avLst/>
          </a:prstGeom>
          <a:noFill/>
          <a:ln/>
        </p:spPr>
        <p:txBody>
          <a:bodyPr wrap="square" lIns="0" tIns="0" rIns="0" bIns="0" rtlCol="0" anchor="ctr"/>
          <a:lstStyle/>
          <a:p>
            <a:pPr indent="0" marL="0">
              <a:buNone/>
            </a:pPr>
            <a:r>
              <a:rPr lang="en-US" sz="1400" b="1" dirty="0">
                <a:solidFill>
                  <a:srgbClr val="2A1B4D"/>
                </a:solidFill>
                <a:latin typeface="Calibri" pitchFamily="34" charset="0"/>
                <a:ea typeface="Calibri" pitchFamily="34" charset="-122"/>
                <a:cs typeface="Calibri" pitchFamily="34" charset="-120"/>
              </a:rPr>
              <a:t>Python</a:t>
            </a:r>
            <a:endParaRPr lang="en-US" sz="1400" dirty="0"/>
          </a:p>
        </p:txBody>
      </p:sp>
      <p:sp>
        <p:nvSpPr>
          <p:cNvPr id="6" name="Text 4"/>
          <p:cNvSpPr txBox="1"/>
          <p:nvPr/>
        </p:nvSpPr>
        <p:spPr>
          <a:xfrm>
            <a:off x="896112" y="2002536"/>
            <a:ext cx="3017520" cy="310896"/>
          </a:xfrm>
          <a:prstGeom prst="rect">
            <a:avLst/>
          </a:prstGeom>
          <a:noFill/>
          <a:ln/>
        </p:spPr>
        <p:txBody>
          <a:bodyPr wrap="square" lIns="0" tIns="0" rIns="0" bIns="0" rtlCol="0" anchor="ctr"/>
          <a:lstStyle/>
          <a:p>
            <a:pPr indent="0" marL="0">
              <a:buNone/>
            </a:pPr>
            <a:r>
              <a:rPr lang="en-US" sz="1100" dirty="0">
                <a:solidFill>
                  <a:srgbClr val="6B46C1"/>
                </a:solidFill>
                <a:latin typeface="Courier New" pitchFamily="34" charset="0"/>
                <a:ea typeface="Courier New" pitchFamily="34" charset="-122"/>
                <a:cs typeface="Courier New" pitchFamily="34" charset="-120"/>
              </a:rPr>
              <a:t>all seven files</a:t>
            </a:r>
            <a:endParaRPr lang="en-US" sz="1100" dirty="0"/>
          </a:p>
        </p:txBody>
      </p:sp>
      <p:sp>
        <p:nvSpPr>
          <p:cNvPr id="7" name="Shape 5"/>
          <p:cNvSpPr/>
          <p:nvPr/>
        </p:nvSpPr>
        <p:spPr>
          <a:xfrm>
            <a:off x="4416552" y="1517904"/>
            <a:ext cx="3502152" cy="969264"/>
          </a:xfrm>
          <a:prstGeom prst="roundRect">
            <a:avLst>
              <a:gd name="adj" fmla="val 8491"/>
            </a:avLst>
          </a:prstGeom>
          <a:solidFill>
            <a:srgbClr val="F4F1FB"/>
          </a:solidFill>
          <a:ln w="12700">
            <a:solidFill>
              <a:srgbClr val="F4F1FB"/>
            </a:solidFill>
            <a:prstDash val="solid"/>
          </a:ln>
          <a:effectLst>
            <a:outerShdw sx="100000" sy="100000" kx="0" ky="0" algn="bl" rotWithShape="0" blurRad="101600" dist="25400" dir="5400000">
              <a:srgbClr val="B9B2CE">
                <a:alpha val="35000"/>
              </a:srgbClr>
            </a:outerShdw>
          </a:effectLst>
        </p:spPr>
      </p:sp>
      <p:sp>
        <p:nvSpPr>
          <p:cNvPr id="8" name="Text 6"/>
          <p:cNvSpPr txBox="1"/>
          <p:nvPr/>
        </p:nvSpPr>
        <p:spPr>
          <a:xfrm>
            <a:off x="4672584" y="1655064"/>
            <a:ext cx="3017520" cy="310896"/>
          </a:xfrm>
          <a:prstGeom prst="rect">
            <a:avLst/>
          </a:prstGeom>
          <a:noFill/>
          <a:ln/>
        </p:spPr>
        <p:txBody>
          <a:bodyPr wrap="square" lIns="0" tIns="0" rIns="0" bIns="0" rtlCol="0" anchor="ctr"/>
          <a:lstStyle/>
          <a:p>
            <a:pPr indent="0" marL="0">
              <a:buNone/>
            </a:pPr>
            <a:r>
              <a:rPr lang="en-US" sz="1400" b="1" dirty="0">
                <a:solidFill>
                  <a:srgbClr val="2A1B4D"/>
                </a:solidFill>
                <a:latin typeface="Calibri" pitchFamily="34" charset="0"/>
                <a:ea typeface="Calibri" pitchFamily="34" charset="-122"/>
                <a:cs typeface="Calibri" pitchFamily="34" charset="-120"/>
              </a:rPr>
              <a:t>LLM API integration</a:t>
            </a:r>
            <a:endParaRPr lang="en-US" sz="1400" dirty="0"/>
          </a:p>
        </p:txBody>
      </p:sp>
      <p:sp>
        <p:nvSpPr>
          <p:cNvPr id="9" name="Text 7"/>
          <p:cNvSpPr txBox="1"/>
          <p:nvPr/>
        </p:nvSpPr>
        <p:spPr>
          <a:xfrm>
            <a:off x="4672584" y="2002536"/>
            <a:ext cx="3017520" cy="310896"/>
          </a:xfrm>
          <a:prstGeom prst="rect">
            <a:avLst/>
          </a:prstGeom>
          <a:noFill/>
          <a:ln/>
        </p:spPr>
        <p:txBody>
          <a:bodyPr wrap="square" lIns="0" tIns="0" rIns="0" bIns="0" rtlCol="0" anchor="ctr"/>
          <a:lstStyle/>
          <a:p>
            <a:pPr indent="0" marL="0">
              <a:buNone/>
            </a:pPr>
            <a:r>
              <a:rPr lang="en-US" sz="1100" dirty="0">
                <a:solidFill>
                  <a:srgbClr val="6B46C1"/>
                </a:solidFill>
                <a:latin typeface="Courier New" pitchFamily="34" charset="0"/>
                <a:ea typeface="Courier New" pitchFamily="34" charset="-122"/>
                <a:cs typeface="Courier New" pitchFamily="34" charset="-120"/>
              </a:rPr>
              <a:t>ai_tasks.build_llm()</a:t>
            </a:r>
            <a:endParaRPr lang="en-US" sz="1100" dirty="0"/>
          </a:p>
        </p:txBody>
      </p:sp>
      <p:sp>
        <p:nvSpPr>
          <p:cNvPr id="10" name="Shape 8"/>
          <p:cNvSpPr/>
          <p:nvPr/>
        </p:nvSpPr>
        <p:spPr>
          <a:xfrm>
            <a:off x="8193024" y="1517904"/>
            <a:ext cx="3502152" cy="969264"/>
          </a:xfrm>
          <a:prstGeom prst="roundRect">
            <a:avLst>
              <a:gd name="adj" fmla="val 8491"/>
            </a:avLst>
          </a:prstGeom>
          <a:solidFill>
            <a:srgbClr val="F4F1FB"/>
          </a:solidFill>
          <a:ln w="12700">
            <a:solidFill>
              <a:srgbClr val="F4F1FB"/>
            </a:solidFill>
            <a:prstDash val="solid"/>
          </a:ln>
          <a:effectLst>
            <a:outerShdw sx="100000" sy="100000" kx="0" ky="0" algn="bl" rotWithShape="0" blurRad="101600" dist="25400" dir="5400000">
              <a:srgbClr val="B9B2CE">
                <a:alpha val="35000"/>
              </a:srgbClr>
            </a:outerShdw>
          </a:effectLst>
        </p:spPr>
      </p:sp>
      <p:sp>
        <p:nvSpPr>
          <p:cNvPr id="11" name="Text 9"/>
          <p:cNvSpPr txBox="1"/>
          <p:nvPr/>
        </p:nvSpPr>
        <p:spPr>
          <a:xfrm>
            <a:off x="8449056" y="1655064"/>
            <a:ext cx="3017520" cy="310896"/>
          </a:xfrm>
          <a:prstGeom prst="rect">
            <a:avLst/>
          </a:prstGeom>
          <a:noFill/>
          <a:ln/>
        </p:spPr>
        <p:txBody>
          <a:bodyPr wrap="square" lIns="0" tIns="0" rIns="0" bIns="0" rtlCol="0" anchor="ctr"/>
          <a:lstStyle/>
          <a:p>
            <a:pPr indent="0" marL="0">
              <a:buNone/>
            </a:pPr>
            <a:r>
              <a:rPr lang="en-US" sz="1400" b="1" dirty="0">
                <a:solidFill>
                  <a:srgbClr val="2A1B4D"/>
                </a:solidFill>
                <a:latin typeface="Calibri" pitchFamily="34" charset="0"/>
                <a:ea typeface="Calibri" pitchFamily="34" charset="-122"/>
                <a:cs typeface="Calibri" pitchFamily="34" charset="-120"/>
              </a:rPr>
              <a:t>Prompt Engineering</a:t>
            </a:r>
            <a:endParaRPr lang="en-US" sz="1400" dirty="0"/>
          </a:p>
        </p:txBody>
      </p:sp>
      <p:sp>
        <p:nvSpPr>
          <p:cNvPr id="12" name="Text 10"/>
          <p:cNvSpPr txBox="1"/>
          <p:nvPr/>
        </p:nvSpPr>
        <p:spPr>
          <a:xfrm>
            <a:off x="8449056" y="2002536"/>
            <a:ext cx="3017520" cy="310896"/>
          </a:xfrm>
          <a:prstGeom prst="rect">
            <a:avLst/>
          </a:prstGeom>
          <a:noFill/>
          <a:ln/>
        </p:spPr>
        <p:txBody>
          <a:bodyPr wrap="square" lIns="0" tIns="0" rIns="0" bIns="0" rtlCol="0" anchor="ctr"/>
          <a:lstStyle/>
          <a:p>
            <a:pPr indent="0" marL="0">
              <a:buNone/>
            </a:pPr>
            <a:r>
              <a:rPr lang="en-US" sz="1100" dirty="0">
                <a:solidFill>
                  <a:srgbClr val="6B46C1"/>
                </a:solidFill>
                <a:latin typeface="Courier New" pitchFamily="34" charset="0"/>
                <a:ea typeface="Courier New" pitchFamily="34" charset="-122"/>
                <a:cs typeface="Courier New" pitchFamily="34" charset="-120"/>
              </a:rPr>
              <a:t>three prompts, ai_tasks.py</a:t>
            </a:r>
            <a:endParaRPr lang="en-US" sz="1100" dirty="0"/>
          </a:p>
        </p:txBody>
      </p:sp>
      <p:sp>
        <p:nvSpPr>
          <p:cNvPr id="13" name="Shape 11"/>
          <p:cNvSpPr/>
          <p:nvPr/>
        </p:nvSpPr>
        <p:spPr>
          <a:xfrm>
            <a:off x="640080" y="2734056"/>
            <a:ext cx="3502152" cy="969264"/>
          </a:xfrm>
          <a:prstGeom prst="roundRect">
            <a:avLst>
              <a:gd name="adj" fmla="val 8491"/>
            </a:avLst>
          </a:prstGeom>
          <a:solidFill>
            <a:srgbClr val="F4F1FB"/>
          </a:solidFill>
          <a:ln w="12700">
            <a:solidFill>
              <a:srgbClr val="F4F1FB"/>
            </a:solidFill>
            <a:prstDash val="solid"/>
          </a:ln>
          <a:effectLst>
            <a:outerShdw sx="100000" sy="100000" kx="0" ky="0" algn="bl" rotWithShape="0" blurRad="101600" dist="25400" dir="5400000">
              <a:srgbClr val="B9B2CE">
                <a:alpha val="35000"/>
              </a:srgbClr>
            </a:outerShdw>
          </a:effectLst>
        </p:spPr>
      </p:sp>
      <p:sp>
        <p:nvSpPr>
          <p:cNvPr id="14" name="Text 12"/>
          <p:cNvSpPr txBox="1"/>
          <p:nvPr/>
        </p:nvSpPr>
        <p:spPr>
          <a:xfrm>
            <a:off x="896112" y="2871216"/>
            <a:ext cx="3017520" cy="310896"/>
          </a:xfrm>
          <a:prstGeom prst="rect">
            <a:avLst/>
          </a:prstGeom>
          <a:noFill/>
          <a:ln/>
        </p:spPr>
        <p:txBody>
          <a:bodyPr wrap="square" lIns="0" tIns="0" rIns="0" bIns="0" rtlCol="0" anchor="ctr"/>
          <a:lstStyle/>
          <a:p>
            <a:pPr indent="0" marL="0">
              <a:buNone/>
            </a:pPr>
            <a:r>
              <a:rPr lang="en-US" sz="1400" b="1" dirty="0">
                <a:solidFill>
                  <a:srgbClr val="2A1B4D"/>
                </a:solidFill>
                <a:latin typeface="Calibri" pitchFamily="34" charset="0"/>
                <a:ea typeface="Calibri" pitchFamily="34" charset="-122"/>
                <a:cs typeface="Calibri" pitchFamily="34" charset="-120"/>
              </a:rPr>
              <a:t>Structured Outputs</a:t>
            </a:r>
            <a:endParaRPr lang="en-US" sz="1400" dirty="0"/>
          </a:p>
        </p:txBody>
      </p:sp>
      <p:sp>
        <p:nvSpPr>
          <p:cNvPr id="15" name="Text 13"/>
          <p:cNvSpPr txBox="1"/>
          <p:nvPr/>
        </p:nvSpPr>
        <p:spPr>
          <a:xfrm>
            <a:off x="896112" y="3218688"/>
            <a:ext cx="3017520" cy="310896"/>
          </a:xfrm>
          <a:prstGeom prst="rect">
            <a:avLst/>
          </a:prstGeom>
          <a:noFill/>
          <a:ln/>
        </p:spPr>
        <p:txBody>
          <a:bodyPr wrap="square" lIns="0" tIns="0" rIns="0" bIns="0" rtlCol="0" anchor="ctr"/>
          <a:lstStyle/>
          <a:p>
            <a:pPr indent="0" marL="0">
              <a:buNone/>
            </a:pPr>
            <a:r>
              <a:rPr lang="en-US" sz="1100" dirty="0">
                <a:solidFill>
                  <a:srgbClr val="6B46C1"/>
                </a:solidFill>
                <a:latin typeface="Courier New" pitchFamily="34" charset="0"/>
                <a:ea typeface="Courier New" pitchFamily="34" charset="-122"/>
                <a:cs typeface="Courier New" pitchFamily="34" charset="-120"/>
              </a:rPr>
              <a:t>with_structured_output()</a:t>
            </a:r>
            <a:endParaRPr lang="en-US" sz="1100" dirty="0"/>
          </a:p>
        </p:txBody>
      </p:sp>
      <p:sp>
        <p:nvSpPr>
          <p:cNvPr id="16" name="Shape 14"/>
          <p:cNvSpPr/>
          <p:nvPr/>
        </p:nvSpPr>
        <p:spPr>
          <a:xfrm>
            <a:off x="4416552" y="2734056"/>
            <a:ext cx="3502152" cy="969264"/>
          </a:xfrm>
          <a:prstGeom prst="roundRect">
            <a:avLst>
              <a:gd name="adj" fmla="val 8491"/>
            </a:avLst>
          </a:prstGeom>
          <a:solidFill>
            <a:srgbClr val="F4F1FB"/>
          </a:solidFill>
          <a:ln w="12700">
            <a:solidFill>
              <a:srgbClr val="F4F1FB"/>
            </a:solidFill>
            <a:prstDash val="solid"/>
          </a:ln>
          <a:effectLst>
            <a:outerShdw sx="100000" sy="100000" kx="0" ky="0" algn="bl" rotWithShape="0" blurRad="101600" dist="25400" dir="5400000">
              <a:srgbClr val="B9B2CE">
                <a:alpha val="35000"/>
              </a:srgbClr>
            </a:outerShdw>
          </a:effectLst>
        </p:spPr>
      </p:sp>
      <p:sp>
        <p:nvSpPr>
          <p:cNvPr id="17" name="Text 15"/>
          <p:cNvSpPr txBox="1"/>
          <p:nvPr/>
        </p:nvSpPr>
        <p:spPr>
          <a:xfrm>
            <a:off x="4672584" y="2871216"/>
            <a:ext cx="3017520" cy="310896"/>
          </a:xfrm>
          <a:prstGeom prst="rect">
            <a:avLst/>
          </a:prstGeom>
          <a:noFill/>
          <a:ln/>
        </p:spPr>
        <p:txBody>
          <a:bodyPr wrap="square" lIns="0" tIns="0" rIns="0" bIns="0" rtlCol="0" anchor="ctr"/>
          <a:lstStyle/>
          <a:p>
            <a:pPr indent="0" marL="0">
              <a:buNone/>
            </a:pPr>
            <a:r>
              <a:rPr lang="en-US" sz="1400" b="1" dirty="0">
                <a:solidFill>
                  <a:srgbClr val="2A1B4D"/>
                </a:solidFill>
                <a:latin typeface="Calibri" pitchFamily="34" charset="0"/>
                <a:ea typeface="Calibri" pitchFamily="34" charset="-122"/>
                <a:cs typeface="Calibri" pitchFamily="34" charset="-120"/>
              </a:rPr>
              <a:t>Pydantic</a:t>
            </a:r>
            <a:endParaRPr lang="en-US" sz="1400" dirty="0"/>
          </a:p>
        </p:txBody>
      </p:sp>
      <p:sp>
        <p:nvSpPr>
          <p:cNvPr id="18" name="Text 16"/>
          <p:cNvSpPr txBox="1"/>
          <p:nvPr/>
        </p:nvSpPr>
        <p:spPr>
          <a:xfrm>
            <a:off x="4672584" y="3218688"/>
            <a:ext cx="3017520" cy="310896"/>
          </a:xfrm>
          <a:prstGeom prst="rect">
            <a:avLst/>
          </a:prstGeom>
          <a:noFill/>
          <a:ln/>
        </p:spPr>
        <p:txBody>
          <a:bodyPr wrap="square" lIns="0" tIns="0" rIns="0" bIns="0" rtlCol="0" anchor="ctr"/>
          <a:lstStyle/>
          <a:p>
            <a:pPr indent="0" marL="0">
              <a:buNone/>
            </a:pPr>
            <a:r>
              <a:rPr lang="en-US" sz="1100" dirty="0">
                <a:solidFill>
                  <a:srgbClr val="6B46C1"/>
                </a:solidFill>
                <a:latin typeface="Courier New" pitchFamily="34" charset="0"/>
                <a:ea typeface="Courier New" pitchFamily="34" charset="-122"/>
                <a:cs typeface="Courier New" pitchFamily="34" charset="-120"/>
              </a:rPr>
              <a:t>models.py — three schemas</a:t>
            </a:r>
            <a:endParaRPr lang="en-US" sz="1100" dirty="0"/>
          </a:p>
        </p:txBody>
      </p:sp>
      <p:sp>
        <p:nvSpPr>
          <p:cNvPr id="19" name="Shape 17"/>
          <p:cNvSpPr/>
          <p:nvPr/>
        </p:nvSpPr>
        <p:spPr>
          <a:xfrm>
            <a:off x="8193024" y="2734056"/>
            <a:ext cx="3502152" cy="969264"/>
          </a:xfrm>
          <a:prstGeom prst="roundRect">
            <a:avLst>
              <a:gd name="adj" fmla="val 8491"/>
            </a:avLst>
          </a:prstGeom>
          <a:solidFill>
            <a:srgbClr val="F4F1FB"/>
          </a:solidFill>
          <a:ln w="12700">
            <a:solidFill>
              <a:srgbClr val="F4F1FB"/>
            </a:solidFill>
            <a:prstDash val="solid"/>
          </a:ln>
          <a:effectLst>
            <a:outerShdw sx="100000" sy="100000" kx="0" ky="0" algn="bl" rotWithShape="0" blurRad="101600" dist="25400" dir="5400000">
              <a:srgbClr val="B9B2CE">
                <a:alpha val="35000"/>
              </a:srgbClr>
            </a:outerShdw>
          </a:effectLst>
        </p:spPr>
      </p:sp>
      <p:sp>
        <p:nvSpPr>
          <p:cNvPr id="20" name="Text 18"/>
          <p:cNvSpPr txBox="1"/>
          <p:nvPr/>
        </p:nvSpPr>
        <p:spPr>
          <a:xfrm>
            <a:off x="8449056" y="2871216"/>
            <a:ext cx="3017520" cy="310896"/>
          </a:xfrm>
          <a:prstGeom prst="rect">
            <a:avLst/>
          </a:prstGeom>
          <a:noFill/>
          <a:ln/>
        </p:spPr>
        <p:txBody>
          <a:bodyPr wrap="square" lIns="0" tIns="0" rIns="0" bIns="0" rtlCol="0" anchor="ctr"/>
          <a:lstStyle/>
          <a:p>
            <a:pPr indent="0" marL="0">
              <a:buNone/>
            </a:pPr>
            <a:r>
              <a:rPr lang="en-US" sz="1400" b="1" dirty="0">
                <a:solidFill>
                  <a:srgbClr val="2A1B4D"/>
                </a:solidFill>
                <a:latin typeface="Calibri" pitchFamily="34" charset="0"/>
                <a:ea typeface="Calibri" pitchFamily="34" charset="-122"/>
                <a:cs typeface="Calibri" pitchFamily="34" charset="-120"/>
              </a:rPr>
              <a:t>Batch Processing</a:t>
            </a:r>
            <a:endParaRPr lang="en-US" sz="1400" dirty="0"/>
          </a:p>
        </p:txBody>
      </p:sp>
      <p:sp>
        <p:nvSpPr>
          <p:cNvPr id="21" name="Text 19"/>
          <p:cNvSpPr txBox="1"/>
          <p:nvPr/>
        </p:nvSpPr>
        <p:spPr>
          <a:xfrm>
            <a:off x="8449056" y="3218688"/>
            <a:ext cx="3017520" cy="310896"/>
          </a:xfrm>
          <a:prstGeom prst="rect">
            <a:avLst/>
          </a:prstGeom>
          <a:noFill/>
          <a:ln/>
        </p:spPr>
        <p:txBody>
          <a:bodyPr wrap="square" lIns="0" tIns="0" rIns="0" bIns="0" rtlCol="0" anchor="ctr"/>
          <a:lstStyle/>
          <a:p>
            <a:pPr indent="0" marL="0">
              <a:buNone/>
            </a:pPr>
            <a:r>
              <a:rPr lang="en-US" sz="1100" dirty="0">
                <a:solidFill>
                  <a:srgbClr val="6B46C1"/>
                </a:solidFill>
                <a:latin typeface="Courier New" pitchFamily="34" charset="0"/>
                <a:ea typeface="Courier New" pitchFamily="34" charset="-122"/>
                <a:cs typeface="Courier New" pitchFamily="34" charset="-120"/>
              </a:rPr>
              <a:t>app.py — the loop + CSV</a:t>
            </a:r>
            <a:endParaRPr lang="en-US" sz="1100" dirty="0"/>
          </a:p>
        </p:txBody>
      </p:sp>
      <p:sp>
        <p:nvSpPr>
          <p:cNvPr id="22" name="Shape 20"/>
          <p:cNvSpPr/>
          <p:nvPr/>
        </p:nvSpPr>
        <p:spPr>
          <a:xfrm>
            <a:off x="640080" y="3950208"/>
            <a:ext cx="3502152" cy="969264"/>
          </a:xfrm>
          <a:prstGeom prst="roundRect">
            <a:avLst>
              <a:gd name="adj" fmla="val 8491"/>
            </a:avLst>
          </a:prstGeom>
          <a:solidFill>
            <a:srgbClr val="F4F1FB"/>
          </a:solidFill>
          <a:ln w="12700">
            <a:solidFill>
              <a:srgbClr val="F4F1FB"/>
            </a:solidFill>
            <a:prstDash val="solid"/>
          </a:ln>
          <a:effectLst>
            <a:outerShdw sx="100000" sy="100000" kx="0" ky="0" algn="bl" rotWithShape="0" blurRad="101600" dist="25400" dir="5400000">
              <a:srgbClr val="B9B2CE">
                <a:alpha val="35000"/>
              </a:srgbClr>
            </a:outerShdw>
          </a:effectLst>
        </p:spPr>
      </p:sp>
      <p:sp>
        <p:nvSpPr>
          <p:cNvPr id="23" name="Text 21"/>
          <p:cNvSpPr txBox="1"/>
          <p:nvPr/>
        </p:nvSpPr>
        <p:spPr>
          <a:xfrm>
            <a:off x="896112" y="4087368"/>
            <a:ext cx="3017520" cy="310896"/>
          </a:xfrm>
          <a:prstGeom prst="rect">
            <a:avLst/>
          </a:prstGeom>
          <a:noFill/>
          <a:ln/>
        </p:spPr>
        <p:txBody>
          <a:bodyPr wrap="square" lIns="0" tIns="0" rIns="0" bIns="0" rtlCol="0" anchor="ctr"/>
          <a:lstStyle/>
          <a:p>
            <a:pPr indent="0" marL="0">
              <a:buNone/>
            </a:pPr>
            <a:r>
              <a:rPr lang="en-US" sz="1400" b="1" dirty="0">
                <a:solidFill>
                  <a:srgbClr val="2A1B4D"/>
                </a:solidFill>
                <a:latin typeface="Calibri" pitchFamily="34" charset="0"/>
                <a:ea typeface="Calibri" pitchFamily="34" charset="-122"/>
                <a:cs typeface="Calibri" pitchFamily="34" charset="-120"/>
              </a:rPr>
              <a:t>Sequential / Parallel</a:t>
            </a:r>
            <a:endParaRPr lang="en-US" sz="1400" dirty="0"/>
          </a:p>
        </p:txBody>
      </p:sp>
      <p:sp>
        <p:nvSpPr>
          <p:cNvPr id="24" name="Text 22"/>
          <p:cNvSpPr txBox="1"/>
          <p:nvPr/>
        </p:nvSpPr>
        <p:spPr>
          <a:xfrm>
            <a:off x="896112" y="4434840"/>
            <a:ext cx="3017520" cy="310896"/>
          </a:xfrm>
          <a:prstGeom prst="rect">
            <a:avLst/>
          </a:prstGeom>
          <a:noFill/>
          <a:ln/>
        </p:spPr>
        <p:txBody>
          <a:bodyPr wrap="square" lIns="0" tIns="0" rIns="0" bIns="0" rtlCol="0" anchor="ctr"/>
          <a:lstStyle/>
          <a:p>
            <a:pPr indent="0" marL="0">
              <a:buNone/>
            </a:pPr>
            <a:r>
              <a:rPr lang="en-US" sz="1100" dirty="0">
                <a:solidFill>
                  <a:srgbClr val="6B46C1"/>
                </a:solidFill>
                <a:latin typeface="Courier New" pitchFamily="34" charset="0"/>
                <a:ea typeface="Courier New" pitchFamily="34" charset="-122"/>
                <a:cs typeface="Courier New" pitchFamily="34" charset="-120"/>
              </a:rPr>
              <a:t>workflow.py — LangGraph</a:t>
            </a:r>
            <a:endParaRPr lang="en-US" sz="1100" dirty="0"/>
          </a:p>
        </p:txBody>
      </p:sp>
      <p:sp>
        <p:nvSpPr>
          <p:cNvPr id="25" name="Shape 23"/>
          <p:cNvSpPr/>
          <p:nvPr/>
        </p:nvSpPr>
        <p:spPr>
          <a:xfrm>
            <a:off x="4416552" y="3950208"/>
            <a:ext cx="3502152" cy="969264"/>
          </a:xfrm>
          <a:prstGeom prst="roundRect">
            <a:avLst>
              <a:gd name="adj" fmla="val 8491"/>
            </a:avLst>
          </a:prstGeom>
          <a:solidFill>
            <a:srgbClr val="F4F1FB"/>
          </a:solidFill>
          <a:ln w="12700">
            <a:solidFill>
              <a:srgbClr val="F4F1FB"/>
            </a:solidFill>
            <a:prstDash val="solid"/>
          </a:ln>
          <a:effectLst>
            <a:outerShdw sx="100000" sy="100000" kx="0" ky="0" algn="bl" rotWithShape="0" blurRad="101600" dist="25400" dir="5400000">
              <a:srgbClr val="B9B2CE">
                <a:alpha val="35000"/>
              </a:srgbClr>
            </a:outerShdw>
          </a:effectLst>
        </p:spPr>
      </p:sp>
      <p:sp>
        <p:nvSpPr>
          <p:cNvPr id="26" name="Text 24"/>
          <p:cNvSpPr txBox="1"/>
          <p:nvPr/>
        </p:nvSpPr>
        <p:spPr>
          <a:xfrm>
            <a:off x="4672584" y="4087368"/>
            <a:ext cx="3017520" cy="310896"/>
          </a:xfrm>
          <a:prstGeom prst="rect">
            <a:avLst/>
          </a:prstGeom>
          <a:noFill/>
          <a:ln/>
        </p:spPr>
        <p:txBody>
          <a:bodyPr wrap="square" lIns="0" tIns="0" rIns="0" bIns="0" rtlCol="0" anchor="ctr"/>
          <a:lstStyle/>
          <a:p>
            <a:pPr indent="0" marL="0">
              <a:buNone/>
            </a:pPr>
            <a:r>
              <a:rPr lang="en-US" sz="1400" b="1" dirty="0">
                <a:solidFill>
                  <a:srgbClr val="2A1B4D"/>
                </a:solidFill>
                <a:latin typeface="Calibri" pitchFamily="34" charset="0"/>
                <a:ea typeface="Calibri" pitchFamily="34" charset="-122"/>
                <a:cs typeface="Calibri" pitchFamily="34" charset="-120"/>
              </a:rPr>
              <a:t>Error Handling</a:t>
            </a:r>
            <a:endParaRPr lang="en-US" sz="1400" dirty="0"/>
          </a:p>
        </p:txBody>
      </p:sp>
      <p:sp>
        <p:nvSpPr>
          <p:cNvPr id="27" name="Text 25"/>
          <p:cNvSpPr txBox="1"/>
          <p:nvPr/>
        </p:nvSpPr>
        <p:spPr>
          <a:xfrm>
            <a:off x="4672584" y="4434840"/>
            <a:ext cx="3017520" cy="310896"/>
          </a:xfrm>
          <a:prstGeom prst="rect">
            <a:avLst/>
          </a:prstGeom>
          <a:noFill/>
          <a:ln/>
        </p:spPr>
        <p:txBody>
          <a:bodyPr wrap="square" lIns="0" tIns="0" rIns="0" bIns="0" rtlCol="0" anchor="ctr"/>
          <a:lstStyle/>
          <a:p>
            <a:pPr indent="0" marL="0">
              <a:buNone/>
            </a:pPr>
            <a:r>
              <a:rPr lang="en-US" sz="1100" dirty="0">
                <a:solidFill>
                  <a:srgbClr val="6B46C1"/>
                </a:solidFill>
                <a:latin typeface="Courier New" pitchFamily="34" charset="0"/>
                <a:ea typeface="Courier New" pitchFamily="34" charset="-122"/>
                <a:cs typeface="Courier New" pitchFamily="34" charset="-120"/>
              </a:rPr>
              <a:t>retry, validation, try/except</a:t>
            </a:r>
            <a:endParaRPr lang="en-US" sz="1100" dirty="0"/>
          </a:p>
        </p:txBody>
      </p:sp>
      <p:sp>
        <p:nvSpPr>
          <p:cNvPr id="28" name="Shape 26"/>
          <p:cNvSpPr/>
          <p:nvPr/>
        </p:nvSpPr>
        <p:spPr>
          <a:xfrm>
            <a:off x="8193024" y="3950208"/>
            <a:ext cx="3502152" cy="969264"/>
          </a:xfrm>
          <a:prstGeom prst="roundRect">
            <a:avLst>
              <a:gd name="adj" fmla="val 8491"/>
            </a:avLst>
          </a:prstGeom>
          <a:solidFill>
            <a:srgbClr val="F4F1FB"/>
          </a:solidFill>
          <a:ln w="12700">
            <a:solidFill>
              <a:srgbClr val="F4F1FB"/>
            </a:solidFill>
            <a:prstDash val="solid"/>
          </a:ln>
          <a:effectLst>
            <a:outerShdw sx="100000" sy="100000" kx="0" ky="0" algn="bl" rotWithShape="0" blurRad="101600" dist="25400" dir="5400000">
              <a:srgbClr val="B9B2CE">
                <a:alpha val="35000"/>
              </a:srgbClr>
            </a:outerShdw>
          </a:effectLst>
        </p:spPr>
      </p:sp>
      <p:sp>
        <p:nvSpPr>
          <p:cNvPr id="29" name="Text 27"/>
          <p:cNvSpPr txBox="1"/>
          <p:nvPr/>
        </p:nvSpPr>
        <p:spPr>
          <a:xfrm>
            <a:off x="8449056" y="4087368"/>
            <a:ext cx="3017520" cy="310896"/>
          </a:xfrm>
          <a:prstGeom prst="rect">
            <a:avLst/>
          </a:prstGeom>
          <a:noFill/>
          <a:ln/>
        </p:spPr>
        <p:txBody>
          <a:bodyPr wrap="square" lIns="0" tIns="0" rIns="0" bIns="0" rtlCol="0" anchor="ctr"/>
          <a:lstStyle/>
          <a:p>
            <a:pPr indent="0" marL="0">
              <a:buNone/>
            </a:pPr>
            <a:r>
              <a:rPr lang="en-US" sz="1400" b="1" dirty="0">
                <a:solidFill>
                  <a:srgbClr val="2A1B4D"/>
                </a:solidFill>
                <a:latin typeface="Calibri" pitchFamily="34" charset="0"/>
                <a:ea typeface="Calibri" pitchFamily="34" charset="-122"/>
                <a:cs typeface="Calibri" pitchFamily="34" charset="-120"/>
              </a:rPr>
              <a:t>Modular Code</a:t>
            </a:r>
            <a:endParaRPr lang="en-US" sz="1400" dirty="0"/>
          </a:p>
        </p:txBody>
      </p:sp>
      <p:sp>
        <p:nvSpPr>
          <p:cNvPr id="30" name="Text 28"/>
          <p:cNvSpPr txBox="1"/>
          <p:nvPr/>
        </p:nvSpPr>
        <p:spPr>
          <a:xfrm>
            <a:off x="8449056" y="4434840"/>
            <a:ext cx="3017520" cy="310896"/>
          </a:xfrm>
          <a:prstGeom prst="rect">
            <a:avLst/>
          </a:prstGeom>
          <a:noFill/>
          <a:ln/>
        </p:spPr>
        <p:txBody>
          <a:bodyPr wrap="square" lIns="0" tIns="0" rIns="0" bIns="0" rtlCol="0" anchor="ctr"/>
          <a:lstStyle/>
          <a:p>
            <a:pPr indent="0" marL="0">
              <a:buNone/>
            </a:pPr>
            <a:r>
              <a:rPr lang="en-US" sz="1100" dirty="0">
                <a:solidFill>
                  <a:srgbClr val="6B46C1"/>
                </a:solidFill>
                <a:latin typeface="Courier New" pitchFamily="34" charset="0"/>
                <a:ea typeface="Courier New" pitchFamily="34" charset="-122"/>
                <a:cs typeface="Courier New" pitchFamily="34" charset="-120"/>
              </a:rPr>
              <a:t>six single-purpose modules</a:t>
            </a:r>
            <a:endParaRPr lang="en-US" sz="1100" dirty="0"/>
          </a:p>
        </p:txBody>
      </p:sp>
      <p:sp>
        <p:nvSpPr>
          <p:cNvPr id="31" name="Shape 29"/>
          <p:cNvSpPr/>
          <p:nvPr/>
        </p:nvSpPr>
        <p:spPr>
          <a:xfrm>
            <a:off x="640080" y="5166360"/>
            <a:ext cx="3502152" cy="969264"/>
          </a:xfrm>
          <a:prstGeom prst="roundRect">
            <a:avLst>
              <a:gd name="adj" fmla="val 8491"/>
            </a:avLst>
          </a:prstGeom>
          <a:solidFill>
            <a:srgbClr val="F4F1FB"/>
          </a:solidFill>
          <a:ln w="12700">
            <a:solidFill>
              <a:srgbClr val="F4F1FB"/>
            </a:solidFill>
            <a:prstDash val="solid"/>
          </a:ln>
          <a:effectLst>
            <a:outerShdw sx="100000" sy="100000" kx="0" ky="0" algn="bl" rotWithShape="0" blurRad="101600" dist="25400" dir="5400000">
              <a:srgbClr val="B9B2CE">
                <a:alpha val="35000"/>
              </a:srgbClr>
            </a:outerShdw>
          </a:effectLst>
        </p:spPr>
      </p:sp>
      <p:sp>
        <p:nvSpPr>
          <p:cNvPr id="32" name="Text 30"/>
          <p:cNvSpPr txBox="1"/>
          <p:nvPr/>
        </p:nvSpPr>
        <p:spPr>
          <a:xfrm>
            <a:off x="896112" y="5303520"/>
            <a:ext cx="3017520" cy="310896"/>
          </a:xfrm>
          <a:prstGeom prst="rect">
            <a:avLst/>
          </a:prstGeom>
          <a:noFill/>
          <a:ln/>
        </p:spPr>
        <p:txBody>
          <a:bodyPr wrap="square" lIns="0" tIns="0" rIns="0" bIns="0" rtlCol="0" anchor="ctr"/>
          <a:lstStyle/>
          <a:p>
            <a:pPr indent="0" marL="0">
              <a:buNone/>
            </a:pPr>
            <a:r>
              <a:rPr lang="en-US" sz="1400" b="1" dirty="0">
                <a:solidFill>
                  <a:srgbClr val="2A1B4D"/>
                </a:solidFill>
                <a:latin typeface="Calibri" pitchFamily="34" charset="0"/>
                <a:ea typeface="Calibri" pitchFamily="34" charset="-122"/>
                <a:cs typeface="Calibri" pitchFamily="34" charset="-120"/>
              </a:rPr>
              <a:t>File Processing</a:t>
            </a:r>
            <a:endParaRPr lang="en-US" sz="1400" dirty="0"/>
          </a:p>
        </p:txBody>
      </p:sp>
      <p:sp>
        <p:nvSpPr>
          <p:cNvPr id="33" name="Text 31"/>
          <p:cNvSpPr txBox="1"/>
          <p:nvPr/>
        </p:nvSpPr>
        <p:spPr>
          <a:xfrm>
            <a:off x="896112" y="5650992"/>
            <a:ext cx="3017520" cy="310896"/>
          </a:xfrm>
          <a:prstGeom prst="rect">
            <a:avLst/>
          </a:prstGeom>
          <a:noFill/>
          <a:ln/>
        </p:spPr>
        <p:txBody>
          <a:bodyPr wrap="square" lIns="0" tIns="0" rIns="0" bIns="0" rtlCol="0" anchor="ctr"/>
          <a:lstStyle/>
          <a:p>
            <a:pPr indent="0" marL="0">
              <a:buNone/>
            </a:pPr>
            <a:r>
              <a:rPr lang="en-US" sz="1100" dirty="0">
                <a:solidFill>
                  <a:srgbClr val="6B46C1"/>
                </a:solidFill>
                <a:latin typeface="Courier New" pitchFamily="34" charset="0"/>
                <a:ea typeface="Courier New" pitchFamily="34" charset="-122"/>
                <a:cs typeface="Courier New" pitchFamily="34" charset="-120"/>
              </a:rPr>
              <a:t>document_reader.py</a:t>
            </a:r>
            <a:endParaRPr lang="en-US" sz="1100" dirty="0"/>
          </a:p>
        </p:txBody>
      </p:sp>
      <p:sp>
        <p:nvSpPr>
          <p:cNvPr id="34" name="Shape 32"/>
          <p:cNvSpPr/>
          <p:nvPr/>
        </p:nvSpPr>
        <p:spPr>
          <a:xfrm>
            <a:off x="4416552" y="5166360"/>
            <a:ext cx="3502152" cy="969264"/>
          </a:xfrm>
          <a:prstGeom prst="roundRect">
            <a:avLst>
              <a:gd name="adj" fmla="val 8491"/>
            </a:avLst>
          </a:prstGeom>
          <a:solidFill>
            <a:srgbClr val="F4F1FB"/>
          </a:solidFill>
          <a:ln w="12700">
            <a:solidFill>
              <a:srgbClr val="F4F1FB"/>
            </a:solidFill>
            <a:prstDash val="solid"/>
          </a:ln>
          <a:effectLst>
            <a:outerShdw sx="100000" sy="100000" kx="0" ky="0" algn="bl" rotWithShape="0" blurRad="101600" dist="25400" dir="5400000">
              <a:srgbClr val="B9B2CE">
                <a:alpha val="35000"/>
              </a:srgbClr>
            </a:outerShdw>
          </a:effectLst>
        </p:spPr>
      </p:sp>
      <p:sp>
        <p:nvSpPr>
          <p:cNvPr id="35" name="Text 33"/>
          <p:cNvSpPr txBox="1"/>
          <p:nvPr/>
        </p:nvSpPr>
        <p:spPr>
          <a:xfrm>
            <a:off x="4672584" y="5303520"/>
            <a:ext cx="3017520" cy="310896"/>
          </a:xfrm>
          <a:prstGeom prst="rect">
            <a:avLst/>
          </a:prstGeom>
          <a:noFill/>
          <a:ln/>
        </p:spPr>
        <p:txBody>
          <a:bodyPr wrap="square" lIns="0" tIns="0" rIns="0" bIns="0" rtlCol="0" anchor="ctr"/>
          <a:lstStyle/>
          <a:p>
            <a:pPr indent="0" marL="0">
              <a:buNone/>
            </a:pPr>
            <a:r>
              <a:rPr lang="en-US" sz="1400" b="1" dirty="0">
                <a:solidFill>
                  <a:srgbClr val="2A1B4D"/>
                </a:solidFill>
                <a:latin typeface="Calibri" pitchFamily="34" charset="0"/>
                <a:ea typeface="Calibri" pitchFamily="34" charset="-122"/>
                <a:cs typeface="Calibri" pitchFamily="34" charset="-120"/>
              </a:rPr>
              <a:t>Git / GitHub</a:t>
            </a:r>
            <a:endParaRPr lang="en-US" sz="1400" dirty="0"/>
          </a:p>
        </p:txBody>
      </p:sp>
      <p:sp>
        <p:nvSpPr>
          <p:cNvPr id="36" name="Text 34"/>
          <p:cNvSpPr txBox="1"/>
          <p:nvPr/>
        </p:nvSpPr>
        <p:spPr>
          <a:xfrm>
            <a:off x="4672584" y="5650992"/>
            <a:ext cx="3017520" cy="310896"/>
          </a:xfrm>
          <a:prstGeom prst="rect">
            <a:avLst/>
          </a:prstGeom>
          <a:noFill/>
          <a:ln/>
        </p:spPr>
        <p:txBody>
          <a:bodyPr wrap="square" lIns="0" tIns="0" rIns="0" bIns="0" rtlCol="0" anchor="ctr"/>
          <a:lstStyle/>
          <a:p>
            <a:pPr indent="0" marL="0">
              <a:buNone/>
            </a:pPr>
            <a:r>
              <a:rPr lang="en-US" sz="1100" dirty="0">
                <a:solidFill>
                  <a:srgbClr val="6B46C1"/>
                </a:solidFill>
                <a:latin typeface="Courier New" pitchFamily="34" charset="0"/>
                <a:ea typeface="Courier New" pitchFamily="34" charset="-122"/>
                <a:cs typeface="Courier New" pitchFamily="34" charset="-120"/>
              </a:rPr>
              <a:t>.gitignore + Actions</a:t>
            </a:r>
            <a:endParaRPr lang="en-US" sz="1100" dirty="0"/>
          </a:p>
        </p:txBody>
      </p:sp>
      <p:sp>
        <p:nvSpPr>
          <p:cNvPr id="37" name="Shape 35"/>
          <p:cNvSpPr/>
          <p:nvPr/>
        </p:nvSpPr>
        <p:spPr>
          <a:xfrm>
            <a:off x="8193024" y="5166360"/>
            <a:ext cx="3502152" cy="969264"/>
          </a:xfrm>
          <a:prstGeom prst="roundRect">
            <a:avLst>
              <a:gd name="adj" fmla="val 8491"/>
            </a:avLst>
          </a:prstGeom>
          <a:solidFill>
            <a:srgbClr val="F4F1FB"/>
          </a:solidFill>
          <a:ln w="12700">
            <a:solidFill>
              <a:srgbClr val="F4F1FB"/>
            </a:solidFill>
            <a:prstDash val="solid"/>
          </a:ln>
          <a:effectLst>
            <a:outerShdw sx="100000" sy="100000" kx="0" ky="0" algn="bl" rotWithShape="0" blurRad="101600" dist="25400" dir="5400000">
              <a:srgbClr val="B9B2CE">
                <a:alpha val="35000"/>
              </a:srgbClr>
            </a:outerShdw>
          </a:effectLst>
        </p:spPr>
      </p:sp>
      <p:sp>
        <p:nvSpPr>
          <p:cNvPr id="38" name="Text 36"/>
          <p:cNvSpPr txBox="1"/>
          <p:nvPr/>
        </p:nvSpPr>
        <p:spPr>
          <a:xfrm>
            <a:off x="8449056" y="5303520"/>
            <a:ext cx="3017520" cy="310896"/>
          </a:xfrm>
          <a:prstGeom prst="rect">
            <a:avLst/>
          </a:prstGeom>
          <a:noFill/>
          <a:ln/>
        </p:spPr>
        <p:txBody>
          <a:bodyPr wrap="square" lIns="0" tIns="0" rIns="0" bIns="0" rtlCol="0" anchor="ctr"/>
          <a:lstStyle/>
          <a:p>
            <a:pPr indent="0" marL="0">
              <a:buNone/>
            </a:pPr>
            <a:r>
              <a:rPr lang="en-US" sz="1400" b="1" dirty="0">
                <a:solidFill>
                  <a:srgbClr val="2A1B4D"/>
                </a:solidFill>
                <a:latin typeface="Calibri" pitchFamily="34" charset="0"/>
                <a:ea typeface="Calibri" pitchFamily="34" charset="-122"/>
                <a:cs typeface="Calibri" pitchFamily="34" charset="-120"/>
              </a:rPr>
              <a:t>Basic Logging</a:t>
            </a:r>
            <a:endParaRPr lang="en-US" sz="1400" dirty="0"/>
          </a:p>
        </p:txBody>
      </p:sp>
      <p:sp>
        <p:nvSpPr>
          <p:cNvPr id="39" name="Text 37"/>
          <p:cNvSpPr txBox="1"/>
          <p:nvPr/>
        </p:nvSpPr>
        <p:spPr>
          <a:xfrm>
            <a:off x="8449056" y="5650992"/>
            <a:ext cx="3017520" cy="310896"/>
          </a:xfrm>
          <a:prstGeom prst="rect">
            <a:avLst/>
          </a:prstGeom>
          <a:noFill/>
          <a:ln/>
        </p:spPr>
        <p:txBody>
          <a:bodyPr wrap="square" lIns="0" tIns="0" rIns="0" bIns="0" rtlCol="0" anchor="ctr"/>
          <a:lstStyle/>
          <a:p>
            <a:pPr indent="0" marL="0">
              <a:buNone/>
            </a:pPr>
            <a:r>
              <a:rPr lang="en-US" sz="1100" dirty="0">
                <a:solidFill>
                  <a:srgbClr val="6B46C1"/>
                </a:solidFill>
                <a:latin typeface="Courier New" pitchFamily="34" charset="0"/>
                <a:ea typeface="Courier New" pitchFamily="34" charset="-122"/>
                <a:cs typeface="Courier New" pitchFamily="34" charset="-120"/>
              </a:rPr>
              <a:t>screen + output/run.log</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56032"/>
          </a:xfrm>
          <a:prstGeom prst="rect">
            <a:avLst/>
          </a:prstGeom>
          <a:noFill/>
          <a:ln/>
        </p:spPr>
        <p:txBody>
          <a:bodyPr wrap="square" lIns="0" tIns="0" rIns="0" bIns="0" rtlCol="0" anchor="ctr"/>
          <a:lstStyle/>
          <a:p>
            <a:pPr indent="0" marL="0">
              <a:buNone/>
            </a:pPr>
            <a:r>
              <a:rPr lang="en-US" sz="1100" b="1" spc="200" kern="0" dirty="0">
                <a:solidFill>
                  <a:srgbClr val="6B46C1"/>
                </a:solidFill>
                <a:latin typeface="Calibri" pitchFamily="34" charset="0"/>
                <a:ea typeface="Calibri" pitchFamily="34" charset="-122"/>
                <a:cs typeface="Calibri" pitchFamily="34" charset="-120"/>
              </a:rPr>
              <a:t>HONEST ASSESSMENT</a:t>
            </a:r>
            <a:endParaRPr lang="en-US" sz="1100" dirty="0"/>
          </a:p>
        </p:txBody>
      </p:sp>
      <p:sp>
        <p:nvSpPr>
          <p:cNvPr id="3" name="Text 1"/>
          <p:cNvSpPr txBox="1"/>
          <p:nvPr/>
        </p:nvSpPr>
        <p:spPr>
          <a:xfrm>
            <a:off x="640080" y="658368"/>
            <a:ext cx="10881360" cy="685800"/>
          </a:xfrm>
          <a:prstGeom prst="rect">
            <a:avLst/>
          </a:prstGeom>
          <a:noFill/>
          <a:ln/>
        </p:spPr>
        <p:txBody>
          <a:bodyPr wrap="square" lIns="0" tIns="0" rIns="0" bIns="0" rtlCol="0" anchor="ctr"/>
          <a:lstStyle/>
          <a:p>
            <a:pPr indent="0" marL="0">
              <a:buNone/>
            </a:pPr>
            <a:r>
              <a:rPr lang="en-US" sz="3200" b="1" dirty="0">
                <a:solidFill>
                  <a:srgbClr val="2A1B4D"/>
                </a:solidFill>
                <a:latin typeface="Cambria" pitchFamily="34" charset="0"/>
                <a:ea typeface="Cambria" pitchFamily="34" charset="-122"/>
                <a:cs typeface="Cambria" pitchFamily="34" charset="-120"/>
              </a:rPr>
              <a:t>What it does not do yet, and what comes next</a:t>
            </a:r>
            <a:endParaRPr lang="en-US" sz="3200" dirty="0"/>
          </a:p>
        </p:txBody>
      </p:sp>
      <p:sp>
        <p:nvSpPr>
          <p:cNvPr id="4" name="Shape 2"/>
          <p:cNvSpPr/>
          <p:nvPr/>
        </p:nvSpPr>
        <p:spPr>
          <a:xfrm>
            <a:off x="640080" y="1554480"/>
            <a:ext cx="5349240" cy="3566160"/>
          </a:xfrm>
          <a:prstGeom prst="roundRect">
            <a:avLst>
              <a:gd name="adj" fmla="val 2308"/>
            </a:avLst>
          </a:prstGeom>
          <a:solidFill>
            <a:srgbClr val="F4F1FB"/>
          </a:solidFill>
          <a:ln w="12700">
            <a:solidFill>
              <a:srgbClr val="F4F1FB"/>
            </a:solidFill>
            <a:prstDash val="solid"/>
          </a:ln>
          <a:effectLst>
            <a:outerShdw sx="100000" sy="100000" kx="0" ky="0" algn="bl" rotWithShape="0" blurRad="101600" dist="25400" dir="5400000">
              <a:srgbClr val="B9B2CE">
                <a:alpha val="35000"/>
              </a:srgbClr>
            </a:outerShdw>
          </a:effectLst>
        </p:spPr>
      </p:sp>
      <p:sp>
        <p:nvSpPr>
          <p:cNvPr id="5" name="Text 3"/>
          <p:cNvSpPr txBox="1"/>
          <p:nvPr/>
        </p:nvSpPr>
        <p:spPr>
          <a:xfrm>
            <a:off x="914400" y="1810512"/>
            <a:ext cx="4800600" cy="320040"/>
          </a:xfrm>
          <a:prstGeom prst="rect">
            <a:avLst/>
          </a:prstGeom>
          <a:noFill/>
          <a:ln/>
        </p:spPr>
        <p:txBody>
          <a:bodyPr wrap="square" lIns="0" tIns="0" rIns="0" bIns="0" rtlCol="0" anchor="ctr"/>
          <a:lstStyle/>
          <a:p>
            <a:pPr indent="0" marL="0">
              <a:buNone/>
            </a:pPr>
            <a:r>
              <a:rPr lang="en-US" sz="1700" b="1" dirty="0">
                <a:solidFill>
                  <a:srgbClr val="C53030"/>
                </a:solidFill>
                <a:latin typeface="Calibri" pitchFamily="34" charset="0"/>
                <a:ea typeface="Calibri" pitchFamily="34" charset="-122"/>
                <a:cs typeface="Calibri" pitchFamily="34" charset="-120"/>
              </a:rPr>
              <a:t>Current limitations</a:t>
            </a:r>
            <a:endParaRPr lang="en-US" sz="1700" dirty="0"/>
          </a:p>
        </p:txBody>
      </p:sp>
      <p:sp>
        <p:nvSpPr>
          <p:cNvPr id="6" name="Text 4"/>
          <p:cNvSpPr txBox="1"/>
          <p:nvPr/>
        </p:nvSpPr>
        <p:spPr>
          <a:xfrm>
            <a:off x="914400" y="2240280"/>
            <a:ext cx="4800600" cy="3291840"/>
          </a:xfrm>
          <a:prstGeom prst="rect">
            <a:avLst/>
          </a:prstGeom>
          <a:noFill/>
          <a:ln/>
        </p:spPr>
        <p:txBody>
          <a:bodyPr wrap="square" lIns="0" tIns="0" rIns="0" bIns="0" rtlCol="0" anchor="t"/>
          <a:lstStyle/>
          <a:p>
            <a:pPr marL="342900" indent="-342900">
              <a:lnSpc>
                <a:spcPts val="1800"/>
              </a:lnSpc>
              <a:spcAft>
                <a:spcPts val="1100"/>
              </a:spcAft>
              <a:buSzPct val="100000"/>
              <a:buChar char="•"/>
            </a:pPr>
            <a:r>
              <a:rPr lang="en-US" sz="1300" dirty="0">
                <a:solidFill>
                  <a:srgbClr val="241F31"/>
                </a:solidFill>
                <a:latin typeface="Calibri" pitchFamily="34" charset="0"/>
                <a:ea typeface="Calibri" pitchFamily="34" charset="-122"/>
                <a:cs typeface="Calibri" pitchFamily="34" charset="-120"/>
              </a:rPr>
              <a:t>Scanned PDFs have no text layer — they are correctly rejected, not silently misread.</a:t>
            </a:r>
            <a:endParaRPr lang="en-US" sz="1300" dirty="0"/>
          </a:p>
          <a:p>
            <a:pPr marL="342900" indent="-342900">
              <a:lnSpc>
                <a:spcPts val="1800"/>
              </a:lnSpc>
              <a:spcAft>
                <a:spcPts val="1100"/>
              </a:spcAft>
              <a:buSzPct val="100000"/>
              <a:buChar char="•"/>
            </a:pPr>
            <a:r>
              <a:rPr lang="en-US" sz="1300" dirty="0">
                <a:solidFill>
                  <a:srgbClr val="241F31"/>
                </a:solidFill>
                <a:latin typeface="Calibri" pitchFamily="34" charset="0"/>
                <a:ea typeface="Calibri" pitchFamily="34" charset="-122"/>
                <a:cs typeface="Calibri" pitchFamily="34" charset="-120"/>
              </a:rPr>
              <a:t>Documents are processed one at a time; the parallelism is within a document, not across them.</a:t>
            </a:r>
            <a:endParaRPr lang="en-US" sz="1300" dirty="0"/>
          </a:p>
          <a:p>
            <a:pPr marL="342900" indent="-342900">
              <a:lnSpc>
                <a:spcPts val="1800"/>
              </a:lnSpc>
              <a:spcAft>
                <a:spcPts val="1100"/>
              </a:spcAft>
              <a:buSzPct val="100000"/>
              <a:buChar char="•"/>
            </a:pPr>
            <a:r>
              <a:rPr lang="en-US" sz="1300" dirty="0">
                <a:solidFill>
                  <a:srgbClr val="241F31"/>
                </a:solidFill>
                <a:latin typeface="Calibri" pitchFamily="34" charset="0"/>
                <a:ea typeface="Calibri" pitchFamily="34" charset="-122"/>
                <a:cs typeface="Calibri" pitchFamily="34" charset="-120"/>
              </a:rPr>
              <a:t>No human review step — emails are written to disk, not sent.</a:t>
            </a:r>
            <a:endParaRPr lang="en-US" sz="1300" dirty="0"/>
          </a:p>
          <a:p>
            <a:pPr marL="342900" indent="-342900">
              <a:lnSpc>
                <a:spcPts val="1800"/>
              </a:lnSpc>
              <a:spcAft>
                <a:spcPts val="1100"/>
              </a:spcAft>
              <a:buSzPct val="100000"/>
              <a:buChar char="•"/>
            </a:pPr>
            <a:r>
              <a:rPr lang="en-US" sz="1300" dirty="0">
                <a:solidFill>
                  <a:srgbClr val="241F31"/>
                </a:solidFill>
                <a:latin typeface="Calibri" pitchFamily="34" charset="0"/>
                <a:ea typeface="Calibri" pitchFamily="34" charset="-122"/>
                <a:cs typeface="Calibri" pitchFamily="34" charset="-120"/>
              </a:rPr>
              <a:t>No confidence threshold at which the system would ask for human input.</a:t>
            </a:r>
            <a:endParaRPr lang="en-US" sz="1300" dirty="0"/>
          </a:p>
          <a:p>
            <a:pPr marL="342900" indent="-342900">
              <a:lnSpc>
                <a:spcPts val="1800"/>
              </a:lnSpc>
              <a:spcAft>
                <a:spcPts val="1100"/>
              </a:spcAft>
              <a:buSzPct val="100000"/>
              <a:buChar char="•"/>
            </a:pPr>
            <a:r>
              <a:rPr lang="en-US" sz="1300" dirty="0">
                <a:solidFill>
                  <a:srgbClr val="241F31"/>
                </a:solidFill>
                <a:latin typeface="Calibri" pitchFamily="34" charset="0"/>
                <a:ea typeface="Calibri" pitchFamily="34" charset="-122"/>
                <a:cs typeface="Calibri" pitchFamily="34" charset="-120"/>
              </a:rPr>
              <a:t>English only; other languages are untested.</a:t>
            </a:r>
            <a:endParaRPr lang="en-US" sz="1300" dirty="0"/>
          </a:p>
        </p:txBody>
      </p:sp>
      <p:sp>
        <p:nvSpPr>
          <p:cNvPr id="7" name="Text 5"/>
          <p:cNvSpPr txBox="1"/>
          <p:nvPr/>
        </p:nvSpPr>
        <p:spPr>
          <a:xfrm>
            <a:off x="6309360" y="1810512"/>
            <a:ext cx="5212080" cy="320040"/>
          </a:xfrm>
          <a:prstGeom prst="rect">
            <a:avLst/>
          </a:prstGeom>
          <a:noFill/>
          <a:ln/>
        </p:spPr>
        <p:txBody>
          <a:bodyPr wrap="square" lIns="0" tIns="0" rIns="0" bIns="0" rtlCol="0" anchor="ctr"/>
          <a:lstStyle/>
          <a:p>
            <a:pPr indent="0" marL="0">
              <a:buNone/>
            </a:pPr>
            <a:r>
              <a:rPr lang="en-US" sz="1700" b="1" dirty="0">
                <a:solidFill>
                  <a:srgbClr val="2F855A"/>
                </a:solidFill>
                <a:latin typeface="Calibri" pitchFamily="34" charset="0"/>
                <a:ea typeface="Calibri" pitchFamily="34" charset="-122"/>
                <a:cs typeface="Calibri" pitchFamily="34" charset="-120"/>
              </a:rPr>
              <a:t>Next steps</a:t>
            </a:r>
            <a:endParaRPr lang="en-US" sz="1700" dirty="0"/>
          </a:p>
        </p:txBody>
      </p:sp>
      <p:sp>
        <p:nvSpPr>
          <p:cNvPr id="8" name="Shape 6"/>
          <p:cNvSpPr/>
          <p:nvPr/>
        </p:nvSpPr>
        <p:spPr>
          <a:xfrm>
            <a:off x="6309360" y="2240280"/>
            <a:ext cx="420624" cy="420624"/>
          </a:xfrm>
          <a:prstGeom prst="ellipse">
            <a:avLst/>
          </a:prstGeom>
          <a:solidFill>
            <a:srgbClr val="2F855A"/>
          </a:solidFill>
          <a:ln/>
        </p:spPr>
      </p:sp>
      <p:sp>
        <p:nvSpPr>
          <p:cNvPr id="9" name="Text 7"/>
          <p:cNvSpPr txBox="1"/>
          <p:nvPr/>
        </p:nvSpPr>
        <p:spPr>
          <a:xfrm>
            <a:off x="6309360" y="224028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10" name="Text 8"/>
          <p:cNvSpPr txBox="1"/>
          <p:nvPr/>
        </p:nvSpPr>
        <p:spPr>
          <a:xfrm>
            <a:off x="6903720" y="2212848"/>
            <a:ext cx="4617720" cy="292608"/>
          </a:xfrm>
          <a:prstGeom prst="rect">
            <a:avLst/>
          </a:prstGeom>
          <a:noFill/>
          <a:ln/>
        </p:spPr>
        <p:txBody>
          <a:bodyPr wrap="square" lIns="0" tIns="0" rIns="0" bIns="0" rtlCol="0" anchor="ctr"/>
          <a:lstStyle/>
          <a:p>
            <a:pPr indent="0" marL="0">
              <a:buNone/>
            </a:pPr>
            <a:r>
              <a:rPr lang="en-US" sz="1600" b="1" dirty="0">
                <a:solidFill>
                  <a:srgbClr val="241F31"/>
                </a:solidFill>
                <a:latin typeface="Calibri" pitchFamily="34" charset="0"/>
                <a:ea typeface="Calibri" pitchFamily="34" charset="-122"/>
                <a:cs typeface="Calibri" pitchFamily="34" charset="-120"/>
              </a:rPr>
              <a:t>OCR</a:t>
            </a:r>
            <a:endParaRPr lang="en-US" sz="1600" dirty="0"/>
          </a:p>
        </p:txBody>
      </p:sp>
      <p:sp>
        <p:nvSpPr>
          <p:cNvPr id="11" name="Text 9"/>
          <p:cNvSpPr txBox="1"/>
          <p:nvPr/>
        </p:nvSpPr>
        <p:spPr>
          <a:xfrm>
            <a:off x="6903720" y="2514600"/>
            <a:ext cx="4617720" cy="713232"/>
          </a:xfrm>
          <a:prstGeom prst="rect">
            <a:avLst/>
          </a:prstGeom>
          <a:noFill/>
          <a:ln/>
        </p:spPr>
        <p:txBody>
          <a:bodyPr wrap="square" lIns="0" tIns="0" rIns="0" bIns="0" rtlCol="0" anchor="t"/>
          <a:lstStyle/>
          <a:p>
            <a:pPr indent="0" marL="0">
              <a:lnSpc>
                <a:spcPts val="1700"/>
              </a:lnSpc>
              <a:buNone/>
            </a:pPr>
            <a:r>
              <a:rPr lang="en-US" sz="1300" dirty="0">
                <a:solidFill>
                  <a:srgbClr val="5B5670"/>
                </a:solidFill>
                <a:latin typeface="Calibri" pitchFamily="34" charset="0"/>
                <a:ea typeface="Calibri" pitchFamily="34" charset="-122"/>
                <a:cs typeface="Calibri" pitchFamily="34" charset="-120"/>
              </a:rPr>
              <a:t>Add Tesseract so scanned complaint documents can be processed too.</a:t>
            </a:r>
            <a:endParaRPr lang="en-US" sz="1300" dirty="0"/>
          </a:p>
        </p:txBody>
      </p:sp>
      <p:sp>
        <p:nvSpPr>
          <p:cNvPr id="12" name="Shape 10"/>
          <p:cNvSpPr/>
          <p:nvPr/>
        </p:nvSpPr>
        <p:spPr>
          <a:xfrm>
            <a:off x="6309360" y="3291840"/>
            <a:ext cx="420624" cy="420624"/>
          </a:xfrm>
          <a:prstGeom prst="ellipse">
            <a:avLst/>
          </a:prstGeom>
          <a:solidFill>
            <a:srgbClr val="2F855A"/>
          </a:solidFill>
          <a:ln/>
        </p:spPr>
      </p:sp>
      <p:sp>
        <p:nvSpPr>
          <p:cNvPr id="13" name="Text 11"/>
          <p:cNvSpPr txBox="1"/>
          <p:nvPr/>
        </p:nvSpPr>
        <p:spPr>
          <a:xfrm>
            <a:off x="6309360" y="329184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4" name="Text 12"/>
          <p:cNvSpPr txBox="1"/>
          <p:nvPr/>
        </p:nvSpPr>
        <p:spPr>
          <a:xfrm>
            <a:off x="6903720" y="3264408"/>
            <a:ext cx="4617720" cy="292608"/>
          </a:xfrm>
          <a:prstGeom prst="rect">
            <a:avLst/>
          </a:prstGeom>
          <a:noFill/>
          <a:ln/>
        </p:spPr>
        <p:txBody>
          <a:bodyPr wrap="square" lIns="0" tIns="0" rIns="0" bIns="0" rtlCol="0" anchor="ctr"/>
          <a:lstStyle/>
          <a:p>
            <a:pPr indent="0" marL="0">
              <a:buNone/>
            </a:pPr>
            <a:r>
              <a:rPr lang="en-US" sz="1600" b="1" dirty="0">
                <a:solidFill>
                  <a:srgbClr val="241F31"/>
                </a:solidFill>
                <a:latin typeface="Calibri" pitchFamily="34" charset="0"/>
                <a:ea typeface="Calibri" pitchFamily="34" charset="-122"/>
                <a:cs typeface="Calibri" pitchFamily="34" charset="-120"/>
              </a:rPr>
              <a:t>Concurrency across documents</a:t>
            </a:r>
            <a:endParaRPr lang="en-US" sz="1600" dirty="0"/>
          </a:p>
        </p:txBody>
      </p:sp>
      <p:sp>
        <p:nvSpPr>
          <p:cNvPr id="15" name="Text 13"/>
          <p:cNvSpPr txBox="1"/>
          <p:nvPr/>
        </p:nvSpPr>
        <p:spPr>
          <a:xfrm>
            <a:off x="6903720" y="3566160"/>
            <a:ext cx="4617720" cy="713232"/>
          </a:xfrm>
          <a:prstGeom prst="rect">
            <a:avLst/>
          </a:prstGeom>
          <a:noFill/>
          <a:ln/>
        </p:spPr>
        <p:txBody>
          <a:bodyPr wrap="square" lIns="0" tIns="0" rIns="0" bIns="0" rtlCol="0" anchor="t"/>
          <a:lstStyle/>
          <a:p>
            <a:pPr indent="0" marL="0">
              <a:lnSpc>
                <a:spcPts val="1700"/>
              </a:lnSpc>
              <a:buNone/>
            </a:pPr>
            <a:r>
              <a:rPr lang="en-US" sz="1300" dirty="0">
                <a:solidFill>
                  <a:srgbClr val="5B5670"/>
                </a:solidFill>
                <a:latin typeface="Calibri" pitchFamily="34" charset="0"/>
                <a:ea typeface="Calibri" pitchFamily="34" charset="-122"/>
                <a:cs typeface="Calibri" pitchFamily="34" charset="-120"/>
              </a:rPr>
              <a:t>A thread pool — the program spends nearly all its time waiting on the API.</a:t>
            </a:r>
            <a:endParaRPr lang="en-US" sz="1300" dirty="0"/>
          </a:p>
        </p:txBody>
      </p:sp>
      <p:sp>
        <p:nvSpPr>
          <p:cNvPr id="16" name="Shape 14"/>
          <p:cNvSpPr/>
          <p:nvPr/>
        </p:nvSpPr>
        <p:spPr>
          <a:xfrm>
            <a:off x="6309360" y="4343400"/>
            <a:ext cx="420624" cy="420624"/>
          </a:xfrm>
          <a:prstGeom prst="ellipse">
            <a:avLst/>
          </a:prstGeom>
          <a:solidFill>
            <a:srgbClr val="2F855A"/>
          </a:solidFill>
          <a:ln/>
        </p:spPr>
      </p:sp>
      <p:sp>
        <p:nvSpPr>
          <p:cNvPr id="17" name="Text 15"/>
          <p:cNvSpPr txBox="1"/>
          <p:nvPr/>
        </p:nvSpPr>
        <p:spPr>
          <a:xfrm>
            <a:off x="6309360" y="43434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8" name="Text 16"/>
          <p:cNvSpPr txBox="1"/>
          <p:nvPr/>
        </p:nvSpPr>
        <p:spPr>
          <a:xfrm>
            <a:off x="6903720" y="4315968"/>
            <a:ext cx="4617720" cy="292608"/>
          </a:xfrm>
          <a:prstGeom prst="rect">
            <a:avLst/>
          </a:prstGeom>
          <a:noFill/>
          <a:ln/>
        </p:spPr>
        <p:txBody>
          <a:bodyPr wrap="square" lIns="0" tIns="0" rIns="0" bIns="0" rtlCol="0" anchor="ctr"/>
          <a:lstStyle/>
          <a:p>
            <a:pPr indent="0" marL="0">
              <a:buNone/>
            </a:pPr>
            <a:r>
              <a:rPr lang="en-US" sz="1600" b="1" dirty="0">
                <a:solidFill>
                  <a:srgbClr val="241F31"/>
                </a:solidFill>
                <a:latin typeface="Calibri" pitchFamily="34" charset="0"/>
                <a:ea typeface="Calibri" pitchFamily="34" charset="-122"/>
                <a:cs typeface="Calibri" pitchFamily="34" charset="-120"/>
              </a:rPr>
              <a:t>Automatic routing</a:t>
            </a:r>
            <a:endParaRPr lang="en-US" sz="1600" dirty="0"/>
          </a:p>
        </p:txBody>
      </p:sp>
      <p:sp>
        <p:nvSpPr>
          <p:cNvPr id="19" name="Text 17"/>
          <p:cNvSpPr txBox="1"/>
          <p:nvPr/>
        </p:nvSpPr>
        <p:spPr>
          <a:xfrm>
            <a:off x="6903720" y="4617720"/>
            <a:ext cx="4617720" cy="713232"/>
          </a:xfrm>
          <a:prstGeom prst="rect">
            <a:avLst/>
          </a:prstGeom>
          <a:noFill/>
          <a:ln/>
        </p:spPr>
        <p:txBody>
          <a:bodyPr wrap="square" lIns="0" tIns="0" rIns="0" bIns="0" rtlCol="0" anchor="t"/>
          <a:lstStyle/>
          <a:p>
            <a:pPr indent="0" marL="0">
              <a:lnSpc>
                <a:spcPts val="1700"/>
              </a:lnSpc>
              <a:buNone/>
            </a:pPr>
            <a:r>
              <a:rPr lang="en-US" sz="1300" dirty="0">
                <a:solidFill>
                  <a:srgbClr val="5B5670"/>
                </a:solidFill>
                <a:latin typeface="Calibri" pitchFamily="34" charset="0"/>
                <a:ea typeface="Calibri" pitchFamily="34" charset="-122"/>
                <a:cs typeface="Calibri" pitchFamily="34" charset="-120"/>
              </a:rPr>
              <a:t>Send escalated cases to the responsible team using category and priority.</a:t>
            </a:r>
            <a:endParaRPr lang="en-US" sz="1300" dirty="0"/>
          </a:p>
        </p:txBody>
      </p:sp>
      <p:sp>
        <p:nvSpPr>
          <p:cNvPr id="20" name="Shape 18"/>
          <p:cNvSpPr/>
          <p:nvPr/>
        </p:nvSpPr>
        <p:spPr>
          <a:xfrm>
            <a:off x="6309360" y="5394960"/>
            <a:ext cx="420624" cy="420624"/>
          </a:xfrm>
          <a:prstGeom prst="ellipse">
            <a:avLst/>
          </a:prstGeom>
          <a:solidFill>
            <a:srgbClr val="2F855A"/>
          </a:solidFill>
          <a:ln/>
        </p:spPr>
      </p:sp>
      <p:sp>
        <p:nvSpPr>
          <p:cNvPr id="21" name="Text 19"/>
          <p:cNvSpPr txBox="1"/>
          <p:nvPr/>
        </p:nvSpPr>
        <p:spPr>
          <a:xfrm>
            <a:off x="6309360" y="539496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22" name="Text 20"/>
          <p:cNvSpPr txBox="1"/>
          <p:nvPr/>
        </p:nvSpPr>
        <p:spPr>
          <a:xfrm>
            <a:off x="6903720" y="5367528"/>
            <a:ext cx="4617720" cy="292608"/>
          </a:xfrm>
          <a:prstGeom prst="rect">
            <a:avLst/>
          </a:prstGeom>
          <a:noFill/>
          <a:ln/>
        </p:spPr>
        <p:txBody>
          <a:bodyPr wrap="square" lIns="0" tIns="0" rIns="0" bIns="0" rtlCol="0" anchor="ctr"/>
          <a:lstStyle/>
          <a:p>
            <a:pPr indent="0" marL="0">
              <a:buNone/>
            </a:pPr>
            <a:r>
              <a:rPr lang="en-US" sz="1600" b="1" dirty="0">
                <a:solidFill>
                  <a:srgbClr val="241F31"/>
                </a:solidFill>
                <a:latin typeface="Calibri" pitchFamily="34" charset="0"/>
                <a:ea typeface="Calibri" pitchFamily="34" charset="-122"/>
                <a:cs typeface="Calibri" pitchFamily="34" charset="-120"/>
              </a:rPr>
              <a:t>Policy retrieval (RAG)</a:t>
            </a:r>
            <a:endParaRPr lang="en-US" sz="1600" dirty="0"/>
          </a:p>
        </p:txBody>
      </p:sp>
      <p:sp>
        <p:nvSpPr>
          <p:cNvPr id="23" name="Text 21"/>
          <p:cNvSpPr txBox="1"/>
          <p:nvPr/>
        </p:nvSpPr>
        <p:spPr>
          <a:xfrm>
            <a:off x="6903720" y="5669280"/>
            <a:ext cx="4617720" cy="713232"/>
          </a:xfrm>
          <a:prstGeom prst="rect">
            <a:avLst/>
          </a:prstGeom>
          <a:noFill/>
          <a:ln/>
        </p:spPr>
        <p:txBody>
          <a:bodyPr wrap="square" lIns="0" tIns="0" rIns="0" bIns="0" rtlCol="0" anchor="t"/>
          <a:lstStyle/>
          <a:p>
            <a:pPr indent="0" marL="0">
              <a:lnSpc>
                <a:spcPts val="1700"/>
              </a:lnSpc>
              <a:buNone/>
            </a:pPr>
            <a:r>
              <a:rPr lang="en-US" sz="1300" dirty="0">
                <a:solidFill>
                  <a:srgbClr val="5B5670"/>
                </a:solidFill>
                <a:latin typeface="Calibri" pitchFamily="34" charset="0"/>
                <a:ea typeface="Calibri" pitchFamily="34" charset="-122"/>
                <a:cs typeface="Calibri" pitchFamily="34" charset="-120"/>
              </a:rPr>
              <a:t>Ground the email in the real refund window and service-level targets.</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2A1B4D"/>
        </a:solidFill>
      </p:bgPr>
    </p:bg>
    <p:spTree>
      <p:nvGrpSpPr>
        <p:cNvPr id="1" name=""/>
        <p:cNvGrpSpPr/>
        <p:nvPr/>
      </p:nvGrpSpPr>
      <p:grpSpPr>
        <a:xfrm>
          <a:off x="0" y="0"/>
          <a:ext cx="0" cy="0"/>
          <a:chOff x="0" y="0"/>
          <a:chExt cx="0" cy="0"/>
        </a:xfrm>
      </p:grpSpPr>
      <p:sp>
        <p:nvSpPr>
          <p:cNvPr id="2" name="Shape 0"/>
          <p:cNvSpPr/>
          <p:nvPr/>
        </p:nvSpPr>
        <p:spPr>
          <a:xfrm>
            <a:off x="10972800" y="-1188720"/>
            <a:ext cx="2926080" cy="2926080"/>
          </a:xfrm>
          <a:prstGeom prst="ellipse">
            <a:avLst/>
          </a:prstGeom>
          <a:solidFill>
            <a:srgbClr val="6B46C1"/>
          </a:solidFill>
          <a:ln/>
        </p:spPr>
      </p:sp>
      <p:sp>
        <p:nvSpPr>
          <p:cNvPr id="3" name="Shape 1"/>
          <p:cNvSpPr/>
          <p:nvPr/>
        </p:nvSpPr>
        <p:spPr>
          <a:xfrm>
            <a:off x="-1645920" y="5760720"/>
            <a:ext cx="2377440" cy="2377440"/>
          </a:xfrm>
          <a:prstGeom prst="ellipse">
            <a:avLst/>
          </a:prstGeom>
          <a:solidFill>
            <a:srgbClr val="6B46C1"/>
          </a:solidFill>
          <a:ln/>
        </p:spPr>
      </p:sp>
      <p:sp>
        <p:nvSpPr>
          <p:cNvPr id="4" name="Text 2"/>
          <p:cNvSpPr txBox="1"/>
          <p:nvPr/>
        </p:nvSpPr>
        <p:spPr>
          <a:xfrm>
            <a:off x="822960" y="1325880"/>
            <a:ext cx="7315200" cy="365760"/>
          </a:xfrm>
          <a:prstGeom prst="rect">
            <a:avLst/>
          </a:prstGeom>
          <a:noFill/>
          <a:ln/>
        </p:spPr>
        <p:txBody>
          <a:bodyPr wrap="square" lIns="0" tIns="0" rIns="0" bIns="0" rtlCol="0" anchor="ctr"/>
          <a:lstStyle/>
          <a:p>
            <a:pPr indent="0" marL="0">
              <a:buNone/>
            </a:pPr>
            <a:r>
              <a:rPr lang="en-US" sz="1300" b="1" spc="300" kern="0" dirty="0">
                <a:solidFill>
                  <a:srgbClr val="CFC4EE"/>
                </a:solidFill>
                <a:latin typeface="Calibri" pitchFamily="34" charset="0"/>
                <a:ea typeface="Calibri" pitchFamily="34" charset="-122"/>
                <a:cs typeface="Calibri" pitchFamily="34" charset="-120"/>
              </a:rPr>
              <a:t>IN SUMMARY</a:t>
            </a:r>
            <a:endParaRPr lang="en-US" sz="1300" dirty="0"/>
          </a:p>
        </p:txBody>
      </p:sp>
      <p:sp>
        <p:nvSpPr>
          <p:cNvPr id="5" name="Text 3"/>
          <p:cNvSpPr txBox="1"/>
          <p:nvPr/>
        </p:nvSpPr>
        <p:spPr>
          <a:xfrm>
            <a:off x="822960" y="1783080"/>
            <a:ext cx="9601200" cy="1463040"/>
          </a:xfrm>
          <a:prstGeom prst="rect">
            <a:avLst/>
          </a:prstGeom>
          <a:noFill/>
          <a:ln/>
        </p:spPr>
        <p:txBody>
          <a:bodyPr wrap="square" lIns="0" tIns="0" rIns="0" bIns="0" rtlCol="0" anchor="ctr"/>
          <a:lstStyle/>
          <a:p>
            <a:pPr indent="0" marL="0">
              <a:lnSpc>
                <a:spcPts val="4400"/>
              </a:lnSpc>
              <a:buNone/>
            </a:pPr>
            <a:r>
              <a:rPr lang="en-US" sz="3400" b="1" dirty="0">
                <a:solidFill>
                  <a:srgbClr val="FFFFFF"/>
                </a:solidFill>
                <a:latin typeface="Cambria" pitchFamily="34" charset="0"/>
                <a:ea typeface="Cambria" pitchFamily="34" charset="-122"/>
                <a:cs typeface="Cambria" pitchFamily="34" charset="-120"/>
              </a:rPr>
              <a:t>Unstructured documents in,</a:t>
            </a:r>
            <a:endParaRPr lang="en-US" sz="3400" dirty="0"/>
          </a:p>
          <a:p>
            <a:pPr indent="0" marL="0">
              <a:lnSpc>
                <a:spcPts val="4400"/>
              </a:lnSpc>
              <a:buNone/>
            </a:pPr>
            <a:r>
              <a:rPr lang="en-US" sz="3400" b="1" dirty="0">
                <a:solidFill>
                  <a:srgbClr val="FFFFFF"/>
                </a:solidFill>
                <a:latin typeface="Cambria" pitchFamily="34" charset="0"/>
                <a:ea typeface="Cambria" pitchFamily="34" charset="-122"/>
                <a:cs typeface="Cambria" pitchFamily="34" charset="-120"/>
              </a:rPr>
              <a:t>governed business output out</a:t>
            </a:r>
            <a:endParaRPr lang="en-US" sz="3400" dirty="0"/>
          </a:p>
        </p:txBody>
      </p:sp>
      <p:sp>
        <p:nvSpPr>
          <p:cNvPr id="6" name="Text 4"/>
          <p:cNvSpPr txBox="1"/>
          <p:nvPr/>
        </p:nvSpPr>
        <p:spPr>
          <a:xfrm>
            <a:off x="822960" y="3703320"/>
            <a:ext cx="3200400" cy="32004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Structured output</a:t>
            </a:r>
            <a:endParaRPr lang="en-US" sz="1500" dirty="0"/>
          </a:p>
        </p:txBody>
      </p:sp>
      <p:sp>
        <p:nvSpPr>
          <p:cNvPr id="7" name="Text 5"/>
          <p:cNvSpPr txBox="1"/>
          <p:nvPr/>
        </p:nvSpPr>
        <p:spPr>
          <a:xfrm>
            <a:off x="822960" y="4069080"/>
            <a:ext cx="3200400" cy="1280160"/>
          </a:xfrm>
          <a:prstGeom prst="rect">
            <a:avLst/>
          </a:prstGeom>
          <a:noFill/>
          <a:ln/>
        </p:spPr>
        <p:txBody>
          <a:bodyPr wrap="square" lIns="0" tIns="0" rIns="0" bIns="0" rtlCol="0" anchor="t"/>
          <a:lstStyle/>
          <a:p>
            <a:pPr indent="0" marL="0">
              <a:lnSpc>
                <a:spcPts val="1800"/>
              </a:lnSpc>
              <a:buNone/>
            </a:pPr>
            <a:r>
              <a:rPr lang="en-US" sz="1250" dirty="0">
                <a:solidFill>
                  <a:srgbClr val="CFC4EE"/>
                </a:solidFill>
                <a:latin typeface="Calibri" pitchFamily="34" charset="0"/>
                <a:ea typeface="Calibri" pitchFamily="34" charset="-122"/>
                <a:cs typeface="Calibri" pitchFamily="34" charset="-120"/>
              </a:rPr>
              <a:t>Binding every reply to a Pydantic schema removes text parsing from the system entirely.</a:t>
            </a:r>
            <a:endParaRPr lang="en-US" sz="1250" dirty="0"/>
          </a:p>
        </p:txBody>
      </p:sp>
      <p:sp>
        <p:nvSpPr>
          <p:cNvPr id="8" name="Text 6"/>
          <p:cNvSpPr txBox="1"/>
          <p:nvPr/>
        </p:nvSpPr>
        <p:spPr>
          <a:xfrm>
            <a:off x="4343400" y="3703320"/>
            <a:ext cx="3200400" cy="32004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Explicit orchestration</a:t>
            </a:r>
            <a:endParaRPr lang="en-US" sz="1500" dirty="0"/>
          </a:p>
        </p:txBody>
      </p:sp>
      <p:sp>
        <p:nvSpPr>
          <p:cNvPr id="9" name="Text 7"/>
          <p:cNvSpPr txBox="1"/>
          <p:nvPr/>
        </p:nvSpPr>
        <p:spPr>
          <a:xfrm>
            <a:off x="4343400" y="4069080"/>
            <a:ext cx="3200400" cy="1280160"/>
          </a:xfrm>
          <a:prstGeom prst="rect">
            <a:avLst/>
          </a:prstGeom>
          <a:noFill/>
          <a:ln/>
        </p:spPr>
        <p:txBody>
          <a:bodyPr wrap="square" lIns="0" tIns="0" rIns="0" bIns="0" rtlCol="0" anchor="t"/>
          <a:lstStyle/>
          <a:p>
            <a:pPr indent="0" marL="0">
              <a:lnSpc>
                <a:spcPts val="1800"/>
              </a:lnSpc>
              <a:buNone/>
            </a:pPr>
            <a:r>
              <a:rPr lang="en-US" sz="1250" dirty="0">
                <a:solidFill>
                  <a:srgbClr val="CFC4EE"/>
                </a:solidFill>
                <a:latin typeface="Calibri" pitchFamily="34" charset="0"/>
                <a:ea typeface="Calibri" pitchFamily="34" charset="-122"/>
                <a:cs typeface="Calibri" pitchFamily="34" charset="-120"/>
              </a:rPr>
              <a:t>LangGraph makes the dependency between the three tasks visible, and runs two of them in parallel.</a:t>
            </a:r>
            <a:endParaRPr lang="en-US" sz="1250" dirty="0"/>
          </a:p>
        </p:txBody>
      </p:sp>
      <p:sp>
        <p:nvSpPr>
          <p:cNvPr id="10" name="Text 8"/>
          <p:cNvSpPr txBox="1"/>
          <p:nvPr/>
        </p:nvSpPr>
        <p:spPr>
          <a:xfrm>
            <a:off x="7863840" y="3703320"/>
            <a:ext cx="3200400" cy="32004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Failures stay visible</a:t>
            </a:r>
            <a:endParaRPr lang="en-US" sz="1500" dirty="0"/>
          </a:p>
        </p:txBody>
      </p:sp>
      <p:sp>
        <p:nvSpPr>
          <p:cNvPr id="11" name="Text 9"/>
          <p:cNvSpPr txBox="1"/>
          <p:nvPr/>
        </p:nvSpPr>
        <p:spPr>
          <a:xfrm>
            <a:off x="7863840" y="4069080"/>
            <a:ext cx="3200400" cy="1280160"/>
          </a:xfrm>
          <a:prstGeom prst="rect">
            <a:avLst/>
          </a:prstGeom>
          <a:noFill/>
          <a:ln/>
        </p:spPr>
        <p:txBody>
          <a:bodyPr wrap="square" lIns="0" tIns="0" rIns="0" bIns="0" rtlCol="0" anchor="t"/>
          <a:lstStyle/>
          <a:p>
            <a:pPr indent="0" marL="0">
              <a:lnSpc>
                <a:spcPts val="1800"/>
              </a:lnSpc>
              <a:buNone/>
            </a:pPr>
            <a:r>
              <a:rPr lang="en-US" sz="1250" dirty="0">
                <a:solidFill>
                  <a:srgbClr val="CFC4EE"/>
                </a:solidFill>
                <a:latin typeface="Calibri" pitchFamily="34" charset="0"/>
                <a:ea typeface="Calibri" pitchFamily="34" charset="-122"/>
                <a:cs typeface="Calibri" pitchFamily="34" charset="-120"/>
              </a:rPr>
              <a:t>Three levels of error handling; a failed document still appears in the report with its reason.</a:t>
            </a:r>
            <a:endParaRPr lang="en-US" sz="1250" dirty="0"/>
          </a:p>
        </p:txBody>
      </p:sp>
      <p:sp>
        <p:nvSpPr>
          <p:cNvPr id="12" name="Text 10"/>
          <p:cNvSpPr txBox="1"/>
          <p:nvPr/>
        </p:nvSpPr>
        <p:spPr>
          <a:xfrm>
            <a:off x="822960" y="5623560"/>
            <a:ext cx="7315200" cy="411480"/>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Thank you — questions welcome</a:t>
            </a:r>
            <a:endParaRPr lang="en-US" sz="2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Customer Complaint &amp; Case Processing System</dc:title>
  <dc:subject>PptxGenJS Presentation</dc:subject>
  <dc:creator>Ashish Jain</dc:creator>
  <cp:lastModifiedBy>Ashish Jain</cp:lastModifiedBy>
  <cp:revision>1</cp:revision>
  <dcterms:created xsi:type="dcterms:W3CDTF">2026-09-07T14:54:48Z</dcterms:created>
  <dcterms:modified xsi:type="dcterms:W3CDTF">2026-09-07T14:54:48Z</dcterms:modified>
</cp:coreProperties>
</file>